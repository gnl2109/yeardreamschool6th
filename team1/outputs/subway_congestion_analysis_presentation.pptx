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1a369033b486d" /><Relationship Type="http://schemas.openxmlformats.org/officeDocument/2006/relationships/extended-properties" Target="/docProps/app.xml" Id="Rfa8d1113a1e84710" /><Relationship Type="http://schemas.openxmlformats.org/officeDocument/2006/relationships/officeDocument" Target="/ppt/presentation.xml" Id="R493087d14567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1ae44715544180"/>
  </p:sldMasterIdLst>
  <p:notesMasterIdLst>
    <p:notesMasterId xmlns:r="http://schemas.openxmlformats.org/officeDocument/2006/relationships" r:id="R9d6798a3bde54098"/>
  </p:notesMasterIdLst>
  <p:sldIdLst>
    <p:sldId xmlns:r="http://schemas.openxmlformats.org/officeDocument/2006/relationships" id="256" r:id="R9fd6842979684da9"/>
    <p:sldId xmlns:r="http://schemas.openxmlformats.org/officeDocument/2006/relationships" id="257" r:id="R54945f2eb31d4934"/>
    <p:sldId xmlns:r="http://schemas.openxmlformats.org/officeDocument/2006/relationships" id="258" r:id="R3a27a0feeab44ffc"/>
    <p:sldId xmlns:r="http://schemas.openxmlformats.org/officeDocument/2006/relationships" id="259" r:id="R4577809686224ce5"/>
    <p:sldId xmlns:r="http://schemas.openxmlformats.org/officeDocument/2006/relationships" id="260" r:id="R797c4246664242c0"/>
    <p:sldId xmlns:r="http://schemas.openxmlformats.org/officeDocument/2006/relationships" id="261" r:id="R2cec48b999384d8a"/>
    <p:sldId xmlns:r="http://schemas.openxmlformats.org/officeDocument/2006/relationships" id="262" r:id="Re08fb282b8144f64"/>
    <p:sldId xmlns:r="http://schemas.openxmlformats.org/officeDocument/2006/relationships" id="263" r:id="Rf856355b55084cb5"/>
    <p:sldId xmlns:r="http://schemas.openxmlformats.org/officeDocument/2006/relationships" id="264" r:id="R2a821931dbfc466b"/>
    <p:sldId xmlns:r="http://schemas.openxmlformats.org/officeDocument/2006/relationships" id="265" r:id="R3225067230a9429c"/>
    <p:sldId xmlns:r="http://schemas.openxmlformats.org/officeDocument/2006/relationships" id="266" r:id="R7ea65c5db14e495a"/>
    <p:sldId xmlns:r="http://schemas.openxmlformats.org/officeDocument/2006/relationships" id="267" r:id="R41ddf0d49428437a"/>
    <p:sldId xmlns:r="http://schemas.openxmlformats.org/officeDocument/2006/relationships" id="268" r:id="R0415a480c382419d"/>
    <p:sldId xmlns:r="http://schemas.openxmlformats.org/officeDocument/2006/relationships" id="269" r:id="Ra336bcf062024e3f"/>
    <p:sldId xmlns:r="http://schemas.openxmlformats.org/officeDocument/2006/relationships" id="270" r:id="R4dec0405554349f8"/>
    <p:sldId xmlns:r="http://schemas.openxmlformats.org/officeDocument/2006/relationships" id="271" r:id="R918a933018ff405f"/>
    <p:sldId xmlns:r="http://schemas.openxmlformats.org/officeDocument/2006/relationships" id="272" r:id="R96a431dd62154d90"/>
    <p:sldId xmlns:r="http://schemas.openxmlformats.org/officeDocument/2006/relationships" id="273" r:id="R25f1f0ccb77246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721bfe97d4fdc" /><Relationship Type="http://schemas.openxmlformats.org/officeDocument/2006/relationships/slideMaster" Target="/ppt/slideMasters/slideMaster1.xml" Id="Rf01ae44715544180" /><Relationship Type="http://schemas.openxmlformats.org/officeDocument/2006/relationships/notesMaster" Target="/ppt/notesMasters/notesMaster1.xml" Id="R9d6798a3bde54098" /><Relationship Type="http://schemas.openxmlformats.org/officeDocument/2006/relationships/presProps" Target="/ppt/presProps.xml" Id="Rdccf778ebaaf4513" /><Relationship Type="http://schemas.openxmlformats.org/officeDocument/2006/relationships/tableStyles" Target="/ppt/tableStyles.xml" Id="R9eb3b5af6b64474e" /><Relationship Type="http://schemas.openxmlformats.org/officeDocument/2006/relationships/slide" Target="/ppt/slides/slide1.xml" Id="R9fd6842979684da9" /><Relationship Type="http://schemas.openxmlformats.org/officeDocument/2006/relationships/slide" Target="/ppt/slides/slide2.xml" Id="R54945f2eb31d4934" /><Relationship Type="http://schemas.openxmlformats.org/officeDocument/2006/relationships/slide" Target="/ppt/slides/slide3.xml" Id="R3a27a0feeab44ffc" /><Relationship Type="http://schemas.openxmlformats.org/officeDocument/2006/relationships/slide" Target="/ppt/slides/slide4.xml" Id="R4577809686224ce5" /><Relationship Type="http://schemas.openxmlformats.org/officeDocument/2006/relationships/slide" Target="/ppt/slides/slide5.xml" Id="R797c4246664242c0" /><Relationship Type="http://schemas.openxmlformats.org/officeDocument/2006/relationships/slide" Target="/ppt/slides/slide6.xml" Id="R2cec48b999384d8a" /><Relationship Type="http://schemas.openxmlformats.org/officeDocument/2006/relationships/slide" Target="/ppt/slides/slide7.xml" Id="Re08fb282b8144f64" /><Relationship Type="http://schemas.openxmlformats.org/officeDocument/2006/relationships/slide" Target="/ppt/slides/slide8.xml" Id="Rf856355b55084cb5" /><Relationship Type="http://schemas.openxmlformats.org/officeDocument/2006/relationships/slide" Target="/ppt/slides/slide9.xml" Id="R2a821931dbfc466b" /><Relationship Type="http://schemas.openxmlformats.org/officeDocument/2006/relationships/slide" Target="/ppt/slides/slide10.xml" Id="R3225067230a9429c" /><Relationship Type="http://schemas.openxmlformats.org/officeDocument/2006/relationships/slide" Target="/ppt/slides/slide11.xml" Id="R7ea65c5db14e495a" /><Relationship Type="http://schemas.openxmlformats.org/officeDocument/2006/relationships/slide" Target="/ppt/slides/slide12.xml" Id="R41ddf0d49428437a" /><Relationship Type="http://schemas.openxmlformats.org/officeDocument/2006/relationships/slide" Target="/ppt/slides/slide13.xml" Id="R0415a480c382419d" /><Relationship Type="http://schemas.openxmlformats.org/officeDocument/2006/relationships/slide" Target="/ppt/slides/slide14.xml" Id="Ra336bcf062024e3f" /><Relationship Type="http://schemas.openxmlformats.org/officeDocument/2006/relationships/slide" Target="/ppt/slides/slide15.xml" Id="R4dec0405554349f8" /><Relationship Type="http://schemas.openxmlformats.org/officeDocument/2006/relationships/slide" Target="/ppt/slides/slide16.xml" Id="R918a933018ff405f" /><Relationship Type="http://schemas.openxmlformats.org/officeDocument/2006/relationships/slide" Target="/ppt/slides/slide17.xml" Id="R96a431dd62154d90" /><Relationship Type="http://schemas.openxmlformats.org/officeDocument/2006/relationships/slide" Target="/ppt/slides/slide18.xml" Id="R25f1f0ccb77246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719c7fd95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d1b03f1f64ad0" /><Relationship Type="http://schemas.openxmlformats.org/officeDocument/2006/relationships/notesMaster" Target="/ppt/notesMasters/notesMaster1.xml" Id="R7398d98a7aa2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d0aa6a0a564670" /><Relationship Type="http://schemas.openxmlformats.org/officeDocument/2006/relationships/notesMaster" Target="/ppt/notesMasters/notesMaster1.xml" Id="R89c100f38e03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d99cbcfb74aef" /><Relationship Type="http://schemas.openxmlformats.org/officeDocument/2006/relationships/notesMaster" Target="/ppt/notesMasters/notesMaster1.xml" Id="R3de39168914a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2e337257c4285" /><Relationship Type="http://schemas.openxmlformats.org/officeDocument/2006/relationships/notesMaster" Target="/ppt/notesMasters/notesMaster1.xml" Id="R766f73bb03fa44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45eed84bc1450d" /><Relationship Type="http://schemas.openxmlformats.org/officeDocument/2006/relationships/notesMaster" Target="/ppt/notesMasters/notesMaster1.xml" Id="R21c8018be178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5b38f62754049" /><Relationship Type="http://schemas.openxmlformats.org/officeDocument/2006/relationships/notesMaster" Target="/ppt/notesMasters/notesMaster1.xml" Id="Rc69dd72369da44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f3a545d7f4a66" /><Relationship Type="http://schemas.openxmlformats.org/officeDocument/2006/relationships/notesMaster" Target="/ppt/notesMasters/notesMaster1.xml" Id="R4f5fd3d6bb904a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495192b05744f8" /><Relationship Type="http://schemas.openxmlformats.org/officeDocument/2006/relationships/notesMaster" Target="/ppt/notesMasters/notesMaster1.xml" Id="Rc4393dba885e42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9936ff1324bd9" /><Relationship Type="http://schemas.openxmlformats.org/officeDocument/2006/relationships/notesMaster" Target="/ppt/notesMasters/notesMaster1.xml" Id="Rd9379b7fa19e4b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efa27374df4525" /><Relationship Type="http://schemas.openxmlformats.org/officeDocument/2006/relationships/notesMaster" Target="/ppt/notesMasters/notesMaster1.xml" Id="R33a7b3dcadac4d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28fc88d0004ee6" /><Relationship Type="http://schemas.openxmlformats.org/officeDocument/2006/relationships/notesMaster" Target="/ppt/notesMasters/notesMaster1.xml" Id="Rc0bce8b3335147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74be8ad15747f5" /><Relationship Type="http://schemas.openxmlformats.org/officeDocument/2006/relationships/notesMaster" Target="/ppt/notesMasters/notesMaster1.xml" Id="R7f79ee03d96e49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07c9c92548429c" /><Relationship Type="http://schemas.openxmlformats.org/officeDocument/2006/relationships/notesMaster" Target="/ppt/notesMasters/notesMaster1.xml" Id="Rda0b3f5bf3414a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555ec1055342ec" /><Relationship Type="http://schemas.openxmlformats.org/officeDocument/2006/relationships/notesMaster" Target="/ppt/notesMasters/notesMaster1.xml" Id="R4c2b6c802cf545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4ead37ccca4c4e" /><Relationship Type="http://schemas.openxmlformats.org/officeDocument/2006/relationships/notesMaster" Target="/ppt/notesMasters/notesMaster1.xml" Id="R47634177c74145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465ba922264699" /><Relationship Type="http://schemas.openxmlformats.org/officeDocument/2006/relationships/notesMaster" Target="/ppt/notesMasters/notesMaster1.xml" Id="Rd2c81de1d78a46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93610244054dfb" /><Relationship Type="http://schemas.openxmlformats.org/officeDocument/2006/relationships/notesMaster" Target="/ppt/notesMasters/notesMaster1.xml" Id="R51118b7a1e6b46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f4e6c6b2ca4ca0" /><Relationship Type="http://schemas.openxmlformats.org/officeDocument/2006/relationships/notesMaster" Target="/ppt/notesMasters/notesMaster1.xml" Id="R5452f7cb890a46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3c063b46a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6b2496e25416d" /><Relationship Type="http://schemas.openxmlformats.org/officeDocument/2006/relationships/slideLayout" Target="/ppt/slideLayouts/slideLayout1.xml" Id="Ra1ca77d0380e4f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ca77d0380e4f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d99be4b5b47df" /><Relationship Type="http://schemas.openxmlformats.org/officeDocument/2006/relationships/notesSlide" Target="/ppt/notesSlides/notesSlide1.xml" Id="R0609ae35d22d48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7f4258b62486a" /><Relationship Type="http://schemas.openxmlformats.org/officeDocument/2006/relationships/notesSlide" Target="/ppt/notesSlides/notesSlide2.xml" Id="R67bb149927f147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0b6ae8d34f8a" /><Relationship Type="http://schemas.openxmlformats.org/officeDocument/2006/relationships/notesSlide" Target="/ppt/notesSlides/notesSlide3.xml" Id="R9a8b5c4544e3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79c1da6ad429d" /><Relationship Type="http://schemas.openxmlformats.org/officeDocument/2006/relationships/notesSlide" Target="/ppt/notesSlides/notesSlide4.xml" Id="R03b4a523811e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af8fbe198420b" /><Relationship Type="http://schemas.openxmlformats.org/officeDocument/2006/relationships/notesSlide" Target="/ppt/notesSlides/notesSlide5.xml" Id="R53d495412ccb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51459cc564131" /><Relationship Type="http://schemas.openxmlformats.org/officeDocument/2006/relationships/notesSlide" Target="/ppt/notesSlides/notesSlide6.xml" Id="R0e95f09adc4e42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5a4ae85d8460d" /><Relationship Type="http://schemas.openxmlformats.org/officeDocument/2006/relationships/notesSlide" Target="/ppt/notesSlides/notesSlide7.xml" Id="Ra684c26e85c9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0b79f96214f99" /><Relationship Type="http://schemas.openxmlformats.org/officeDocument/2006/relationships/notesSlide" Target="/ppt/notesSlides/notesSlide8.xml" Id="R1619868331ba4f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7fdb850dc48c0" /><Relationship Type="http://schemas.openxmlformats.org/officeDocument/2006/relationships/chart" Target="/ppt/slides/charts/chart1.xml" Id="Rd643aef3fa014132" /><Relationship Type="http://schemas.openxmlformats.org/officeDocument/2006/relationships/notesSlide" Target="/ppt/notesSlides/notesSlide9.xml" Id="R89e8e834540040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99ddfc966420f" /><Relationship Type="http://schemas.openxmlformats.org/officeDocument/2006/relationships/chart" Target="/ppt/slides/charts/chart2.xml" Id="Rd997ad59e5314fac" /><Relationship Type="http://schemas.openxmlformats.org/officeDocument/2006/relationships/notesSlide" Target="/ppt/notesSlides/notesSlide10.xml" Id="Rf26c85056a294e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e2ff7a99f4a1b" /><Relationship Type="http://schemas.openxmlformats.org/officeDocument/2006/relationships/chart" Target="/ppt/slides/charts/chart3.xml" Id="Re5151f61acf74a13" /><Relationship Type="http://schemas.openxmlformats.org/officeDocument/2006/relationships/notesSlide" Target="/ppt/notesSlides/notesSlide11.xml" Id="Rae14852905d04f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2454537674ca8" /><Relationship Type="http://schemas.openxmlformats.org/officeDocument/2006/relationships/chart" Target="/ppt/slides/charts/chart4.xml" Id="R807b1b047a5f4441" /><Relationship Type="http://schemas.openxmlformats.org/officeDocument/2006/relationships/notesSlide" Target="/ppt/notesSlides/notesSlide12.xml" Id="R94e1ff7cf0cc47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e4be91c4f4600" /><Relationship Type="http://schemas.openxmlformats.org/officeDocument/2006/relationships/image" Target="/ppt/media/image.png" Id="Rfef34c60c3154ef0" /><Relationship Type="http://schemas.openxmlformats.org/officeDocument/2006/relationships/notesSlide" Target="/ppt/notesSlides/notesSlide13.xml" Id="R2967baa4c84d4a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be9deec53488c" /><Relationship Type="http://schemas.openxmlformats.org/officeDocument/2006/relationships/notesSlide" Target="/ppt/notesSlides/notesSlide14.xml" Id="R3b8c9f26845f4c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b8728bbca408c" /><Relationship Type="http://schemas.openxmlformats.org/officeDocument/2006/relationships/notesSlide" Target="/ppt/notesSlides/notesSlide15.xml" Id="R5b98d4f9e58c42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85970549f4758" /><Relationship Type="http://schemas.openxmlformats.org/officeDocument/2006/relationships/notesSlide" Target="/ppt/notesSlides/notesSlide16.xml" Id="Rbad9a23abc4b4d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4b7b11274dd6" /><Relationship Type="http://schemas.openxmlformats.org/officeDocument/2006/relationships/notesSlide" Target="/ppt/notesSlides/notesSlide17.xml" Id="R74cd4150f4574a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3c29420684045" /><Relationship Type="http://schemas.openxmlformats.org/officeDocument/2006/relationships/notesSlide" Target="/ppt/notesSlides/notesSlide18.xml" Id="R3f9596d74aee441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유동량(억 명)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4"/>
              <c:pt idx="0">
                <c:v>00시-01시</c:v>
              </c:pt>
              <c:pt idx="1">
                <c:v>01시-02시</c:v>
              </c:pt>
              <c:pt idx="2">
                <c:v>02시-03시</c:v>
              </c:pt>
              <c:pt idx="3">
                <c:v>03시-04시</c:v>
              </c:pt>
              <c:pt idx="4">
                <c:v>04시-05시</c:v>
              </c:pt>
              <c:pt idx="5">
                <c:v>05시-06시</c:v>
              </c:pt>
              <c:pt idx="6">
                <c:v>06시-07시</c:v>
              </c:pt>
              <c:pt idx="7">
                <c:v>07시-08시</c:v>
              </c:pt>
              <c:pt idx="8">
                <c:v>08시-09시</c:v>
              </c:pt>
              <c:pt idx="9">
                <c:v>09시-10시</c:v>
              </c:pt>
              <c:pt idx="10">
                <c:v>10시-11시</c:v>
              </c:pt>
              <c:pt idx="11">
                <c:v>11시-12시</c:v>
              </c:pt>
              <c:pt idx="12">
                <c:v>12시-13시</c:v>
              </c:pt>
              <c:pt idx="13">
                <c:v>13시-14시</c:v>
              </c:pt>
              <c:pt idx="14">
                <c:v>14시-15시</c:v>
              </c:pt>
              <c:pt idx="15">
                <c:v>15시-16시</c:v>
              </c:pt>
              <c:pt idx="16">
                <c:v>16시-17시</c:v>
              </c:pt>
              <c:pt idx="17">
                <c:v>17시-18시</c:v>
              </c:pt>
              <c:pt idx="18">
                <c:v>18시-19시</c:v>
              </c:pt>
              <c:pt idx="19">
                <c:v>19시-20시</c:v>
              </c:pt>
              <c:pt idx="20">
                <c:v>20시-21시</c:v>
              </c:pt>
              <c:pt idx="21">
                <c:v>21시-22시</c:v>
              </c:pt>
              <c:pt idx="22">
                <c:v>22시-23시</c:v>
              </c:pt>
              <c:pt idx="23">
                <c:v>23시-24시</c:v>
              </c:pt>
            </c:strLit>
          </c:cat>
          <c:val>
            <c:numLit>
              <c:formatCode>General</c:formatCode>
              <c:ptCount val="24"/>
              <c:pt idx="0">
                <c:v>1.7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0.1</c:v>
              </c:pt>
              <c:pt idx="5">
                <c:v>3</c:v>
              </c:pt>
              <c:pt idx="6">
                <c:v>8.1</c:v>
              </c:pt>
              <c:pt idx="7">
                <c:v>20.3</c:v>
              </c:pt>
              <c:pt idx="8">
                <c:v>31.8</c:v>
              </c:pt>
              <c:pt idx="9">
                <c:v>20.4</c:v>
              </c:pt>
              <c:pt idx="10">
                <c:v>14.4</c:v>
              </c:pt>
              <c:pt idx="11">
                <c:v>14</c:v>
              </c:pt>
              <c:pt idx="12">
                <c:v>15</c:v>
              </c:pt>
              <c:pt idx="13">
                <c:v>16</c:v>
              </c:pt>
              <c:pt idx="14">
                <c:v>15.8</c:v>
              </c:pt>
              <c:pt idx="15">
                <c:v>16.8</c:v>
              </c:pt>
              <c:pt idx="16">
                <c:v>18.9</c:v>
              </c:pt>
              <c:pt idx="17">
                <c:v>23.1</c:v>
              </c:pt>
              <c:pt idx="18">
                <c:v>31.6</c:v>
              </c:pt>
              <c:pt idx="19">
                <c:v>23.4</c:v>
              </c:pt>
              <c:pt idx="20">
                <c:v>16</c:v>
              </c:pt>
              <c:pt idx="21">
                <c:v>14.7</c:v>
              </c:pt>
              <c:pt idx="22">
                <c:v>13.1</c:v>
              </c:pt>
              <c:pt idx="23">
                <c:v>7.2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유동량(억 명)</c:v>
          </c:tx>
          <c:spPr>
            <a:solidFill xmlns:a="http://schemas.openxmlformats.org/drawingml/2006/main">
              <a:srgbClr val="457B9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2호선</c:v>
              </c:pt>
              <c:pt idx="1">
                <c:v>7호선</c:v>
              </c:pt>
              <c:pt idx="2">
                <c:v>5호선</c:v>
              </c:pt>
              <c:pt idx="3">
                <c:v>4호선</c:v>
              </c:pt>
              <c:pt idx="4">
                <c:v>3호선</c:v>
              </c:pt>
              <c:pt idx="5">
                <c:v>경부선</c:v>
              </c:pt>
              <c:pt idx="6">
                <c:v>분당선</c:v>
              </c:pt>
              <c:pt idx="7">
                <c:v>6호선</c:v>
              </c:pt>
            </c:strLit>
          </c:cat>
          <c:val>
            <c:numLit>
              <c:formatCode>General</c:formatCode>
              <c:ptCount val="8"/>
              <c:pt idx="0">
                <c:v>68.2</c:v>
              </c:pt>
              <c:pt idx="1">
                <c:v>31.8</c:v>
              </c:pt>
              <c:pt idx="2">
                <c:v>26.9</c:v>
              </c:pt>
              <c:pt idx="3">
                <c:v>26</c:v>
              </c:pt>
              <c:pt idx="4">
                <c:v>24.9</c:v>
              </c:pt>
              <c:pt idx="5">
                <c:v>21.7</c:v>
              </c:pt>
              <c:pt idx="6">
                <c:v>16.6</c:v>
              </c:pt>
              <c:pt idx="7">
                <c:v>15.6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유동량(억 명)</c:v>
          </c:tx>
          <c:spPr>
            <a:solidFill xmlns:a="http://schemas.openxmlformats.org/drawingml/2006/main">
              <a:srgbClr val="E6394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2호선 강남</c:v>
              </c:pt>
              <c:pt idx="1">
                <c:v>2호선 홍대입구</c:v>
              </c:pt>
              <c:pt idx="2">
                <c:v>2호선 신림</c:v>
              </c:pt>
              <c:pt idx="3">
                <c:v>2호선 구로디지털단지</c:v>
              </c:pt>
              <c:pt idx="4">
                <c:v>2호선 신도림</c:v>
              </c:pt>
              <c:pt idx="5">
                <c:v>2호선 잠실(송파구청)</c:v>
              </c:pt>
              <c:pt idx="6">
                <c:v>3호선 고속터미널</c:v>
              </c:pt>
              <c:pt idx="7">
                <c:v>1호선 서울역</c:v>
              </c:pt>
            </c:strLit>
          </c:cat>
          <c:val>
            <c:numLit>
              <c:formatCode>General</c:formatCode>
              <c:ptCount val="8"/>
              <c:pt idx="0">
                <c:v>4.5</c:v>
              </c:pt>
              <c:pt idx="1">
                <c:v>3.5</c:v>
              </c:pt>
              <c:pt idx="2">
                <c:v>3.2</c:v>
              </c:pt>
              <c:pt idx="3">
                <c:v>2.8</c:v>
              </c:pt>
              <c:pt idx="4">
                <c:v>2.7</c:v>
              </c:pt>
              <c:pt idx="5">
                <c:v>2.6</c:v>
              </c:pt>
              <c:pt idx="6">
                <c:v>2.6</c:v>
              </c:pt>
              <c:pt idx="7">
                <c:v>2.4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출근 피크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승차형</c:v>
              </c:pt>
              <c:pt idx="1">
                <c:v>하차형</c:v>
              </c:pt>
              <c:pt idx="2">
                <c:v>혼합형</c:v>
              </c:pt>
            </c:strLit>
          </c:cat>
          <c:val>
            <c:numLit>
              <c:formatCode>General</c:formatCode>
              <c:ptCount val="3"/>
              <c:pt idx="0">
                <c:v>333</c:v>
              </c:pt>
              <c:pt idx="1">
                <c:v>185</c:v>
              </c:pt>
              <c:pt idx="2">
                <c:v>167</c:v>
              </c:pt>
            </c:numLit>
          </c:val>
        </c:ser>
        <c:ser>
          <c:idx val="1"/>
          <c:order val="1"/>
          <c:tx>
            <c:v>퇴근 피크</c:v>
          </c:tx>
          <c:spPr>
            <a:solidFill xmlns:a="http://schemas.openxmlformats.org/drawingml/2006/main">
              <a:srgbClr val="2A9D8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승차형</c:v>
              </c:pt>
              <c:pt idx="1">
                <c:v>하차형</c:v>
              </c:pt>
              <c:pt idx="2">
                <c:v>혼합형</c:v>
              </c:pt>
            </c:strLit>
          </c:cat>
          <c:val>
            <c:numLit>
              <c:formatCode>General</c:formatCode>
              <c:ptCount val="3"/>
              <c:pt idx="0">
                <c:v>158</c:v>
              </c:pt>
              <c:pt idx="1">
                <c:v>235</c:v>
              </c:pt>
              <c:pt idx="2">
                <c:v>292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7E9B6-3E98-4C8F-B930-3DAA82CD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28B81-2F23-48D0-ADD2-E9C1F508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승하차 혼잡도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557CB-60C4-463E-9AD0-1433AD4E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 · 고혼잡 역 · 승하차 흐름 유형 기반 운영 우선순위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4460C-2F6E-4E7E-B4F0-A9239BD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066F3-185F-414D-A03B-6E77A08B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최혼잡 시간대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370E4-113B-4EBC-9ED6-E449D3D6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08시-09시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7F67C-FF67-4B7F-B6A9-9E95852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57625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5CFF1-9179-493F-A712-E4D7F12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481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최혼잡 노선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E5654-92D1-42BB-B157-3A69079A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rPr>
              <a:t>2호선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19895-9DC3-4D88-9930-DC77DDF8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38BC7-5FE1-4F47-8D8D-DBDF3C0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최우선 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7D7F5-1406-4201-99EF-E284FC4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2호선 강남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498CF-5920-42E7-881B-9129709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57625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AD5EF-C674-4ABD-B226-9F0D8D91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481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A등급 대상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472C4-17EE-4767-8FB8-C5CB5D8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8150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69개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E8C38-A3DD-4CE8-A857-C6C7230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975D7-03AA-4F20-903B-5A2D5847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1019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A75D7-1BAA-4DAE-9650-0AE6EA7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D394C-56FD-4C87-A36A-05353107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4422D-4F92-47BF-917F-B37B508F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034A1-471B-4160-9257-104499F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C747-CE3F-478A-831A-DAA97C39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67D6E-6E02-443C-AC96-C4CB284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14A3D-DD81-4207-939A-819A5ADB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AF6DD-8001-4AD1-A374-0CBF86C9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4A818-B8E2-40AD-9EEC-5293E656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76076-E5B5-415F-9182-1529A668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분석 문제 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0B984-78F0-45E4-88FD-157F021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혼잡 완화의 질문을 운영 자원 배치 문제로 바꾼다.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88711-E9AE-48B3-9F8D-684D5B1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67F2E-BCD3-48FE-A05A-27F2E9E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ADE11-90E9-40C8-B9FD-2661AFDE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48642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621C7-2096-41D0-931C-0E839010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0BD98-CD0B-4014-9411-59C4AADC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6E018-CD0C-4302-9A53-757CF286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CDA29-B09C-41C8-9580-28105569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6A25B-DFFF-471D-A0E1-53D1364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CDF69-25DE-4EA2-9167-E9DC2BBE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5A7E6-6DFD-40B8-A54E-83BD8CFA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DBD36-56B5-438B-9759-F120B89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20727-3AAD-4EAE-B263-96DD73ED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C5026-299C-4BAE-885E-0448398E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SCQA: 그래서 어디에, 언제, 무엇을 해야 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2D5EB-371E-43C3-AED7-796E737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BAD13-492F-48A3-BE7E-5A6C5196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7827A-FC44-40B7-BB96-8DD92D7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936E6-3B24-4DEE-A9F1-6D8D8AB5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6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8F010-9BFE-41E2-B74D-339C2FBA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67191-9EF4-4AB8-B632-0EF9FAE8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960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E5331-CDBD-49FD-A9EB-8482ADC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85950"/>
            <a:ext cx="941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수요는 시간대와 역에 따라 크게 달라진다.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D4392-ECD5-4E90-A3FC-4B89B3D3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6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E1A95-BD65-422D-A260-528A9305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8C152-F6C2-4220-9B4F-871AA2C5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960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93CC6-8199-40FD-9FC5-3D74F86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24150"/>
            <a:ext cx="941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모든 역에 같은 방식으로 자원을 배치하면 실제 혼잡 지점 대응이 어렵다.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8E089-92B8-468A-BF1D-1497F16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106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3444D-6AC7-4FCE-89E1-E514E6E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801F1-30BD-41C8-A8EA-026B396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86150"/>
            <a:ext cx="960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50839-5E4C-4C18-886B-EF123449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2350"/>
            <a:ext cx="941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혼잡 완화를 위해 운영 자원을 어디에, 언제, 어떤 방식으로 우선 배치해야 하는가?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F58BB-2EFC-4A63-818D-9F49BAB8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06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4876F-5C7D-4C33-B8C4-2ED8638C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1503F-C560-40D3-882E-7EBF372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960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9B618-6097-4673-A489-0C802D3C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00550"/>
            <a:ext cx="941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시간대와 고혼잡 역 중심의 선별적 혼잡 완화 전략이 필요하다.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CF437-C9A4-4932-98CC-FF632FA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F90F2-0A56-4983-8965-A27F7E4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43431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A1975-34E4-4547-BF46-83890F2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A065D-CA95-4F63-95FB-23FDDE48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56DF4-AC48-4A80-897C-EFC3F83A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DE6FE-50B2-4D1F-B406-107F1BD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46DEC-9870-43BD-B6C1-7CEC3D7D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EC755-4DCF-42ED-938F-7DCA0B5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A3661-404A-4B91-A10F-8A4A513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CDEE9-6CFC-4673-90E2-FC934A1D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F99A9-DBC6-4BB2-B726-486D9D94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DE68D-5357-4632-947D-7792DB2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범위와 한계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9FBF-AEB3-408F-BD3D-3442C77D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6E0D3-5A35-4D17-A340-477C82ED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70EB8-6C04-42DE-8F36-37E78BC7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85FFF-E918-4629-A8FC-A9A80D7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BDC86-582C-413A-A4B9-9C81617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F7E7A-4B29-4DE8-B118-FF2DBED5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2015.01-2021.06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0EFCA-0459-4479-B09D-E14A60A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7241D-6932-425B-8B3A-7F673DC6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원천 행 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26A71-D30C-4FFD-A7AA-04924CE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rPr>
              <a:t>45,338행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A0947-2536-489A-A764-0BF94E83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0EC72-4CBF-4220-A7D2-3E148EA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Long 변환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00C0E-267C-4B3C-9869-4EA8CFC1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1,088,112행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C9C57-1DB9-44A6-BE8C-C3496A02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6D56D1-DC18-4B14-901D-B2E5E58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지도 매칭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DE1FA-58A5-403A-B4F3-2660A801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336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601/685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613FA-3471-4D18-8832-D813A83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307D8-8CC9-4BDF-8766-EBEA34C8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혼잡도는 실제 열차 혼잡률이 아니라 승하차 유동량 기반 대리지표다.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8E3CFF-D899-48F3-A6DA-8BA89654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5792A-4D9E-4D5D-9906-38D4C02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차량 정원, 운행 횟수, 승강장 면적이 없으므로 실제 혼잡률은 확인 필요다.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BE776-1662-420B-8705-3F88C81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108-B3D0-4587-8C25-9268E84D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 단위 집계 데이터이므로 일별 이벤트와 열차 1편 단위 혼잡은 제외한다.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6D472-4C1F-4DAA-A7E9-7518DCA6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E95BB2-7037-4B9A-9E79-7814362E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6298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55B12-6ACF-423B-B545-3C87469D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02434-308E-4719-BDDB-8CF51B2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DBB9F-8914-4B43-80D7-936363A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C5CE4-CB22-422A-940C-ADC89381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E2584-6C01-4C04-B816-F2A143C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A4FB8-F97B-49A9-8B8C-9CC62F0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302B3-82FD-45E1-B059-345711D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85AAF-53C2-4B3C-BD5F-82179520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945DD-9599-4CCB-A65C-22C9ECAE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6E4FA-1423-4D11-B993-5BBBBFB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근거와 통계 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D1573-0741-41D4-8269-0FB2298F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핵심 주장을 세 개의 MECE 근거로 분해하고 통계로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01ACF-D3F9-42E5-B200-2512697E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EE3E9-C5AE-4255-B363-23628783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18AAF-3EAC-4480-9BCD-FF03F98E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57741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5F439F-8090-4CC2-8965-FFB919A8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C575E-ED81-4432-8116-304CF159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83A53-AB2C-4E7D-BDA0-A24CF7C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CBED3-7588-46B5-A366-F32F09F7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340E0-81F0-46F1-8959-A5738DD5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D95F6-86B9-4E5C-A673-70A91B6D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AF5B3-9F2A-4B1F-BF09-E666612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4EFFF-F1DC-4D83-B0CB-955CF43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025A4-CA2C-4746-9021-E3524F39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F113C-EAF7-4DAB-99D6-982FD8BA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구조: 주장 → 근거 → 데이터 → 통계분석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80A66-0B3A-41EE-8816-EF2F068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BFC0B-2421-4CE1-820D-7233EEAF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9203C-2574-492A-8302-3EEE8F0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77DE3-E30B-4872-A130-2AC8BC3B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혼잡 관리는 전체 평균이 아니라 피크 시간대, 고혼잡 역, 승하차 방향성 기준으로 선별 설계해야 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52332-347C-4E56-AAD5-F9C64A88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1E836-A978-4DDD-8077-8C2C8DA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[근거 1]</a:t>
            </a:r>
          </a:p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시간대별 집중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EBADA-91A4-440E-8506-772E571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시간대별 유동량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Kruskal-Wallis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효과: epsilon²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40132-B4F0-4BFC-A33D-58844CED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1937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E9ACE-3535-45D6-98D1-0F8370D1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[근거 2]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공간별 집중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F6F99-D074-4CE8-8DC8-4F34BB14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노선·역별 유동량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Kruskal-Wallis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집중도: 상위 역 비중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D9F04-5042-4290-8D88-C646A8A1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1937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A4BE7-4E0A-47DF-B1ED-9ED61B5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[근거 3]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흐름별 유형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5C503-5D1E-46F0-A1AD-B4C2CAD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승차·하차 비중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카이제곱 검정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효과: Cramer's 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462F3-885C-4155-B0B3-D13387DF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203D3-869C-4E97-A246-EBDAFC2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82549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6AC1C-8259-46BD-9F43-57003146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386BF-654B-4467-9525-53EDA16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B79CB-A800-4512-AD38-497C2956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B1C99-27BB-4683-B2C8-9998756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CCDCD-5D8B-4F84-A9C0-D2D8AD64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2D2FD-7847-434A-9AB1-937335C7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0366E-625A-493E-B0FC-B20B676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8E068-A8B1-45ED-8469-A70A17D9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960B0-7D51-443F-A6DA-BA0CFC9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C9B8B-E52B-47F1-AF09-CE18E50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통계 분석 요약: 세 근거 모두 실행 판단을 뒷받침한다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2A262-967A-49D2-A375-CF9BBB1C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04C2A-8C27-4BC8-AB4F-5EA8219C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788FA-7804-4ECD-93D8-9E01F030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F9DCB-9DD6-49D7-AA09-DA789A80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455926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611F1-4D86-470A-AA32-81A0DFEC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265426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근거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B3E58-C134-4B71-A250-5C45D2A1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1714500"/>
            <a:ext cx="223266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7C722-232A-4333-AB99-E82FFEC3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526" y="1790700"/>
            <a:ext cx="20421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6A3DC-4C43-4A27-9A62-49DBC4CF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1714500"/>
            <a:ext cx="3683889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891B1-504D-43D0-9696-E473715E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86" y="1790700"/>
            <a:ext cx="349338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A7D42-FAEC-429A-8537-74CF8DE2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14500"/>
            <a:ext cx="2790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5A1E9-813F-4D3B-8D1B-2C6E25C2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90700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30161-3543-4435-931C-A83DCFB8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2455926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DFFB0-872F-4F8D-BF28-367A298A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265426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시간대별 집중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2AB38-AF69-49B2-9FB9-CB9DEF34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2590800"/>
            <a:ext cx="223266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89C5C-C4DC-4DD8-84D1-542E8E0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526" y="2667000"/>
            <a:ext cx="20421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Kruskal-Wallis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1193F-FACE-4E9B-BC68-01BFF92A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590800"/>
            <a:ext cx="3683889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96E90-9AEA-49C9-AB53-A4DC688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86" y="2667000"/>
            <a:ext cx="349338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H=1720.9, p&lt;0.001, ε²=0.919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0D375-CF08-402B-A349-78532CEC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90800"/>
            <a:ext cx="2790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E3208-84CF-4A0D-9B00-97CA2FD9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67000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집중 관리 근거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603B3-D5E8-425E-B32F-8964799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2455926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3F99F-4934-45A6-8276-5097E9F7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265426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공간별 집중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5ADBC-B0E8-4AD7-849C-BB838D3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3467100"/>
            <a:ext cx="223266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67ACF-94C2-481F-BA14-0DDC261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526" y="3543300"/>
            <a:ext cx="20421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Kruskal-Wallis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A4293-D72B-4985-8D31-A7AD1E8A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467100"/>
            <a:ext cx="3683889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E7247-A593-489C-9CEA-E7CEF56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86" y="3543300"/>
            <a:ext cx="349338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H=1840.6, p&lt;0.001, ε²=0.971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E3C4CC-F6D2-4DD6-BC90-F2B9ACAB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67100"/>
            <a:ext cx="2790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B83F09-38E2-444F-8274-7D7BED9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고혼잡 역 우선순위 근거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F0ABE4-537E-48A8-AED7-630B497E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455926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1D23FE-8137-4156-9875-CA3D68E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265426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흐름별 유형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B46C15-D670-4483-B0F5-90748F55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276" y="4343400"/>
            <a:ext cx="223266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4D272E-51FB-4CEC-BBE3-5E2407A6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526" y="4419600"/>
            <a:ext cx="20421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Chi-square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4D5484-D7E3-4077-A483-5801DA6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4343400"/>
            <a:ext cx="3683889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CD114-567C-49A3-B176-3BE196B5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86" y="4419600"/>
            <a:ext cx="349338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χ²=102.4, p&lt;0.001, V=0.273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FE22CF-91A8-4A4C-964E-DE1C67B9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43400"/>
            <a:ext cx="2790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A0465-30CF-40EA-965D-431B4B6A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19600"/>
            <a:ext cx="2600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역 유형별 대응 근거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C92692-6881-439B-8994-B8EC2CC5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C075E5-D351-4669-A35A-82CD4569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2215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6048D-90FD-4C5B-B934-A5C3F363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811B9-C24F-47C6-BB34-4821C27E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F9126-94AA-4DBA-A042-F7318ED3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74BF3-98B8-44C4-AA4A-32A939EB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3ECFB-6EE9-49B3-8B49-898111C9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5D04A-3725-4B52-AADC-BAE92C4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0BACA-273D-4246-9EDE-6E00EDA0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EBE8A-CBE2-4204-B364-246561F1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4C109-C2E8-41DF-9E6A-D668DF04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899D9-E4DC-4F9F-B838-5CE8FDD3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 패턴 시각화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515A2-C460-435B-B124-ACCB91BE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시간, 노선, 역, 흐름, 공간 관점에서 혼잡의 위치를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18B4D-A08B-4110-840B-515007D5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0423B-8BC4-4E17-8E75-A9DD3BB1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BC8BC-9C29-4360-BC7F-8E3C4895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75079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A4989A-2EFF-4344-8385-C56EF45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80AA9-2BC8-4C1D-ABF9-C602F057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E2C1E-4365-457F-BE86-55E01C8B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21E1-7C7F-4102-82D2-32930183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B5BBC-0689-419B-A00A-245A151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541FC-556B-4327-92A2-2D4223FF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E0589-1F28-4C2D-906A-9561BF4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B6121-A8D1-423C-B60A-72EEAAB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A3636-E1CE-4F94-B2BB-A214F110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50D36-BD1B-4231-B07C-8E6E1A25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시간대별 유동량: 08시-09시가 최혼잡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98A25-D681-4C5E-B065-796E182C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1107E-4C97-4DBC-9A04-3994B9B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609FF-514E-4F4C-858D-50D0CAC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43aef3fa014132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BAB21-01B3-44F0-92DB-62537203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출근 피크 대응은 상시 평균보다 효과적인 운영 단위다.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BB2F0-C930-477D-B180-1402B4B0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04132-AD78-46B5-8F91-1804916D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51626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63D0F-53DF-43F7-AC1E-9A2B6415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6966C-76C3-40E6-855F-C0563F4C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26AFD-89AB-456E-9B39-F14BE8B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4CBDE-DB67-4704-AB4D-6DC0199F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255AE-8E1B-4E5B-B20E-B554441D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E3FCB-317F-4B2F-85F0-1C0B66E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F1224-FA99-46DF-B953-DBB36245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023A9-3CE4-4764-A3F5-5DB7F86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03EA9-4A8D-433B-B627-8328E48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E7ADB-A67B-4C33-A8B6-54BEBBA6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노선별 유동량: 2호선이 최상위 혼잡 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84137-9E5E-49E8-B5E9-1C934A6D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9C291-3B7A-4E1E-8253-E85F5CF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1A56A-2D23-4E6E-B169-6A8BA292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81050" y="1714500"/>
          <a:ext xmlns:a="http://schemas.openxmlformats.org/drawingml/2006/main" cx="10287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97ad59e5314fac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E309F-1C67-4CE6-A30D-25832772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419C8-7163-4DAD-823E-2A6BE878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66238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746215-4D3D-4EBE-9FC4-583B6212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EEED6-5963-491A-8D80-54AF2199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AA82E-EE37-4BD7-8CF0-1B9FBA24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84E64-B55D-4D4D-9118-B2F2A85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78D1-84C3-4320-88D4-EABB468D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A6EA-883D-4F2A-8C11-18DC4CA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74244-3BE3-4021-8547-C89E52A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94A6A-4A79-4186-AFA9-8DBEE9B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95A05-34C7-4086-814B-379384D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23ACC-BEE2-4F54-A3DF-32BC650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역별 유동량: 상위 역 중심의 우선순위가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3661D-43C8-410F-B0B8-E7D1979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E4590-7B28-43D0-90D7-6D9E18F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F4B1E-837F-4AB4-BB15-A505413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81050" y="1714500"/>
          <a:ext xmlns:a="http://schemas.openxmlformats.org/drawingml/2006/main" cx="10287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151f61acf74a13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36BDB-CBB8-4FD4-A92C-17BA874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7E9C7-8863-4947-82C9-EC881F9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62452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054F6-41FF-4763-8FD2-55E5D37E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D0EDC-6866-4BB5-8A2F-A39427FE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77CB5-6122-47FA-85C7-84A38178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FF42-0BD6-427D-8F39-FAD31F06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F93B1-3828-4903-9372-23AA9836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8DC69-8B47-4722-979D-6E07FB0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50ADB-984B-40A3-A772-B938694E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2F2B9-7C46-4883-A090-824C7352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CF85A-74E2-4CDF-BF84-5B25DDF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F8747-5761-4CEA-8B66-9A192A9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피크별 승하차 흐름 유형은 다르다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47960-F746-4541-B8FC-E7243C60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EF36C-73B2-4E34-B5BF-A453F16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C150A-DFBF-4D4E-9DE8-D2381D1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7429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7b1b047a5f4441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311C8-2EA1-4034-B229-B9599215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출근·퇴근 피크의 승차형/하차형/혼합형 분포가 다르므로 대응도 달라져야 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5DF04-FA91-448D-8C4D-F9122C3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4812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승차형: 대기열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하차형: 출구 동선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혼합형: 환승 병목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E06A1-ADC4-43A0-BC26-80E02CBE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43E1E-76AA-4330-811D-FC143FD7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13288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E4859-53E1-43E5-9CD7-BEA3E0C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8FEE4-59C8-4DAF-94A8-609ACC6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63CC-4271-415E-BE7A-D3FBEE84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C37A8-D285-4C08-8039-B107F16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CA14C-A3A4-4EB4-B3B9-CB78B2A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A638A-2CAC-4AD1-B8E9-D14D827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11637-F2CF-478D-89B9-148FCE83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29643-B853-4CF1-94E1-D17DB189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D373C-49FE-4652-A507-0B51F5A1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36AD-F1EE-47E6-9684-776D79D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GeoJSON 지도: 공간적으로도 혼잡 지점 확인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3FB14-7A02-4DD3-9073-711F5B6D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A1488-D189-4D4D-83A2-F4835FB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E43A8-3389-4D47-A6E1-4CFB75D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34c60c3154ef0"/>
          <a:stretch xmlns:a="http://schemas.openxmlformats.org/drawingml/2006/main"/>
        </p:blipFill>
        <p:spPr>
          <a:xfrm xmlns:a="http://schemas.openxmlformats.org/drawingml/2006/main">
            <a:off x="666750" y="1724257"/>
            <a:ext cx="7239000" cy="4038136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A74D6-2D72-4A59-8B33-083809A0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715B8-5190-4B36-8A3C-F16A455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81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좌표 매칭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336DE-9E30-4033-B957-5F15486E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14575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601/685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65733-83BA-4770-A40A-71BCFF5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69A2B-A898-4E9F-8445-694F9757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099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5개 역 비중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4AF47-CE65-4372-A2EC-1C5F539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43325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5.1%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47492-110F-43FC-B965-1FDD6A0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B4380-856E-4802-8B37-F39F5DC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387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20개 역 비중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08D70-3561-4012-8753-099C30E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172075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15.0%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4C1CB-7FBF-4385-B2DF-04C19296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GeoJSON 포인트를 지도 이미지로 변환해 고혼잡 역의 공간 분포를 확인한다.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230C1-4B44-442B-B101-934E1DC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89F32-A783-48A8-988A-89D49BC8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9864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F4515-AAE8-47DB-912F-937CC9C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487E4-7F09-4ECF-AA9A-145CF225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00C28-14F9-4C01-8AA1-9845947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A5F11-E9C2-480F-A6A1-B15CEA9D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5C995-99C5-4ABB-885C-85BE427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453E9-43C3-4E26-B68D-52FDB18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B141C-6B43-4D90-B2A9-64122BAC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0B331-33AB-4730-B072-17454218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13DDA-D55A-46A1-BE38-720C4C66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B8562-84C6-4356-B28C-C62B261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So What? 실행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570EB-8ED8-4067-837F-0B5D3F50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분석 결과를 운영 자원 배치와 모니터링 체계로 연결한다.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02AB0-52F7-41F6-8B17-7C9193E4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859B0-E7A0-4AD3-BA40-B18F01CB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72D29-6DDF-4D5F-A446-0F76F59A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5417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8D266-51EF-49EE-A1C4-295447A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46BAA-4D52-455A-AA77-548CC131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06A55-FC6C-4A1B-9018-163D0A9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2C24B-B04E-4CEB-BCC0-CE79C06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079E8-ABF1-407F-A454-33DA4835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D10D-6564-4D5F-945B-741BD4DD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BCE6D-7301-4027-B899-EE344E6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2DBC9-B59D-49DA-8425-BFB8C0E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48928-67FA-4420-A1AE-2C6F5C48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C27C-80D5-4AE4-8260-BB9327D1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우선순위 점수: A등급 69개 역부터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F7817-0025-4413-950C-35A3C758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F2646-6814-459B-8394-6CA1F99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6F55-A230-44B4-BD95-A033D4B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FA274-B582-4BF1-A7D4-6B2D408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0DE15-E5B6-403A-BDA1-45A8AA94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844BD-9CCA-4C99-93B6-63C1ED9E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1450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898F4-41BF-4E75-B24C-8B5A534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9070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5C4DB-7AF3-4DB9-B463-E8FFCD1F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171450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44983-DA42-400F-B6EE-607B4C06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179070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점수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43B4B-34FF-4C40-9315-837C80E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171450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CA549-22F7-4A76-A94E-7AE444A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79070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214E3-D910-422C-833D-5EE2989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171450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9EEFF-FAA2-48AB-9440-D270013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179070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피크유동량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B9F18-0B46-4F82-8703-F75F654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2EA60-246D-49A5-B4E1-997AD65C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8F74A-567D-4FEF-A69A-03739105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2885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C84DA-4CE0-4030-A248-AE289369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0505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강남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1D7ED-E30A-4E32-A853-6F1237F7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222885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06DB2-88EE-4390-A01A-FFDDBC37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230505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1.000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D1350-6847-4B60-8411-A0D931F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22885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BF257A-9EAD-47BD-B282-AB2D2686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230505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1458B-C39B-40D4-93AE-3178CF9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222885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85C618-471A-4C04-9687-BCD716C2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230505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19,752만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6FFF7-71AC-43E8-96C9-9112DBE8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A81AEE-657B-4F29-B67C-F71A6428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AA2F2E-14AD-406C-A2AF-B6CDC02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4D280-E063-4B34-8841-05BB24B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1940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신림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3E540D-A81E-42E0-9CC8-EBDDA35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274320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DEEB52-429D-4092-9CAC-993FBD8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281940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0.724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949DFA-8C3D-4DA7-9FCC-D54D6301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4320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5EC16A-5E72-4796-BC10-C597D5A0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281940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6520AD-F37C-4D6A-B2B6-A62908D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274320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D33DBD-DE1C-4516-AF53-44061C24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281940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14,581만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6629B6-5CD5-4D56-A278-78E6C16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3CBE12-C1AC-468B-9A19-296EC2FC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6536CF-EE5E-4389-A403-423BA07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E3AE63-D86C-41BF-8613-BDA127DB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홍대입구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EB70A3-E202-4CF6-B4C4-D61CDC7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325755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C44631-EF06-438A-AA06-91A0100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333375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0.721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82F5D4-8A9E-4275-95B1-AB9C0ED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325755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D1957F-175A-4DAA-BBA7-D9E49FC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33375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93C12C-57AA-4102-94EC-86B9BF75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325755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0BA4AA-038B-412D-8B14-161843F0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333375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13,149만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9B067A-D09D-40B3-B1A2-1A014D4B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3DE87F-150D-4FD7-8C86-C1B94EE9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57E48E-CECF-43BD-BE86-E98E18EF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86956C-8ED8-4612-B6E2-5AEF0BB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4810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구로디지털단지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AD85FD-9E7F-4C3E-A5D2-5F7FE55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377190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1FF14A-C089-4EFA-9C24-44E427A5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384810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0.691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47945E-4975-4FA6-A768-27EC330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377190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01E62B-CD98-479D-9413-2141BAFB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84810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B76C89-0E93-4E26-A031-8C1B5119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377190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03BD1A-0FC7-485A-801B-3772B396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384810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14,748만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C1A9C3-CDCA-483F-BD3A-DD6F5BA9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A7996E2-977E-456B-AA16-3A77BB9A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3A3A0F-C4DE-41C5-815C-4023B26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8625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401C60-BE66-421F-988B-D4D9435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6245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신도림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662BC1-0686-4B34-B5D6-AF67534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428625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D5A96F-FDB1-4587-AD47-8FE1A05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436245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0.601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C4348D-9FED-4D1C-B6E6-D59535B1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428625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6658A9-6059-4281-94D3-815A052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36245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51D22A-1C0F-41E4-9942-C37FB7A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428625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69AF4C-B3DA-407B-BF84-6E6D2FE7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436245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11,832만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E58169-803F-41DA-B127-F4F81890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68BFC1-E787-4A28-BB15-EA52AF8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96D592-A2A2-4E36-A9DB-46C7BBE3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060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B750DD-2838-497F-AB33-C6110DF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7680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잠실(송파구청)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564C22-B739-4615-9606-2BBBA08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480060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95D749-A738-4706-A0C9-77B8F42D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487680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0.595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730819A-1B3A-465E-865C-EEFFE77B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480060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4BB57F-004B-40C9-8C07-7AC87B27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87680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EB3592-FA88-4ABE-AA81-C91CA0F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480060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287214-B764-42BE-95EB-F054ABF9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487680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11,743만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8F145E-F0DF-4739-94B2-751A47A9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55D656-5A12-4840-B9E5-F7A307D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E9ACB5-51CB-4B30-9F53-3419B2D1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1495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B8AAFF-2ED3-48F2-A95B-F56CC9B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9115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선릉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3A4E819-3B69-4D02-9BCB-BF7DEE96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531495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6102D1-DCAF-4747-BD4E-68A30E6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539115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0.552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1CCF25-5BBC-4E66-861F-DEF70A42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531495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A8AEAAD-6ED4-458E-8639-353690C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539115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E7568A-46E3-425D-8E07-45132A4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531495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1FE1E43-B03C-4066-9F54-136AE8E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539115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11,640만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8638EB-8689-4C23-9004-BD0B04B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11EA18A-15DA-467C-A917-AFE719C5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E2356B-CA39-4B82-8809-0FC6C9D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29300"/>
            <a:ext cx="3840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AA6AAD-8753-4230-BD98-6816D10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05500"/>
            <a:ext cx="3649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역삼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9A8059-0646-4861-8A26-9F3DFE60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0" y="5829300"/>
            <a:ext cx="17068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DF9232-AD09-4D03-BC82-7F27047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5905500"/>
            <a:ext cx="15163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0.549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193FCC-988F-4E99-B69A-889F5124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5829300"/>
            <a:ext cx="1280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A9E92F-46C4-49DB-8646-6EDC0B2F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5905500"/>
            <a:ext cx="1089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E8A0A5-AAE2-412D-A18A-F5F1457F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5829300"/>
            <a:ext cx="27736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0C3D7C-3778-416A-8294-9465984D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70" y="5905500"/>
            <a:ext cx="2583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12,003만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D8A359-CCC9-4679-9010-444AF210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FB40B90-A5B7-47D4-99BD-18A61155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60299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BB0D7-D06C-42E4-99E3-FD594E70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C5A2-69F6-4A87-9D09-25AFCBE9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BC8F0-7917-48C8-BC7D-48B5E29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F3563-E756-46E6-A8D5-27F6B95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84CDF-2DE1-4360-991A-E3B5E0F4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4497D-175C-43F5-85D2-45924386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5EF0B-BE17-4D79-AFA9-0899032F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A232E-68B4-4E8C-8152-CD2DF46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E4C28-3866-4F71-BA9A-78540F3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92ADD-A092-4862-B88D-132D589F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 유형별 Action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9437D-A8A4-44FD-B082-BC26B56B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2DD68-9B03-4EF7-8281-E1913268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65F17-4A62-4515-83ED-A7B3F0B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C02E6-06D7-4383-8146-2CB0438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068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40F85-5AF4-41B3-B15F-5F92EA1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163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C375A-7887-43E2-B148-62A94AE7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1809750"/>
            <a:ext cx="3520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99ECB-1CD7-446B-8A22-94E1DE9B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1885950"/>
            <a:ext cx="33299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 구조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DE8C6-337B-415D-9975-BCC8768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20" y="1809750"/>
            <a:ext cx="54406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27BBF-8975-4277-AE87-157D94F1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0" y="1885950"/>
            <a:ext cx="52501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03572-9537-4248-A673-56C3302E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7068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17A47-ECDE-4DA4-9A21-20C2B224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5163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E0AD1-6983-4450-B8CC-F2BDB49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2647950"/>
            <a:ext cx="3520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E3739-5D3D-4018-9FD7-4ECFE5A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2724150"/>
            <a:ext cx="33299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승강장 진입 전 대기열 증가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28623-ED3D-4748-908E-9F2908B1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20" y="2647950"/>
            <a:ext cx="54406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97767-A33B-409C-BA30-E16AA78D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0" y="2724150"/>
            <a:ext cx="52501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개찰구·승강장 진입 안내, 대기열 분산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D1366-D3BA-404A-ACDC-EA0BA966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7068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836AE5-D0D5-426A-864F-62627E8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5163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798C2-03A8-4149-845D-76D0434C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3486150"/>
            <a:ext cx="3520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43EBE-CBD9-49BA-AC41-186FE8BA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3562350"/>
            <a:ext cx="33299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출구·환승 동선 병목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9786E-3102-453D-B3AB-7A9CA4FE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20" y="3486150"/>
            <a:ext cx="54406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C4634-B0B3-4694-83E8-43A3379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0" y="3562350"/>
            <a:ext cx="52501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 동선 분산, 출구 안내, 환승 방향 분리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BBE40-B8CB-4388-AD33-A0563CC7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7068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ACD58-BF7F-4A44-9923-4B115D1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5163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혼합형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7D763-38D9-4081-8636-F9EE219D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4324350"/>
            <a:ext cx="352044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6EFD7-2291-4519-88B6-4BD728D1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4400550"/>
            <a:ext cx="33299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승차·하차가 동시에 높음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692F19-207D-447E-A1C2-5E3B084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20" y="4324350"/>
            <a:ext cx="544068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9F9583-8D58-49E8-AC4F-A6740CE4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0" y="4400550"/>
            <a:ext cx="52501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승하차 동선 분리, 환승 병목 집중 관리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D174F-BDB2-46FC-83AF-2E2ACE5B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874D85-69B8-41D3-A0E2-92ABE3B1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465136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8D86A-E34C-407F-98C1-6394961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6AD6-15FC-44FC-89ED-D6DC78DF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DF4EF-2CF0-4D80-8555-15D9E90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1A0DF-5326-4748-AD92-DDC4D30F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2998-DBC5-4933-A7BB-E4EA957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CB521-957A-432B-9AF0-53F64A5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447E4-E2DD-41E9-9B29-8480C9C8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C3FDB-E9C2-4182-87FE-29DDC574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04F56-276F-4C72-9E56-DA09369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15D13-3BA8-4F05-8CE9-773C4325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30-60-90일 실행 로드맵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1D24A-788B-47B2-97BA-3332A8FB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C4C97-9253-4437-A8E6-02F7AAA1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3022A-6A73-4507-9F42-A035AD58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621FD-0F2F-45A2-9D1B-CD95405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0688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1D2B8-B3CB-4711-A74B-350DB07D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1638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196BF-C3F4-4F80-856D-4C2D99C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1809750"/>
            <a:ext cx="55473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7F3A7-F32F-4EB3-B1A2-994A2DA5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1885950"/>
            <a:ext cx="53568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B55C4-F625-4E12-B7E8-A6507A50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1809750"/>
            <a:ext cx="34137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0960F-2B6A-4F1F-8579-3CE93573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1885950"/>
            <a:ext cx="32232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성과 지표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5B03D-2C9B-4030-A0F8-F926020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70688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D0A59-FAA6-4DB3-AAB1-3176912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51638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30일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F84DC-A119-4BD0-8ED5-370E5540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2714625"/>
            <a:ext cx="55473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9F670-9F9F-4058-9E30-08219CA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2790825"/>
            <a:ext cx="53568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A등급 역 현장 점검 및 피크 안내 강화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52538-FC27-43EE-9AE4-6E26F5C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2714625"/>
            <a:ext cx="34137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0D46A-DB00-4460-9E19-B6AD0058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2790825"/>
            <a:ext cx="32232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혼잡 역 커버리지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B62F1-5739-4D25-9EA0-73D9ED34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70688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AD39EE-09B1-4583-8787-EAB5A98B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51638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60일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E2FA9-CA85-42F1-97E3-FA89DE40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3619500"/>
            <a:ext cx="55473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5F1CC-ED5E-4F0D-856F-7637190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3695700"/>
            <a:ext cx="53568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승차형·하차형·혼합형별 동선 운영안 적용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1E358-C531-443A-9BDD-F17F4DB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3619500"/>
            <a:ext cx="34137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D7BF85-26FA-4B56-81E4-39BDF877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3695700"/>
            <a:ext cx="32232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 병목 신고 감소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A82960-D494-4FB7-AFEE-4416755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70688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34521A-B93C-492E-9F89-EFF11CB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51638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90일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49F1EE-5247-4E64-8E3D-89803FA7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780" y="4524375"/>
            <a:ext cx="55473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BAC858-782D-421E-B111-E59DC96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4600575"/>
            <a:ext cx="53568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월별 혼잡도 대시보드 운영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B9A8FC-5808-4EC2-A254-4DD1951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4524375"/>
            <a:ext cx="341376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4A07CA-2253-416E-A435-00D66DB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4600575"/>
            <a:ext cx="322326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우선순위 점수 월별 추적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D5BAF3-9EC8-419F-AC74-E5D2DA33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68D189-5EC6-4AB1-96C7-3716447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1152135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DE1209-F4F5-4949-A971-E1F4516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408A4-4B86-4942-A9A2-1B2794E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9041F-BDDD-483E-A66E-DFB4C2B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A769-7709-420D-A155-AC5291EA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042D0-4B2D-40BD-8513-6FB5B05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B9FDD-2C64-47D1-A52C-ECFAF1E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EA93E-18FC-4D22-9186-6FF54F0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5A73E-DC8B-484C-AA8B-BB43A55A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AFA21-58F4-49AA-9CB2-7E69630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572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28BD7-8761-47EB-AA65-3FEAA498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의사결정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8674A-B4B6-4B20-8628-2347505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9727-B9B1-4936-A3E3-3D795ED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65981-E5CE-48BD-AC8F-BDB7F39D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E02F0-B428-4349-9AFB-FDF54861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64A20-19A2-4A0A-8540-B0B5A4D3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혼잡 관리는 전체 평균이 아니라 피크 시간대, 고혼잡 역, 승하차 흐름 유형 기준으로 선별 설계해야 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1F2AD-4EC6-449D-A451-37FD2DEA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A5783-2869-41EB-A249-9541F118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A등급 69개 역을 우선 관리 대상으로 지정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F9152-B1F2-4A15-B8DA-2B92A46A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683E-0EC8-49C1-BEA9-F74D417D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08시-09시 중심의 출근 피크 집중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B7C2F-145B-4C3A-8BD3-82639992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79A75-18AE-43B5-9FE5-E3F17FDA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승차형·하차형·혼합형에 따른 현장 운영안 차등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D57A6-334C-4978-953F-19A598F9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11647-C644-460E-BA72-EA2D1051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387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월별 혼잡도 지표로 정기 모니터링 체계 구축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5C45E-20CB-49B8-A83A-9EBB19A9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358CD-C782-44AE-A087-0F6A603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22587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2026-06-26T01:45:05.0010000Z</dcterms:created>
  <dcterms:modified xsi:type="dcterms:W3CDTF">2026-06-26T01:45:05.0010000Z</dcterms:modified>
</coreProperties>
</file>