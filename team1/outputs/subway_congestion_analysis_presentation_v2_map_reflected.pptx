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59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유동량(억 명)</c:v>
          </c:tx>
          <c:cat>
            <c:strLit>
              <c:ptCount val="24"/>
              <c:pt idx="0">
                <c:v>00시-01시</c:v>
              </c:pt>
              <c:pt idx="1">
                <c:v>01시-02시</c:v>
              </c:pt>
              <c:pt idx="2">
                <c:v>02시-03시</c:v>
              </c:pt>
              <c:pt idx="3">
                <c:v>03시-04시</c:v>
              </c:pt>
              <c:pt idx="4">
                <c:v>04시-05시</c:v>
              </c:pt>
              <c:pt idx="5">
                <c:v>05시-06시</c:v>
              </c:pt>
              <c:pt idx="6">
                <c:v>06시-07시</c:v>
              </c:pt>
              <c:pt idx="7">
                <c:v>07시-08시</c:v>
              </c:pt>
              <c:pt idx="8">
                <c:v>08시-09시</c:v>
              </c:pt>
              <c:pt idx="9">
                <c:v>09시-10시</c:v>
              </c:pt>
              <c:pt idx="10">
                <c:v>10시-11시</c:v>
              </c:pt>
              <c:pt idx="11">
                <c:v>11시-12시</c:v>
              </c:pt>
              <c:pt idx="12">
                <c:v>12시-13시</c:v>
              </c:pt>
              <c:pt idx="13">
                <c:v>13시-14시</c:v>
              </c:pt>
              <c:pt idx="14">
                <c:v>14시-15시</c:v>
              </c:pt>
              <c:pt idx="15">
                <c:v>15시-16시</c:v>
              </c:pt>
              <c:pt idx="16">
                <c:v>16시-17시</c:v>
              </c:pt>
              <c:pt idx="17">
                <c:v>17시-18시</c:v>
              </c:pt>
              <c:pt idx="18">
                <c:v>18시-19시</c:v>
              </c:pt>
              <c:pt idx="19">
                <c:v>19시-20시</c:v>
              </c:pt>
              <c:pt idx="20">
                <c:v>20시-21시</c:v>
              </c:pt>
              <c:pt idx="21">
                <c:v>21시-22시</c:v>
              </c:pt>
              <c:pt idx="22">
                <c:v>22시-23시</c:v>
              </c:pt>
              <c:pt idx="23">
                <c:v>23시-24시</c:v>
              </c:pt>
            </c:strLit>
          </c:cat>
          <c:val>
            <c:numLit>
              <c:formatCode>General</c:formatCode>
              <c:ptCount val="24"/>
              <c:pt idx="0">
                <c:v>1.7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0.1</c:v>
              </c:pt>
              <c:pt idx="5">
                <c:v>3</c:v>
              </c:pt>
              <c:pt idx="6">
                <c:v>8.1</c:v>
              </c:pt>
              <c:pt idx="7">
                <c:v>20.3</c:v>
              </c:pt>
              <c:pt idx="8">
                <c:v>31.8</c:v>
              </c:pt>
              <c:pt idx="9">
                <c:v>20.399999999999999</c:v>
              </c:pt>
              <c:pt idx="10">
                <c:v>14.4</c:v>
              </c:pt>
              <c:pt idx="11">
                <c:v>14</c:v>
              </c:pt>
              <c:pt idx="12">
                <c:v>15</c:v>
              </c:pt>
              <c:pt idx="13">
                <c:v>16</c:v>
              </c:pt>
              <c:pt idx="14">
                <c:v>15.8</c:v>
              </c:pt>
              <c:pt idx="15">
                <c:v>16.8</c:v>
              </c:pt>
              <c:pt idx="16">
                <c:v>18.899999999999999</c:v>
              </c:pt>
              <c:pt idx="17">
                <c:v>23.1</c:v>
              </c:pt>
              <c:pt idx="18">
                <c:v>31.6</c:v>
              </c:pt>
              <c:pt idx="19">
                <c:v>23.4</c:v>
              </c:pt>
              <c:pt idx="20">
                <c:v>16</c:v>
              </c:pt>
              <c:pt idx="21">
                <c:v>14.7</c:v>
              </c:pt>
              <c:pt idx="22">
                <c:v>13.1</c:v>
              </c:pt>
              <c:pt idx="23">
                <c:v>7.2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011648"/>
        <c:axId val="217477056"/>
      </c:lineChart>
      <c:catAx>
        <c:axId val="58011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217477056"/>
        <c:crosses val="autoZero"/>
        <c:auto val="1"/>
        <c:lblAlgn val="ctr"/>
        <c:lblOffset val="100"/>
        <c:noMultiLvlLbl val="0"/>
      </c:catAx>
      <c:valAx>
        <c:axId val="217477056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58011648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유동량(억 명)</c:v>
          </c:tx>
          <c:spPr>
            <a:solidFill>
              <a:srgbClr val="457B9D"/>
            </a:solidFill>
          </c:spPr>
          <c:invertIfNegative val="1"/>
          <c:dLbls>
            <c:delete val="1"/>
          </c:dLbls>
          <c:cat>
            <c:strLit>
              <c:ptCount val="8"/>
              <c:pt idx="0">
                <c:v>2호선</c:v>
              </c:pt>
              <c:pt idx="1">
                <c:v>7호선</c:v>
              </c:pt>
              <c:pt idx="2">
                <c:v>5호선</c:v>
              </c:pt>
              <c:pt idx="3">
                <c:v>4호선</c:v>
              </c:pt>
              <c:pt idx="4">
                <c:v>3호선</c:v>
              </c:pt>
              <c:pt idx="5">
                <c:v>경부선</c:v>
              </c:pt>
              <c:pt idx="6">
                <c:v>분당선</c:v>
              </c:pt>
              <c:pt idx="7">
                <c:v>6호선</c:v>
              </c:pt>
            </c:strLit>
          </c:cat>
          <c:val>
            <c:numLit>
              <c:formatCode>General</c:formatCode>
              <c:ptCount val="8"/>
              <c:pt idx="0">
                <c:v>68.2</c:v>
              </c:pt>
              <c:pt idx="1">
                <c:v>31.8</c:v>
              </c:pt>
              <c:pt idx="2">
                <c:v>26.9</c:v>
              </c:pt>
              <c:pt idx="3">
                <c:v>26</c:v>
              </c:pt>
              <c:pt idx="4">
                <c:v>24.9</c:v>
              </c:pt>
              <c:pt idx="5">
                <c:v>21.7</c:v>
              </c:pt>
              <c:pt idx="6">
                <c:v>16.600000000000001</c:v>
              </c:pt>
              <c:pt idx="7">
                <c:v>15.6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8060800"/>
        <c:axId val="217478784"/>
      </c:barChart>
      <c:catAx>
        <c:axId val="5806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217478784"/>
        <c:crosses val="autoZero"/>
        <c:auto val="1"/>
        <c:lblAlgn val="ctr"/>
        <c:lblOffset val="100"/>
        <c:noMultiLvlLbl val="0"/>
      </c:catAx>
      <c:valAx>
        <c:axId val="217478784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58060800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유동량(억 명)</c:v>
          </c:tx>
          <c:spPr>
            <a:solidFill>
              <a:srgbClr val="E63946"/>
            </a:solidFill>
          </c:spPr>
          <c:invertIfNegative val="1"/>
          <c:dLbls>
            <c:delete val="1"/>
          </c:dLbls>
          <c:cat>
            <c:strLit>
              <c:ptCount val="8"/>
              <c:pt idx="0">
                <c:v>2호선 강남</c:v>
              </c:pt>
              <c:pt idx="1">
                <c:v>2호선 홍대입구</c:v>
              </c:pt>
              <c:pt idx="2">
                <c:v>2호선 신림</c:v>
              </c:pt>
              <c:pt idx="3">
                <c:v>2호선 구로디지털단지</c:v>
              </c:pt>
              <c:pt idx="4">
                <c:v>2호선 신도림</c:v>
              </c:pt>
              <c:pt idx="5">
                <c:v>2호선 잠실(송파구청)</c:v>
              </c:pt>
              <c:pt idx="6">
                <c:v>3호선 고속터미널</c:v>
              </c:pt>
              <c:pt idx="7">
                <c:v>1호선 서울역</c:v>
              </c:pt>
            </c:strLit>
          </c:cat>
          <c:val>
            <c:numLit>
              <c:formatCode>General</c:formatCode>
              <c:ptCount val="8"/>
              <c:pt idx="0">
                <c:v>4.5</c:v>
              </c:pt>
              <c:pt idx="1">
                <c:v>3.5</c:v>
              </c:pt>
              <c:pt idx="2">
                <c:v>3.2</c:v>
              </c:pt>
              <c:pt idx="3">
                <c:v>2.8</c:v>
              </c:pt>
              <c:pt idx="4">
                <c:v>2.7</c:v>
              </c:pt>
              <c:pt idx="5">
                <c:v>2.6</c:v>
              </c:pt>
              <c:pt idx="6">
                <c:v>2.6</c:v>
              </c:pt>
              <c:pt idx="7">
                <c:v>2.4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4159232"/>
        <c:axId val="217479360"/>
      </c:barChart>
      <c:catAx>
        <c:axId val="22415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217479360"/>
        <c:crosses val="autoZero"/>
        <c:auto val="1"/>
        <c:lblAlgn val="ctr"/>
        <c:lblOffset val="100"/>
        <c:noMultiLvlLbl val="0"/>
      </c:catAx>
      <c:valAx>
        <c:axId val="217479360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224159232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출근 피크</c:v>
          </c:tx>
          <c:spPr>
            <a:solidFill>
              <a:srgbClr val="FF6B35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승차형</c:v>
              </c:pt>
              <c:pt idx="1">
                <c:v>하차형</c:v>
              </c:pt>
              <c:pt idx="2">
                <c:v>혼합형</c:v>
              </c:pt>
            </c:strLit>
          </c:cat>
          <c:val>
            <c:numLit>
              <c:formatCode>General</c:formatCode>
              <c:ptCount val="3"/>
              <c:pt idx="0">
                <c:v>333</c:v>
              </c:pt>
              <c:pt idx="1">
                <c:v>185</c:v>
              </c:pt>
              <c:pt idx="2">
                <c:v>167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1"/>
          <c:order val="1"/>
          <c:tx>
            <c:v>퇴근 피크</c:v>
          </c:tx>
          <c:spPr>
            <a:solidFill>
              <a:srgbClr val="2A9D8F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승차형</c:v>
              </c:pt>
              <c:pt idx="1">
                <c:v>하차형</c:v>
              </c:pt>
              <c:pt idx="2">
                <c:v>혼합형</c:v>
              </c:pt>
            </c:strLit>
          </c:cat>
          <c:val>
            <c:numLit>
              <c:formatCode>General</c:formatCode>
              <c:ptCount val="3"/>
              <c:pt idx="0">
                <c:v>158</c:v>
              </c:pt>
              <c:pt idx="1">
                <c:v>235</c:v>
              </c:pt>
              <c:pt idx="2">
                <c:v>292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4190976"/>
        <c:axId val="209372288"/>
      </c:barChart>
      <c:catAx>
        <c:axId val="22419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209372288"/>
        <c:crosses val="autoZero"/>
        <c:auto val="1"/>
        <c:lblAlgn val="ctr"/>
        <c:lblOffset val="100"/>
        <c:noMultiLvlLbl val="0"/>
      </c:catAx>
      <c:valAx>
        <c:axId val="209372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24190976"/>
        <c:crosses val="autoZero"/>
        <c:crossBetween val="between"/>
      </c:valAx>
    </c:plotArea>
    <c:legend>
      <c:legendPos val="b"/>
      <c:layout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269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모서리가 둥근 직사각형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‹#›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모서리가 둥근 직사각형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직사각형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6/26/2026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‹#›</a:t>
            </a:fld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모서리가 둥근 직사각형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직사각형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3F416CD-67A3-4CF0-A210-F6AF31AC147F}" type="datetimeFigureOut">
              <a:rPr lang="en-US" smtClean="0"/>
              <a:pPr eaLnBrk="1" latinLnBrk="0" hangingPunct="1"/>
              <a:t>6/26/2026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모서리가 둥근 직사각형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6/26/2026</a:t>
            </a:fld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800" dirty="0">
              <a:solidFill>
                <a:schemeClr val="accent2"/>
              </a:solidFill>
            </a:endParaRPr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‹#›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algn="l" rtl="0" eaLnBrk="1" latinLnBrk="1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1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1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1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1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1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B233209C-A3BE-46C1-B11F-DC8DFF695BC4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5B1F8D76-BBC0-4BBB-A1ED-463297143838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933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승하차 혼잡도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DC037A97-2EE8-4496-8A9A-1E3D8BE83913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시간대 · 고혼잡 역 · 승하차 흐름 유형 기반 운영 우선순위 제안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A80D1F3-4674-4894-8D1C-64B9E39CA2CC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25717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F64A0C70-5792-40CB-92D7-A84E76A85990}"/>
              </a:ext>
            </a:extLst>
          </p:cNvPr>
          <p:cNvSpPr>
            <a:spLocks noGrp="1"/>
          </p:cNvSpPr>
          <p:nvPr/>
        </p:nvSpPr>
        <p:spPr>
          <a:xfrm>
            <a:off x="704850" y="404812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최혼잡 시간대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8674335B-425F-4510-98FD-FBC8D968BB81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08시-09시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44F7BB0C-B065-4559-8070-5E54A651DB4C}"/>
              </a:ext>
            </a:extLst>
          </p:cNvPr>
          <p:cNvSpPr>
            <a:spLocks noGrp="1"/>
          </p:cNvSpPr>
          <p:nvPr/>
        </p:nvSpPr>
        <p:spPr>
          <a:xfrm>
            <a:off x="3352800" y="3857625"/>
            <a:ext cx="25717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BA1B861-FC96-4411-9208-539FD3EB57BA}"/>
              </a:ext>
            </a:extLst>
          </p:cNvPr>
          <p:cNvSpPr>
            <a:spLocks noGrp="1"/>
          </p:cNvSpPr>
          <p:nvPr/>
        </p:nvSpPr>
        <p:spPr>
          <a:xfrm>
            <a:off x="3562350" y="404812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최혼잡 노선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25440E3-92C0-47AF-97AF-FE49A0714F79}"/>
              </a:ext>
            </a:extLst>
          </p:cNvPr>
          <p:cNvSpPr>
            <a:spLocks noGrp="1"/>
          </p:cNvSpPr>
          <p:nvPr/>
        </p:nvSpPr>
        <p:spPr>
          <a:xfrm>
            <a:off x="3562350" y="43815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rPr>
              <a:t>2호선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B78CEF73-AC5F-4B83-B4AA-6BF26E9B51FC}"/>
              </a:ext>
            </a:extLst>
          </p:cNvPr>
          <p:cNvSpPr>
            <a:spLocks noGrp="1"/>
          </p:cNvSpPr>
          <p:nvPr/>
        </p:nvSpPr>
        <p:spPr>
          <a:xfrm>
            <a:off x="6210300" y="3857625"/>
            <a:ext cx="30480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A2C4EE4C-0E26-4702-9D30-E7C855B0554C}"/>
              </a:ext>
            </a:extLst>
          </p:cNvPr>
          <p:cNvSpPr>
            <a:spLocks noGrp="1"/>
          </p:cNvSpPr>
          <p:nvPr/>
        </p:nvSpPr>
        <p:spPr>
          <a:xfrm>
            <a:off x="6419850" y="4048125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최우선 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9660325C-490A-4040-86F0-5BFCB2C7E0AF}"/>
              </a:ext>
            </a:extLst>
          </p:cNvPr>
          <p:cNvSpPr>
            <a:spLocks noGrp="1"/>
          </p:cNvSpPr>
          <p:nvPr/>
        </p:nvSpPr>
        <p:spPr>
          <a:xfrm>
            <a:off x="6419850" y="438150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2호선 강남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4ED13E8C-B965-4630-80B6-2FCAB98A95DE}"/>
              </a:ext>
            </a:extLst>
          </p:cNvPr>
          <p:cNvSpPr>
            <a:spLocks noGrp="1"/>
          </p:cNvSpPr>
          <p:nvPr/>
        </p:nvSpPr>
        <p:spPr>
          <a:xfrm>
            <a:off x="9544050" y="3857625"/>
            <a:ext cx="21907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8D27B3F-071E-41D6-8488-3BC84A41E8E6}"/>
              </a:ext>
            </a:extLst>
          </p:cNvPr>
          <p:cNvSpPr>
            <a:spLocks noGrp="1"/>
          </p:cNvSpPr>
          <p:nvPr/>
        </p:nvSpPr>
        <p:spPr>
          <a:xfrm>
            <a:off x="9753600" y="40481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A등급 대상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AC8EEB07-86AE-4059-91C1-30B3B4436E7F}"/>
              </a:ext>
            </a:extLst>
          </p:cNvPr>
          <p:cNvSpPr>
            <a:spLocks noGrp="1"/>
          </p:cNvSpPr>
          <p:nvPr/>
        </p:nvSpPr>
        <p:spPr>
          <a:xfrm>
            <a:off x="9753600" y="4381500"/>
            <a:ext cx="1771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69개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2EF18494-4C7E-47B5-AA40-7D2872668C1A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Executive summary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1037AC53-B3A1-4CC4-A4BD-F5CA7931290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93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5D0460C3-3B89-482D-9641-CAB81CE4593D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350CCF75-F95F-4042-946E-885FC4BE2585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 분석 문제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F1231BC0-750B-49F0-91AA-7C1723858C6C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혼잡 완화의 질문을 운영 자원 배치 문제로 바꾼다.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1539CE4-3808-4FA3-9628-FC931B44C6B5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194E02F-C36C-4178-A188-1B5D7B1AA81C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1292B76F-6446-43FA-BC72-AD8B8653C5C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0627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EC38BDDF-1FB1-400A-8E9F-9FE26DDA252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1B5A8877-A1C7-482C-9194-09945B79FDFD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SCQA: 그래서 어디에, 언제, 무엇을 해야 하는가?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346D92E-18D9-4CE6-826C-F0D0ED14097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3C80DC1-CB48-4E29-A6E2-6363A12509E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9736FDE-7C92-4727-826D-DF5C5FFEC60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A55ED2CF-B6D5-41BF-84B2-7CD7C65CBEBC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106680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530DF3CB-C321-4063-AC61-9A2AF058CA59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876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D68E10ED-4731-4019-A991-ED19DA631AB0}"/>
              </a:ext>
            </a:extLst>
          </p:cNvPr>
          <p:cNvSpPr>
            <a:spLocks noGrp="1"/>
          </p:cNvSpPr>
          <p:nvPr/>
        </p:nvSpPr>
        <p:spPr>
          <a:xfrm>
            <a:off x="1809750" y="1809750"/>
            <a:ext cx="960120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0B40E81F-BDCF-4D12-B0E0-8E19A20F9094}"/>
              </a:ext>
            </a:extLst>
          </p:cNvPr>
          <p:cNvSpPr>
            <a:spLocks noGrp="1"/>
          </p:cNvSpPr>
          <p:nvPr/>
        </p:nvSpPr>
        <p:spPr>
          <a:xfrm>
            <a:off x="1905000" y="1885950"/>
            <a:ext cx="941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수요는 시간대와 역에 따라 크게 달라진다.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AE0A42F-8862-4E2D-9613-C582F25688C4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10668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B7D9FAA-EB07-43D5-8E12-3068362C5B43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876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56CDC1F6-073F-43A6-A4AC-0C4304815256}"/>
              </a:ext>
            </a:extLst>
          </p:cNvPr>
          <p:cNvSpPr>
            <a:spLocks noGrp="1"/>
          </p:cNvSpPr>
          <p:nvPr/>
        </p:nvSpPr>
        <p:spPr>
          <a:xfrm>
            <a:off x="1809750" y="2647950"/>
            <a:ext cx="9601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11BD2F0-35F8-4C08-B4C9-CF562058EAD0}"/>
              </a:ext>
            </a:extLst>
          </p:cNvPr>
          <p:cNvSpPr>
            <a:spLocks noGrp="1"/>
          </p:cNvSpPr>
          <p:nvPr/>
        </p:nvSpPr>
        <p:spPr>
          <a:xfrm>
            <a:off x="1905000" y="2724150"/>
            <a:ext cx="941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모든 역에 같은 방식으로 자원을 배치하면 실제 혼잡 지점 대응이 어렵다.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04E21E83-A90E-4F35-8D5B-157406C2493B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10668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5CE1F8E1-6A42-4948-8182-D3965575101A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876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CB68E1FD-BBBA-4AC8-B1CC-A662FE786DE7}"/>
              </a:ext>
            </a:extLst>
          </p:cNvPr>
          <p:cNvSpPr>
            <a:spLocks noGrp="1"/>
          </p:cNvSpPr>
          <p:nvPr/>
        </p:nvSpPr>
        <p:spPr>
          <a:xfrm>
            <a:off x="1809750" y="3486150"/>
            <a:ext cx="9601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5305A965-2DD4-49FF-B332-843DFA1F2DEE}"/>
              </a:ext>
            </a:extLst>
          </p:cNvPr>
          <p:cNvSpPr>
            <a:spLocks noGrp="1"/>
          </p:cNvSpPr>
          <p:nvPr/>
        </p:nvSpPr>
        <p:spPr>
          <a:xfrm>
            <a:off x="1905000" y="3562350"/>
            <a:ext cx="941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혼잡 완화를 위해 운영 자원을 어디에, 언제, 어떤 방식으로 우선 배치해야 하는가?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4947DAF6-70CD-493F-ABC3-DFC6AE574FAD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10668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BD4D50D8-8CD8-4F1F-83CF-DF640E29C5F0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876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6A7BB14A-C958-494A-B765-FE007DF84E02}"/>
              </a:ext>
            </a:extLst>
          </p:cNvPr>
          <p:cNvSpPr>
            <a:spLocks noGrp="1"/>
          </p:cNvSpPr>
          <p:nvPr/>
        </p:nvSpPr>
        <p:spPr>
          <a:xfrm>
            <a:off x="1809750" y="4324350"/>
            <a:ext cx="9601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46F993E9-0345-4B31-BEEC-4C5B1AB041A7}"/>
              </a:ext>
            </a:extLst>
          </p:cNvPr>
          <p:cNvSpPr>
            <a:spLocks noGrp="1"/>
          </p:cNvSpPr>
          <p:nvPr/>
        </p:nvSpPr>
        <p:spPr>
          <a:xfrm>
            <a:off x="1905000" y="4400550"/>
            <a:ext cx="941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시간대와 고혼잡 역 중심의 선별적 혼잡 완화 전략이 필요하다.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19A36768-00D0-4A9C-9B53-0D316904245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F4E76440-8372-4A2B-B6E4-E41B0B5675F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070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13FB9760-4D9A-46A9-92DD-C2333910263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C891CCFF-75B0-4BAA-8BA0-5A15F005A90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범위와 한계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89D4C3D-6FCB-4836-8E0B-895B0D2C89AE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4D6A8CF2-8C39-41DB-9BD2-9C4BEBA08C5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3ABD363-4022-420D-93C1-AC888559E2D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7C3DD2B9-08DA-4E2C-8E6F-482A3C41B86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3812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8451FDFA-5073-4C68-B6F1-5C1F49A7B085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19D199C0-C04C-436B-957B-326D872E760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2015.01-2021.06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516E28F6-5532-40D3-9646-187CA7ECBC2F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3812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05B1B70D-45B9-49DA-83EF-0AF45B56B360}"/>
              </a:ext>
            </a:extLst>
          </p:cNvPr>
          <p:cNvSpPr>
            <a:spLocks noGrp="1"/>
          </p:cNvSpPr>
          <p:nvPr/>
        </p:nvSpPr>
        <p:spPr>
          <a:xfrm>
            <a:off x="3562350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원천 행 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901EFFDD-34FD-490C-8E02-04F20278EF90}"/>
              </a:ext>
            </a:extLst>
          </p:cNvPr>
          <p:cNvSpPr>
            <a:spLocks noGrp="1"/>
          </p:cNvSpPr>
          <p:nvPr/>
        </p:nvSpPr>
        <p:spPr>
          <a:xfrm>
            <a:off x="3562350" y="233362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rPr>
              <a:t>45,338행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555503ED-E09F-4177-BDBC-6498976DD984}"/>
              </a:ext>
            </a:extLst>
          </p:cNvPr>
          <p:cNvSpPr>
            <a:spLocks noGrp="1"/>
          </p:cNvSpPr>
          <p:nvPr/>
        </p:nvSpPr>
        <p:spPr>
          <a:xfrm>
            <a:off x="6019800" y="1809750"/>
            <a:ext cx="26670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81CC5C34-D5DE-412A-ADB2-FAD836CD57D0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Long 변환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6CA2FE19-A6CC-4E64-BDF8-7D279A12FFCF}"/>
              </a:ext>
            </a:extLst>
          </p:cNvPr>
          <p:cNvSpPr>
            <a:spLocks noGrp="1"/>
          </p:cNvSpPr>
          <p:nvPr/>
        </p:nvSpPr>
        <p:spPr>
          <a:xfrm>
            <a:off x="6229350" y="2333625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1,088,112행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659D2507-58FB-481F-91BC-8DA03FB791DE}"/>
              </a:ext>
            </a:extLst>
          </p:cNvPr>
          <p:cNvSpPr>
            <a:spLocks noGrp="1"/>
          </p:cNvSpPr>
          <p:nvPr/>
        </p:nvSpPr>
        <p:spPr>
          <a:xfrm>
            <a:off x="8972550" y="1809750"/>
            <a:ext cx="23812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7E45624B-AD0A-440F-A5F0-632AC33AE774}"/>
              </a:ext>
            </a:extLst>
          </p:cNvPr>
          <p:cNvSpPr>
            <a:spLocks noGrp="1"/>
          </p:cNvSpPr>
          <p:nvPr/>
        </p:nvSpPr>
        <p:spPr>
          <a:xfrm>
            <a:off x="9182100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지도 매칭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1F8CDD04-CD06-402B-AFA9-BF2D361BB7B2}"/>
              </a:ext>
            </a:extLst>
          </p:cNvPr>
          <p:cNvSpPr>
            <a:spLocks noGrp="1"/>
          </p:cNvSpPr>
          <p:nvPr/>
        </p:nvSpPr>
        <p:spPr>
          <a:xfrm>
            <a:off x="9182100" y="233362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601/685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9E166A2-E228-404C-845B-D8401263A68A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6553A574-1F9D-4C00-90AA-8DEA761EFD0E}"/>
              </a:ext>
            </a:extLst>
          </p:cNvPr>
          <p:cNvSpPr>
            <a:spLocks noGrp="1"/>
          </p:cNvSpPr>
          <p:nvPr/>
        </p:nvSpPr>
        <p:spPr>
          <a:xfrm>
            <a:off x="1162050" y="3714750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혼잡도는 실제 열차 혼잡률이 아니라 승하차 유동량 기반 대리지표다.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61B69236-6851-4055-8AE4-25C377AB2367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890601C4-BBA2-4A6F-9E83-4A6FCC06659C}"/>
              </a:ext>
            </a:extLst>
          </p:cNvPr>
          <p:cNvSpPr>
            <a:spLocks noGrp="1"/>
          </p:cNvSpPr>
          <p:nvPr/>
        </p:nvSpPr>
        <p:spPr>
          <a:xfrm>
            <a:off x="1162050" y="4248150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차량 정원, 운행 횟수, 승강장 면적이 없으므로 실제 혼잡률은 확인 필요다.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9F9EEE74-2DC2-4233-B39B-949CD8EB52B3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53963231-261A-4DE2-BF9F-04DB0D2ED084}"/>
              </a:ext>
            </a:extLst>
          </p:cNvPr>
          <p:cNvSpPr>
            <a:spLocks noGrp="1"/>
          </p:cNvSpPr>
          <p:nvPr/>
        </p:nvSpPr>
        <p:spPr>
          <a:xfrm>
            <a:off x="1162050" y="4781550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 단위 집계 데이터이므로 일별 이벤트와 열차 1편 단위 혼잡은 제외한다.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7C4A45B1-38F8-417C-9FF5-5A35D824922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8D37831C-63E1-429F-A451-082929DF944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97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3F0F958-FF5E-4129-9F20-D97B248BC6C5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2B96C67A-ABBB-4BAF-9360-ADFF0403E503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근거와 통계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DDF20775-6318-4F4A-A5B5-0AB4062CAE47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핵심 주장을 세 개의 MECE 근거로 분해하고 통계로 확인한다.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334AC737-40B0-4B14-AA80-B53136E121A6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B330079-ADD1-4598-8DF4-6552C201B3C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163D3BB2-FCE1-40B0-BB6C-24C20341D284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874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56D26F8-1A87-4C8C-872E-A02DEC50048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E8741485-147E-4D45-9AF3-FCF6AB32D19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구조: 주장 → 근거 → 데이터 → 통계분석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E33C6AB7-E5BF-497E-B941-EEEFD2D92A9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FC04DD6-5684-4289-8E7A-1950041E9C8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0413585-6801-4651-A487-BCCA0F01E33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1650B5AC-04CD-4175-BE41-62DA0B3BDF15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혼잡 관리는 전체 평균이 아니라 피크 시간대, 고혼잡 역, 승하차 방향성 기준으로 선별 설계해야 한다.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BD5862A-4C9C-4F4B-BD04-EF42FA12D6AE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3333750" cy="2333625"/>
          </a:xfrm>
          <a:prstGeom prst="rect">
            <a:avLst/>
          </a:prstGeom>
          <a:solidFill>
            <a:srgbClr val="FFF0E8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2B09D865-A4EA-4027-BBF3-DEDB19A75C2C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[근거 1]</a:t>
            </a:r>
          </a:p>
          <a:p>
            <a:pPr algn="l">
              <a:def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시간대별 집중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D6CDF68-2C2E-4D1A-919F-7C7D8B58B03B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시간대별 유동량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Kruskal-Wallis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효과: epsilon²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0A0AFD0-EBD0-4743-98A7-36393026FD6B}"/>
              </a:ext>
            </a:extLst>
          </p:cNvPr>
          <p:cNvSpPr>
            <a:spLocks noGrp="1"/>
          </p:cNvSpPr>
          <p:nvPr/>
        </p:nvSpPr>
        <p:spPr>
          <a:xfrm>
            <a:off x="4400550" y="2619375"/>
            <a:ext cx="3333750" cy="2333625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9B3E0943-13E2-434F-94AE-FFF42DFCCD84}"/>
              </a:ext>
            </a:extLst>
          </p:cNvPr>
          <p:cNvSpPr>
            <a:spLocks noGrp="1"/>
          </p:cNvSpPr>
          <p:nvPr/>
        </p:nvSpPr>
        <p:spPr>
          <a:xfrm>
            <a:off x="4629150" y="2857500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[근거 2]</a:t>
            </a:r>
          </a:p>
          <a:p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공간별 집중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E872601D-706D-4C6E-88E0-FB24CF4DA482}"/>
              </a:ext>
            </a:extLst>
          </p:cNvPr>
          <p:cNvSpPr>
            <a:spLocks noGrp="1"/>
          </p:cNvSpPr>
          <p:nvPr/>
        </p:nvSpPr>
        <p:spPr>
          <a:xfrm>
            <a:off x="4629150" y="37147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노선·역별 유동량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Kruskal-Wallis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집중도: 상위 역 비중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4321015F-1A3F-484D-9DA4-DB8D3410FF09}"/>
              </a:ext>
            </a:extLst>
          </p:cNvPr>
          <p:cNvSpPr>
            <a:spLocks noGrp="1"/>
          </p:cNvSpPr>
          <p:nvPr/>
        </p:nvSpPr>
        <p:spPr>
          <a:xfrm>
            <a:off x="8115300" y="2619375"/>
            <a:ext cx="3333750" cy="2333625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DBE6B6D3-05EB-40A4-A14E-E941926461A4}"/>
              </a:ext>
            </a:extLst>
          </p:cNvPr>
          <p:cNvSpPr>
            <a:spLocks noGrp="1"/>
          </p:cNvSpPr>
          <p:nvPr/>
        </p:nvSpPr>
        <p:spPr>
          <a:xfrm>
            <a:off x="8343900" y="2857500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[근거 3]</a:t>
            </a:r>
          </a:p>
          <a:p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흐름별 유형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ADA4B2E6-888C-4FA3-AD61-80202AFB6D47}"/>
              </a:ext>
            </a:extLst>
          </p:cNvPr>
          <p:cNvSpPr>
            <a:spLocks noGrp="1"/>
          </p:cNvSpPr>
          <p:nvPr/>
        </p:nvSpPr>
        <p:spPr>
          <a:xfrm>
            <a:off x="8343900" y="37147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승차·하차 비중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카이제곱 검정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효과: Cramer's V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7A6A8287-6E96-43E6-A003-65018F67519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F008676E-DC5D-4D92-A1D7-2C9F1423A93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0640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407FFB35-8D9F-4054-B059-7852E994569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A55C6201-B6C6-4409-9912-36593FFC904D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통계 분석 요약: 세 근거 모두 실행 판단을 뒷받침한다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7F20E365-3F7E-49C8-8A90-B21A67E988C1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E8B6C7A3-9CAB-40FF-8407-AF93255C2C9E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D7E5985-29D2-4E71-BA2C-231A71CD3A8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D8E998ED-5C2A-4E63-A3CF-314A2C991F2C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2455926" cy="8763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A37F31F9-4700-452D-B7E9-A0DD56B0263E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265426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근거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14328AAE-BE4B-45D4-8E0F-A6CF835146ED}"/>
              </a:ext>
            </a:extLst>
          </p:cNvPr>
          <p:cNvSpPr>
            <a:spLocks noGrp="1"/>
          </p:cNvSpPr>
          <p:nvPr/>
        </p:nvSpPr>
        <p:spPr>
          <a:xfrm>
            <a:off x="2970276" y="1714500"/>
            <a:ext cx="2232660" cy="8763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5F8305A3-527B-43E7-A886-D29D9ACE45CA}"/>
              </a:ext>
            </a:extLst>
          </p:cNvPr>
          <p:cNvSpPr>
            <a:spLocks noGrp="1"/>
          </p:cNvSpPr>
          <p:nvPr/>
        </p:nvSpPr>
        <p:spPr>
          <a:xfrm>
            <a:off x="3065526" y="1790700"/>
            <a:ext cx="20421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C4C74707-9A25-4E60-AA7D-0E1CF4DC9ED6}"/>
              </a:ext>
            </a:extLst>
          </p:cNvPr>
          <p:cNvSpPr>
            <a:spLocks noGrp="1"/>
          </p:cNvSpPr>
          <p:nvPr/>
        </p:nvSpPr>
        <p:spPr>
          <a:xfrm>
            <a:off x="5202936" y="1714500"/>
            <a:ext cx="3683889" cy="8763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C929480A-704D-496C-8F87-2555B7082A4B}"/>
              </a:ext>
            </a:extLst>
          </p:cNvPr>
          <p:cNvSpPr>
            <a:spLocks noGrp="1"/>
          </p:cNvSpPr>
          <p:nvPr/>
        </p:nvSpPr>
        <p:spPr>
          <a:xfrm>
            <a:off x="5298186" y="1790700"/>
            <a:ext cx="3493389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0C1699C9-A208-46D2-ADC3-3B37C7CC2185}"/>
              </a:ext>
            </a:extLst>
          </p:cNvPr>
          <p:cNvSpPr>
            <a:spLocks noGrp="1"/>
          </p:cNvSpPr>
          <p:nvPr/>
        </p:nvSpPr>
        <p:spPr>
          <a:xfrm>
            <a:off x="8886825" y="1714500"/>
            <a:ext cx="2790825" cy="8763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5F41DA65-5D66-4EE6-8B83-581DAA7DF843}"/>
              </a:ext>
            </a:extLst>
          </p:cNvPr>
          <p:cNvSpPr>
            <a:spLocks noGrp="1"/>
          </p:cNvSpPr>
          <p:nvPr/>
        </p:nvSpPr>
        <p:spPr>
          <a:xfrm>
            <a:off x="8982075" y="1790700"/>
            <a:ext cx="2600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5B790B65-D9E7-4615-B6EB-378371E1D983}"/>
              </a:ext>
            </a:extLst>
          </p:cNvPr>
          <p:cNvSpPr>
            <a:spLocks noGrp="1"/>
          </p:cNvSpPr>
          <p:nvPr/>
        </p:nvSpPr>
        <p:spPr>
          <a:xfrm>
            <a:off x="514350" y="2590800"/>
            <a:ext cx="2455926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A453D09E-9391-47DC-9F30-7C506A62A56D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2265426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시간대별 집중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3E34BC91-C78F-44C2-8D99-000272B9E3B9}"/>
              </a:ext>
            </a:extLst>
          </p:cNvPr>
          <p:cNvSpPr>
            <a:spLocks noGrp="1"/>
          </p:cNvSpPr>
          <p:nvPr/>
        </p:nvSpPr>
        <p:spPr>
          <a:xfrm>
            <a:off x="2970276" y="2590800"/>
            <a:ext cx="223266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BE223E93-7B88-4E4C-96BD-332CFC6A66D9}"/>
              </a:ext>
            </a:extLst>
          </p:cNvPr>
          <p:cNvSpPr>
            <a:spLocks noGrp="1"/>
          </p:cNvSpPr>
          <p:nvPr/>
        </p:nvSpPr>
        <p:spPr>
          <a:xfrm>
            <a:off x="3065526" y="2667000"/>
            <a:ext cx="20421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Kruskal-Wallis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87D04A40-8A2D-426A-B141-298409C2A21F}"/>
              </a:ext>
            </a:extLst>
          </p:cNvPr>
          <p:cNvSpPr>
            <a:spLocks noGrp="1"/>
          </p:cNvSpPr>
          <p:nvPr/>
        </p:nvSpPr>
        <p:spPr>
          <a:xfrm>
            <a:off x="5202936" y="2590800"/>
            <a:ext cx="3683889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5BD8CC7F-7CBC-4B46-A54D-184B0E47E575}"/>
              </a:ext>
            </a:extLst>
          </p:cNvPr>
          <p:cNvSpPr>
            <a:spLocks noGrp="1"/>
          </p:cNvSpPr>
          <p:nvPr/>
        </p:nvSpPr>
        <p:spPr>
          <a:xfrm>
            <a:off x="5298186" y="2667000"/>
            <a:ext cx="3493389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H=1720.9, p&lt;0.001, ε²=0.919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61245BF4-607C-4707-97D7-4261D0B14F7A}"/>
              </a:ext>
            </a:extLst>
          </p:cNvPr>
          <p:cNvSpPr>
            <a:spLocks noGrp="1"/>
          </p:cNvSpPr>
          <p:nvPr/>
        </p:nvSpPr>
        <p:spPr>
          <a:xfrm>
            <a:off x="8886825" y="2590800"/>
            <a:ext cx="27908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D90CE836-DD95-4F1B-96EE-FE3210AA5A3E}"/>
              </a:ext>
            </a:extLst>
          </p:cNvPr>
          <p:cNvSpPr>
            <a:spLocks noGrp="1"/>
          </p:cNvSpPr>
          <p:nvPr/>
        </p:nvSpPr>
        <p:spPr>
          <a:xfrm>
            <a:off x="8982075" y="2667000"/>
            <a:ext cx="2600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집중 관리 근거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9BA17054-B215-48F2-B286-F15D698A7ECD}"/>
              </a:ext>
            </a:extLst>
          </p:cNvPr>
          <p:cNvSpPr>
            <a:spLocks noGrp="1"/>
          </p:cNvSpPr>
          <p:nvPr/>
        </p:nvSpPr>
        <p:spPr>
          <a:xfrm>
            <a:off x="514350" y="3467100"/>
            <a:ext cx="2455926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0D50E6DB-F4B3-45C7-AEA0-E63CD0BD660A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265426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공간별 집중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97831B44-10B8-4EAF-BEAC-FDA5711ADFEB}"/>
              </a:ext>
            </a:extLst>
          </p:cNvPr>
          <p:cNvSpPr>
            <a:spLocks noGrp="1"/>
          </p:cNvSpPr>
          <p:nvPr/>
        </p:nvSpPr>
        <p:spPr>
          <a:xfrm>
            <a:off x="2970276" y="3467100"/>
            <a:ext cx="223266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DABFA404-8754-4C0F-B5FC-9367AFBA2732}"/>
              </a:ext>
            </a:extLst>
          </p:cNvPr>
          <p:cNvSpPr>
            <a:spLocks noGrp="1"/>
          </p:cNvSpPr>
          <p:nvPr/>
        </p:nvSpPr>
        <p:spPr>
          <a:xfrm>
            <a:off x="3065526" y="3543300"/>
            <a:ext cx="20421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Kruskal-Wallis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67562B4B-13D6-46B8-9550-A86DBEA5340A}"/>
              </a:ext>
            </a:extLst>
          </p:cNvPr>
          <p:cNvSpPr>
            <a:spLocks noGrp="1"/>
          </p:cNvSpPr>
          <p:nvPr/>
        </p:nvSpPr>
        <p:spPr>
          <a:xfrm>
            <a:off x="5202936" y="3467100"/>
            <a:ext cx="3683889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F085C816-7F22-426D-B5E4-1BAF5CA9DA43}"/>
              </a:ext>
            </a:extLst>
          </p:cNvPr>
          <p:cNvSpPr>
            <a:spLocks noGrp="1"/>
          </p:cNvSpPr>
          <p:nvPr/>
        </p:nvSpPr>
        <p:spPr>
          <a:xfrm>
            <a:off x="5298186" y="3543300"/>
            <a:ext cx="3493389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H=1840.6, p&lt;0.001, ε²=0.971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635D7ECF-BDA6-4508-B1BE-53A6B9CB8566}"/>
              </a:ext>
            </a:extLst>
          </p:cNvPr>
          <p:cNvSpPr>
            <a:spLocks noGrp="1"/>
          </p:cNvSpPr>
          <p:nvPr/>
        </p:nvSpPr>
        <p:spPr>
          <a:xfrm>
            <a:off x="8886825" y="3467100"/>
            <a:ext cx="27908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D6DF4187-86DD-4325-ABE9-445B88471741}"/>
              </a:ext>
            </a:extLst>
          </p:cNvPr>
          <p:cNvSpPr>
            <a:spLocks noGrp="1"/>
          </p:cNvSpPr>
          <p:nvPr/>
        </p:nvSpPr>
        <p:spPr>
          <a:xfrm>
            <a:off x="8982075" y="3543300"/>
            <a:ext cx="2600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고혼잡 역 우선순위 근거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864A4C2E-B45E-4629-B378-A80AE23C43C0}"/>
              </a:ext>
            </a:extLst>
          </p:cNvPr>
          <p:cNvSpPr>
            <a:spLocks noGrp="1"/>
          </p:cNvSpPr>
          <p:nvPr/>
        </p:nvSpPr>
        <p:spPr>
          <a:xfrm>
            <a:off x="514350" y="4343400"/>
            <a:ext cx="2455926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F08ACD3E-C94D-4FFB-A4FD-E586F77C9799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2265426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흐름별 유형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D3E2DF9B-09AE-49A2-839E-AE6543FB0F29}"/>
              </a:ext>
            </a:extLst>
          </p:cNvPr>
          <p:cNvSpPr>
            <a:spLocks noGrp="1"/>
          </p:cNvSpPr>
          <p:nvPr/>
        </p:nvSpPr>
        <p:spPr>
          <a:xfrm>
            <a:off x="2970276" y="4343400"/>
            <a:ext cx="223266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A8DDCD16-A0BD-40DB-97E5-C7F2EADB572C}"/>
              </a:ext>
            </a:extLst>
          </p:cNvPr>
          <p:cNvSpPr>
            <a:spLocks noGrp="1"/>
          </p:cNvSpPr>
          <p:nvPr/>
        </p:nvSpPr>
        <p:spPr>
          <a:xfrm>
            <a:off x="3065526" y="4419600"/>
            <a:ext cx="20421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Chi-square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E79B3DD1-13C0-481D-9812-5FFCF1916169}"/>
              </a:ext>
            </a:extLst>
          </p:cNvPr>
          <p:cNvSpPr>
            <a:spLocks noGrp="1"/>
          </p:cNvSpPr>
          <p:nvPr/>
        </p:nvSpPr>
        <p:spPr>
          <a:xfrm>
            <a:off x="5202936" y="4343400"/>
            <a:ext cx="3683889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6B310DE5-52FC-4C10-A5A5-B5A3E9D3848B}"/>
              </a:ext>
            </a:extLst>
          </p:cNvPr>
          <p:cNvSpPr>
            <a:spLocks noGrp="1"/>
          </p:cNvSpPr>
          <p:nvPr/>
        </p:nvSpPr>
        <p:spPr>
          <a:xfrm>
            <a:off x="5298186" y="4419600"/>
            <a:ext cx="3493389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χ²=102.4, p&lt;0.001, V=0.273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2C4368FA-8672-4C0A-8808-BD6489751AFC}"/>
              </a:ext>
            </a:extLst>
          </p:cNvPr>
          <p:cNvSpPr>
            <a:spLocks noGrp="1"/>
          </p:cNvSpPr>
          <p:nvPr/>
        </p:nvSpPr>
        <p:spPr>
          <a:xfrm>
            <a:off x="8886825" y="4343400"/>
            <a:ext cx="27908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3977E0B5-C196-4029-9F59-3776B68D6C6C}"/>
              </a:ext>
            </a:extLst>
          </p:cNvPr>
          <p:cNvSpPr>
            <a:spLocks noGrp="1"/>
          </p:cNvSpPr>
          <p:nvPr/>
        </p:nvSpPr>
        <p:spPr>
          <a:xfrm>
            <a:off x="8982075" y="4419600"/>
            <a:ext cx="2600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역 유형별 대응 근거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AE8AB038-F969-4622-B971-53A7D3D0285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EB4D0049-182A-4B44-925D-94A6F52C3A0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4409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04F4371F-0A49-4916-A4DF-43B5752D152A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135577F9-CF26-4EBF-9DDA-23221C239804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 패턴 시각화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3C454A71-98B1-4F74-86D5-F7BA0D24EF36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시간, 노선, 역, 흐름, 공간 관점에서 혼잡의 위치를 확인한다.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5C038F6F-F6CC-4E03-A0A7-EC35702B7A9B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E8C6A4A0-F299-4C1C-BD13-077D038A7ED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BC4D9AC-CD86-44C3-84A4-63FFF3AE3B7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182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A51E331F-2409-458D-8723-A746A263B50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CD4923BD-337C-4DAD-BB78-33AA470B5261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시간대별 유동량: 08시-09시가 최혼잡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EB9C701-5952-42A2-8243-BDB9AF451B51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7F85A67-394F-4155-B0C6-9259D071034A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414565-1294-44CE-A272-8ED9460A9894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685800" y="1762125"/>
          <a:ext cx="106680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28C2E73-E6F5-4612-A39A-7E01FDE802AA}"/>
              </a:ext>
            </a:extLst>
          </p:cNvPr>
          <p:cNvSpPr>
            <a:spLocks noGrp="1"/>
          </p:cNvSpPr>
          <p:nvPr/>
        </p:nvSpPr>
        <p:spPr>
          <a:xfrm>
            <a:off x="838200" y="579120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출근 피크 대응은 상시 평균보다 효과적인 운영 단위다.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DC0F0D06-96E0-4AD1-B45D-44F5F93B2467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CC50F580-D309-4A28-AF46-893B5C20099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383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BEE5490-6740-4FBD-9229-6B281E54D93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358AF19B-BE00-46A3-85EA-7CB9E052A8D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노선별 유동량: 2호선이 최상위 혼잡 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1CA61896-9B1F-4391-B4B5-F08803561F1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B84D3C4C-B2B2-445E-BD59-EE85CC204A6C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7447BFC2-6E3A-485B-A90F-405E4F4E360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781050" y="1714500"/>
          <a:ext cx="10287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AB6E0758-3CBE-41BE-9F14-704041BA2F3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130536A-2421-4D05-B7A0-5988EDD323D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3010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512E0B4-FB25-444B-BED6-CBD6ADA97346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0AAB4662-D107-4C14-8F18-4CA82D5C75F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역별 유동량: 상위 역 중심의 우선순위가 필요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B2501249-C7C4-4479-8FAE-FBB9AC19A5E1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E9AB5260-1D65-4A0C-BCD5-662363F41FE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77F07024-21B5-4FC0-BE0B-E10B54478C1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781050" y="1714500"/>
          <a:ext cx="10287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B8893B38-A532-46F9-A464-FC072079F19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C7912307-5E20-4321-89F1-BB68AE584BF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454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33714A6-62A0-4BB6-9B31-DE1097C4ED4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B36A591E-28EA-4252-A2FF-7763908F240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피크별 승하차 흐름 유형은 다르다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C02C6FFD-1720-4EDC-9261-859F48FE15ED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616D3F4-6358-427B-89BC-299400C6385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F1509CBA-6E56-4EB8-A812-A738EDFA7C7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762000" y="1762125"/>
          <a:ext cx="7429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46CA39CA-6316-4CD9-B40B-20E5FDEAB336}"/>
              </a:ext>
            </a:extLst>
          </p:cNvPr>
          <p:cNvSpPr>
            <a:spLocks noGrp="1"/>
          </p:cNvSpPr>
          <p:nvPr/>
        </p:nvSpPr>
        <p:spPr>
          <a:xfrm>
            <a:off x="8524875" y="2238375"/>
            <a:ext cx="2667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출근·퇴근 피크의 승차형/하차형/혼합형 분포가 다르므로 대응도 달라져야 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C7DB14D5-C3D1-4865-9D1A-AFAE95DB8DBB}"/>
              </a:ext>
            </a:extLst>
          </p:cNvPr>
          <p:cNvSpPr>
            <a:spLocks noGrp="1"/>
          </p:cNvSpPr>
          <p:nvPr/>
        </p:nvSpPr>
        <p:spPr>
          <a:xfrm>
            <a:off x="8524875" y="4048125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승차형: 대기열</a:t>
            </a:r>
          </a:p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하차형: 출구 동선</a:t>
            </a:r>
          </a:p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혼합형: 환승 병목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66CF370-23A7-4B7D-A77A-712463743BB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FD9A115-577B-4B23-948E-BDDB545045D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022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A9A4A348-AB7B-4D38-9FF3-A97ED7C6693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3B3F38CE-7912-400B-81A8-AB96362485E0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GeoJSON 지도: 공간적으로도 혼잡 지점 확인 가능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A60B97B9-6FFF-4653-8F7E-F487A001391C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8312229B-0819-40F4-97C4-64E0996FAFE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63700D7-EEC3-40B2-8917-C1BB36DBF85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24257"/>
            <a:ext cx="7239000" cy="403813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BB357FEF-D6A8-40D3-8FB9-A3EA24856C11}"/>
              </a:ext>
            </a:extLst>
          </p:cNvPr>
          <p:cNvSpPr>
            <a:spLocks noGrp="1"/>
          </p:cNvSpPr>
          <p:nvPr/>
        </p:nvSpPr>
        <p:spPr>
          <a:xfrm>
            <a:off x="8334375" y="1790700"/>
            <a:ext cx="28575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2646CDC-AA3F-4FC5-90C9-408E8BC38FB4}"/>
              </a:ext>
            </a:extLst>
          </p:cNvPr>
          <p:cNvSpPr>
            <a:spLocks noGrp="1"/>
          </p:cNvSpPr>
          <p:nvPr/>
        </p:nvSpPr>
        <p:spPr>
          <a:xfrm>
            <a:off x="8543925" y="198120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좌표 매칭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98129949-E466-4285-9ABE-AEE0FF516462}"/>
              </a:ext>
            </a:extLst>
          </p:cNvPr>
          <p:cNvSpPr>
            <a:spLocks noGrp="1"/>
          </p:cNvSpPr>
          <p:nvPr/>
        </p:nvSpPr>
        <p:spPr>
          <a:xfrm>
            <a:off x="8543925" y="2314575"/>
            <a:ext cx="243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601/685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26F583D-FDAD-4782-A151-C6DC89291E77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28575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D6EB98ED-E566-4525-AB4D-C838F2DF09A5}"/>
              </a:ext>
            </a:extLst>
          </p:cNvPr>
          <p:cNvSpPr>
            <a:spLocks noGrp="1"/>
          </p:cNvSpPr>
          <p:nvPr/>
        </p:nvSpPr>
        <p:spPr>
          <a:xfrm>
            <a:off x="8543925" y="34099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5개 역 비중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B785F27E-00CA-4AAC-BC36-AD1495533A48}"/>
              </a:ext>
            </a:extLst>
          </p:cNvPr>
          <p:cNvSpPr>
            <a:spLocks noGrp="1"/>
          </p:cNvSpPr>
          <p:nvPr/>
        </p:nvSpPr>
        <p:spPr>
          <a:xfrm>
            <a:off x="8543925" y="3743325"/>
            <a:ext cx="243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5.1%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B4F0DB35-901C-44CF-B055-97A157DA556B}"/>
              </a:ext>
            </a:extLst>
          </p:cNvPr>
          <p:cNvSpPr>
            <a:spLocks noGrp="1"/>
          </p:cNvSpPr>
          <p:nvPr/>
        </p:nvSpPr>
        <p:spPr>
          <a:xfrm>
            <a:off x="8334375" y="4648200"/>
            <a:ext cx="28575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60A143DC-948B-4F0C-BEA2-3619F753BBAD}"/>
              </a:ext>
            </a:extLst>
          </p:cNvPr>
          <p:cNvSpPr>
            <a:spLocks noGrp="1"/>
          </p:cNvSpPr>
          <p:nvPr/>
        </p:nvSpPr>
        <p:spPr>
          <a:xfrm>
            <a:off x="8543925" y="483870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20개 역 비중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F44AC80-6194-42AF-9C2D-D5292724B78B}"/>
              </a:ext>
            </a:extLst>
          </p:cNvPr>
          <p:cNvSpPr>
            <a:spLocks noGrp="1"/>
          </p:cNvSpPr>
          <p:nvPr/>
        </p:nvSpPr>
        <p:spPr>
          <a:xfrm>
            <a:off x="8543925" y="5172075"/>
            <a:ext cx="243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15.0%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388B8D75-8397-4DCF-9F83-3C328F793E0B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GeoJSON 포인트를 지도 이미지로 변환해 고혼잡 역의 공간 분포를 확인한다.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A16CDE0F-94F5-4A90-94F8-BB6E00932DC7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CDA91F36-EFD9-4C76-B145-CCE04E2FA1A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80940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2E0DD1DC-7674-47DC-A519-CB103F43FFF3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A5604BD-C582-494B-83AA-5C26EF922939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So What? 실행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A0D2219-6876-49EA-89C4-7481FC690E27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분석 결과를 운영 자원 배치와 모니터링 체계로 연결한다.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1CBE4277-FAD6-4091-9FCF-72461548E33C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F7AF1129-2685-41B0-925D-C7B569025B5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E9A3F062-169B-4514-8F6C-F7CE26049E7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66182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xmlns="" id="{76C52256-58AB-4CD7-BB18-A508F8EF4A5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BDB2CA95-70C3-4EB2-9281-2C249681101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우선순위 점수: A등급 69개 역부터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753AE43-4CED-4F49-BA69-E9E8F9FA3505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1395339-9E28-49E8-BF25-A4C23111B4E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229BFA5-A21B-46EC-B3EF-F86C7A29B3E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BA96045B-1FDE-4D79-B270-F35F776112FD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106680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F28E0B00-6F8A-4C18-96F9-D10E227C4F64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순위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885A0EA2-60D8-4DBA-A5CE-DCD6F27D35DF}"/>
              </a:ext>
            </a:extLst>
          </p:cNvPr>
          <p:cNvSpPr>
            <a:spLocks noGrp="1"/>
          </p:cNvSpPr>
          <p:nvPr/>
        </p:nvSpPr>
        <p:spPr>
          <a:xfrm>
            <a:off x="1790700" y="1714500"/>
            <a:ext cx="384048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D84C4C63-0CD4-4A76-BE70-F25136481849}"/>
              </a:ext>
            </a:extLst>
          </p:cNvPr>
          <p:cNvSpPr>
            <a:spLocks noGrp="1"/>
          </p:cNvSpPr>
          <p:nvPr/>
        </p:nvSpPr>
        <p:spPr>
          <a:xfrm>
            <a:off x="1885950" y="17907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F5C898D-E305-494D-9466-0916E8C439AA}"/>
              </a:ext>
            </a:extLst>
          </p:cNvPr>
          <p:cNvSpPr>
            <a:spLocks noGrp="1"/>
          </p:cNvSpPr>
          <p:nvPr/>
        </p:nvSpPr>
        <p:spPr>
          <a:xfrm>
            <a:off x="5631180" y="1714500"/>
            <a:ext cx="170688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384D8E4B-4C2D-4DD0-9F2D-0CE1EAA588CA}"/>
              </a:ext>
            </a:extLst>
          </p:cNvPr>
          <p:cNvSpPr>
            <a:spLocks noGrp="1"/>
          </p:cNvSpPr>
          <p:nvPr/>
        </p:nvSpPr>
        <p:spPr>
          <a:xfrm>
            <a:off x="5726430" y="17907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점수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2B4B18C-586B-44BC-B81F-965099F746A9}"/>
              </a:ext>
            </a:extLst>
          </p:cNvPr>
          <p:cNvSpPr>
            <a:spLocks noGrp="1"/>
          </p:cNvSpPr>
          <p:nvPr/>
        </p:nvSpPr>
        <p:spPr>
          <a:xfrm>
            <a:off x="7338060" y="1714500"/>
            <a:ext cx="128016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D275220-2700-4ED3-A4E0-719DEE96EE92}"/>
              </a:ext>
            </a:extLst>
          </p:cNvPr>
          <p:cNvSpPr>
            <a:spLocks noGrp="1"/>
          </p:cNvSpPr>
          <p:nvPr/>
        </p:nvSpPr>
        <p:spPr>
          <a:xfrm>
            <a:off x="7433310" y="17907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B4D0B81F-A895-4D07-B976-5309D51CB7EC}"/>
              </a:ext>
            </a:extLst>
          </p:cNvPr>
          <p:cNvSpPr>
            <a:spLocks noGrp="1"/>
          </p:cNvSpPr>
          <p:nvPr/>
        </p:nvSpPr>
        <p:spPr>
          <a:xfrm>
            <a:off x="8618220" y="1714500"/>
            <a:ext cx="277368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5CD2B508-A85C-40A6-8DA5-584ABDBB6DB8}"/>
              </a:ext>
            </a:extLst>
          </p:cNvPr>
          <p:cNvSpPr>
            <a:spLocks noGrp="1"/>
          </p:cNvSpPr>
          <p:nvPr/>
        </p:nvSpPr>
        <p:spPr>
          <a:xfrm>
            <a:off x="8713470" y="17907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피크유동량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5C5BB5E9-54B3-4B19-82E6-7075F52A2AE4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1A1D8BC3-DEA5-42E2-8FE0-BE567C4D2C7A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85AC005-81D9-4BFB-BD92-28161B072277}"/>
              </a:ext>
            </a:extLst>
          </p:cNvPr>
          <p:cNvSpPr>
            <a:spLocks noGrp="1"/>
          </p:cNvSpPr>
          <p:nvPr/>
        </p:nvSpPr>
        <p:spPr>
          <a:xfrm>
            <a:off x="1790700" y="222885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50567B17-AC96-4E7A-BD47-2982DD59DB99}"/>
              </a:ext>
            </a:extLst>
          </p:cNvPr>
          <p:cNvSpPr>
            <a:spLocks noGrp="1"/>
          </p:cNvSpPr>
          <p:nvPr/>
        </p:nvSpPr>
        <p:spPr>
          <a:xfrm>
            <a:off x="1885950" y="230505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강남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357E705C-1546-431A-A5CC-6830A308ADFE}"/>
              </a:ext>
            </a:extLst>
          </p:cNvPr>
          <p:cNvSpPr>
            <a:spLocks noGrp="1"/>
          </p:cNvSpPr>
          <p:nvPr/>
        </p:nvSpPr>
        <p:spPr>
          <a:xfrm>
            <a:off x="5631180" y="222885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D52335FA-D3A3-4B18-B412-717719A630E8}"/>
              </a:ext>
            </a:extLst>
          </p:cNvPr>
          <p:cNvSpPr>
            <a:spLocks noGrp="1"/>
          </p:cNvSpPr>
          <p:nvPr/>
        </p:nvSpPr>
        <p:spPr>
          <a:xfrm>
            <a:off x="5726430" y="230505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1.000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596E0EE8-5DE2-4724-AAE5-F17FD6BCC4E1}"/>
              </a:ext>
            </a:extLst>
          </p:cNvPr>
          <p:cNvSpPr>
            <a:spLocks noGrp="1"/>
          </p:cNvSpPr>
          <p:nvPr/>
        </p:nvSpPr>
        <p:spPr>
          <a:xfrm>
            <a:off x="7338060" y="222885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CA2B1925-78AA-4A55-BCEC-8FABB853AD67}"/>
              </a:ext>
            </a:extLst>
          </p:cNvPr>
          <p:cNvSpPr>
            <a:spLocks noGrp="1"/>
          </p:cNvSpPr>
          <p:nvPr/>
        </p:nvSpPr>
        <p:spPr>
          <a:xfrm>
            <a:off x="7433310" y="230505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230D0A85-66A9-441E-8DC3-ABA62DA6E7EE}"/>
              </a:ext>
            </a:extLst>
          </p:cNvPr>
          <p:cNvSpPr>
            <a:spLocks noGrp="1"/>
          </p:cNvSpPr>
          <p:nvPr/>
        </p:nvSpPr>
        <p:spPr>
          <a:xfrm>
            <a:off x="8618220" y="222885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476585DC-175B-44B5-950A-B8C183983AE5}"/>
              </a:ext>
            </a:extLst>
          </p:cNvPr>
          <p:cNvSpPr>
            <a:spLocks noGrp="1"/>
          </p:cNvSpPr>
          <p:nvPr/>
        </p:nvSpPr>
        <p:spPr>
          <a:xfrm>
            <a:off x="8713470" y="230505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19,752만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019781DB-D6DC-4BD4-9169-9CEBC5483C3D}"/>
              </a:ext>
            </a:extLst>
          </p:cNvPr>
          <p:cNvSpPr>
            <a:spLocks noGrp="1"/>
          </p:cNvSpPr>
          <p:nvPr/>
        </p:nvSpPr>
        <p:spPr>
          <a:xfrm>
            <a:off x="723900" y="274320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EA601C14-6DA1-4717-B578-658976CECA38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585D4F10-2DBD-400B-B2E1-F570AF4EBB8E}"/>
              </a:ext>
            </a:extLst>
          </p:cNvPr>
          <p:cNvSpPr>
            <a:spLocks noGrp="1"/>
          </p:cNvSpPr>
          <p:nvPr/>
        </p:nvSpPr>
        <p:spPr>
          <a:xfrm>
            <a:off x="1790700" y="274320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D86553C9-E350-4A51-A729-E441790C6F43}"/>
              </a:ext>
            </a:extLst>
          </p:cNvPr>
          <p:cNvSpPr>
            <a:spLocks noGrp="1"/>
          </p:cNvSpPr>
          <p:nvPr/>
        </p:nvSpPr>
        <p:spPr>
          <a:xfrm>
            <a:off x="1885950" y="28194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신림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D6062E0F-B82D-49E6-BA22-8D733BF544F1}"/>
              </a:ext>
            </a:extLst>
          </p:cNvPr>
          <p:cNvSpPr>
            <a:spLocks noGrp="1"/>
          </p:cNvSpPr>
          <p:nvPr/>
        </p:nvSpPr>
        <p:spPr>
          <a:xfrm>
            <a:off x="5631180" y="274320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3638479B-1B30-4E51-A8DD-40DB54C0E3A2}"/>
              </a:ext>
            </a:extLst>
          </p:cNvPr>
          <p:cNvSpPr>
            <a:spLocks noGrp="1"/>
          </p:cNvSpPr>
          <p:nvPr/>
        </p:nvSpPr>
        <p:spPr>
          <a:xfrm>
            <a:off x="5726430" y="28194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0.724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80E64F0D-B123-4232-BC0D-E44B1A74E7E8}"/>
              </a:ext>
            </a:extLst>
          </p:cNvPr>
          <p:cNvSpPr>
            <a:spLocks noGrp="1"/>
          </p:cNvSpPr>
          <p:nvPr/>
        </p:nvSpPr>
        <p:spPr>
          <a:xfrm>
            <a:off x="7338060" y="274320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1384F790-1B03-4D49-A7ED-21B98A628DC6}"/>
              </a:ext>
            </a:extLst>
          </p:cNvPr>
          <p:cNvSpPr>
            <a:spLocks noGrp="1"/>
          </p:cNvSpPr>
          <p:nvPr/>
        </p:nvSpPr>
        <p:spPr>
          <a:xfrm>
            <a:off x="7433310" y="28194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9B35D556-22E4-44E6-AFBB-BE11181F7582}"/>
              </a:ext>
            </a:extLst>
          </p:cNvPr>
          <p:cNvSpPr>
            <a:spLocks noGrp="1"/>
          </p:cNvSpPr>
          <p:nvPr/>
        </p:nvSpPr>
        <p:spPr>
          <a:xfrm>
            <a:off x="8618220" y="274320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1A050C0C-80C4-483A-8E02-23B0BBDFF7ED}"/>
              </a:ext>
            </a:extLst>
          </p:cNvPr>
          <p:cNvSpPr>
            <a:spLocks noGrp="1"/>
          </p:cNvSpPr>
          <p:nvPr/>
        </p:nvSpPr>
        <p:spPr>
          <a:xfrm>
            <a:off x="8713470" y="28194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14,581만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802AE59D-DB6D-4B78-B4A0-D8EC959A86D0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1243ED69-F7BE-45A8-8AE6-C45E6C8781AD}"/>
              </a:ext>
            </a:extLst>
          </p:cNvPr>
          <p:cNvSpPr>
            <a:spLocks noGrp="1"/>
          </p:cNvSpPr>
          <p:nvPr/>
        </p:nvSpPr>
        <p:spPr>
          <a:xfrm>
            <a:off x="819150" y="333375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C2E3DD33-D4BA-426A-ADC3-D7A8BD38E98F}"/>
              </a:ext>
            </a:extLst>
          </p:cNvPr>
          <p:cNvSpPr>
            <a:spLocks noGrp="1"/>
          </p:cNvSpPr>
          <p:nvPr/>
        </p:nvSpPr>
        <p:spPr>
          <a:xfrm>
            <a:off x="1790700" y="325755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79209170-BC6F-4232-9A37-EB2570E0CDAE}"/>
              </a:ext>
            </a:extLst>
          </p:cNvPr>
          <p:cNvSpPr>
            <a:spLocks noGrp="1"/>
          </p:cNvSpPr>
          <p:nvPr/>
        </p:nvSpPr>
        <p:spPr>
          <a:xfrm>
            <a:off x="1885950" y="333375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홍대입구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E37BAADB-9074-4DCE-88CC-B79BF08127EF}"/>
              </a:ext>
            </a:extLst>
          </p:cNvPr>
          <p:cNvSpPr>
            <a:spLocks noGrp="1"/>
          </p:cNvSpPr>
          <p:nvPr/>
        </p:nvSpPr>
        <p:spPr>
          <a:xfrm>
            <a:off x="5631180" y="325755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xmlns="" id="{2BE5E517-3BF3-409E-AB73-1310DD37ECE3}"/>
              </a:ext>
            </a:extLst>
          </p:cNvPr>
          <p:cNvSpPr>
            <a:spLocks noGrp="1"/>
          </p:cNvSpPr>
          <p:nvPr/>
        </p:nvSpPr>
        <p:spPr>
          <a:xfrm>
            <a:off x="5726430" y="333375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0.721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xmlns="" id="{811C05CC-A20F-4FF0-970B-25743BEC8F90}"/>
              </a:ext>
            </a:extLst>
          </p:cNvPr>
          <p:cNvSpPr>
            <a:spLocks noGrp="1"/>
          </p:cNvSpPr>
          <p:nvPr/>
        </p:nvSpPr>
        <p:spPr>
          <a:xfrm>
            <a:off x="7338060" y="325755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4E6EB40D-6889-4913-83B3-3E9321C5A8CC}"/>
              </a:ext>
            </a:extLst>
          </p:cNvPr>
          <p:cNvSpPr>
            <a:spLocks noGrp="1"/>
          </p:cNvSpPr>
          <p:nvPr/>
        </p:nvSpPr>
        <p:spPr>
          <a:xfrm>
            <a:off x="7433310" y="333375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xmlns="" id="{D861024F-F164-4E82-9C27-3E0BBE05E238}"/>
              </a:ext>
            </a:extLst>
          </p:cNvPr>
          <p:cNvSpPr>
            <a:spLocks noGrp="1"/>
          </p:cNvSpPr>
          <p:nvPr/>
        </p:nvSpPr>
        <p:spPr>
          <a:xfrm>
            <a:off x="8618220" y="325755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xmlns="" id="{A720E8EA-5E2D-4CB7-ADD5-3835E207F1A4}"/>
              </a:ext>
            </a:extLst>
          </p:cNvPr>
          <p:cNvSpPr>
            <a:spLocks noGrp="1"/>
          </p:cNvSpPr>
          <p:nvPr/>
        </p:nvSpPr>
        <p:spPr>
          <a:xfrm>
            <a:off x="8713470" y="333375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13,149만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xmlns="" id="{49EC9033-F130-4CA0-8E59-B0746AE35016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xmlns="" id="{4B63F60C-E649-42B8-BE17-3CA4CD83E671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745CB4F8-82C1-4FBB-A0E2-D13F43B41C8C}"/>
              </a:ext>
            </a:extLst>
          </p:cNvPr>
          <p:cNvSpPr>
            <a:spLocks noGrp="1"/>
          </p:cNvSpPr>
          <p:nvPr/>
        </p:nvSpPr>
        <p:spPr>
          <a:xfrm>
            <a:off x="1790700" y="377190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xmlns="" id="{226A7E79-0A4F-4F63-8CD7-5231500B24F2}"/>
              </a:ext>
            </a:extLst>
          </p:cNvPr>
          <p:cNvSpPr>
            <a:spLocks noGrp="1"/>
          </p:cNvSpPr>
          <p:nvPr/>
        </p:nvSpPr>
        <p:spPr>
          <a:xfrm>
            <a:off x="1885950" y="38481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구로디지털단지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xmlns="" id="{B7F3B3CA-FCF9-45EE-BA0C-2A5EA50B8093}"/>
              </a:ext>
            </a:extLst>
          </p:cNvPr>
          <p:cNvSpPr>
            <a:spLocks noGrp="1"/>
          </p:cNvSpPr>
          <p:nvPr/>
        </p:nvSpPr>
        <p:spPr>
          <a:xfrm>
            <a:off x="5631180" y="377190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xmlns="" id="{3CA144A7-21E0-49F0-B3BD-EF0686599D0A}"/>
              </a:ext>
            </a:extLst>
          </p:cNvPr>
          <p:cNvSpPr>
            <a:spLocks noGrp="1"/>
          </p:cNvSpPr>
          <p:nvPr/>
        </p:nvSpPr>
        <p:spPr>
          <a:xfrm>
            <a:off x="5726430" y="38481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0.691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id="{C57F81CC-0F5E-418B-B63A-6BD1D97C4956}"/>
              </a:ext>
            </a:extLst>
          </p:cNvPr>
          <p:cNvSpPr>
            <a:spLocks noGrp="1"/>
          </p:cNvSpPr>
          <p:nvPr/>
        </p:nvSpPr>
        <p:spPr>
          <a:xfrm>
            <a:off x="7338060" y="377190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F14D4807-5709-4BF5-A369-B068CA5C925B}"/>
              </a:ext>
            </a:extLst>
          </p:cNvPr>
          <p:cNvSpPr>
            <a:spLocks noGrp="1"/>
          </p:cNvSpPr>
          <p:nvPr/>
        </p:nvSpPr>
        <p:spPr>
          <a:xfrm>
            <a:off x="7433310" y="38481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xmlns="" id="{51A97F99-978E-4C6C-BE84-F32C198F2B6D}"/>
              </a:ext>
            </a:extLst>
          </p:cNvPr>
          <p:cNvSpPr>
            <a:spLocks noGrp="1"/>
          </p:cNvSpPr>
          <p:nvPr/>
        </p:nvSpPr>
        <p:spPr>
          <a:xfrm>
            <a:off x="8618220" y="377190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BFC59DDA-EF9C-45FE-A93C-3BFB3C07F80E}"/>
              </a:ext>
            </a:extLst>
          </p:cNvPr>
          <p:cNvSpPr>
            <a:spLocks noGrp="1"/>
          </p:cNvSpPr>
          <p:nvPr/>
        </p:nvSpPr>
        <p:spPr>
          <a:xfrm>
            <a:off x="8713470" y="38481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14,748만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3C1284DF-B3F4-40C7-834C-C38454B505E0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xmlns="" id="{CB1C1F26-6E22-4161-974C-29789ECFC0BD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xmlns="" id="{B7AE6C51-ACA8-43E2-88A8-248F4BFB7B49}"/>
              </a:ext>
            </a:extLst>
          </p:cNvPr>
          <p:cNvSpPr>
            <a:spLocks noGrp="1"/>
          </p:cNvSpPr>
          <p:nvPr/>
        </p:nvSpPr>
        <p:spPr>
          <a:xfrm>
            <a:off x="1790700" y="428625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xmlns="" id="{E2B571D4-67EB-43A5-8F21-388848A6DB8F}"/>
              </a:ext>
            </a:extLst>
          </p:cNvPr>
          <p:cNvSpPr>
            <a:spLocks noGrp="1"/>
          </p:cNvSpPr>
          <p:nvPr/>
        </p:nvSpPr>
        <p:spPr>
          <a:xfrm>
            <a:off x="1885950" y="436245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신도림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xmlns="" id="{AFDDB188-065E-4E3C-A339-266344F1ABDE}"/>
              </a:ext>
            </a:extLst>
          </p:cNvPr>
          <p:cNvSpPr>
            <a:spLocks noGrp="1"/>
          </p:cNvSpPr>
          <p:nvPr/>
        </p:nvSpPr>
        <p:spPr>
          <a:xfrm>
            <a:off x="5631180" y="428625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xmlns="" id="{F41EB5E0-E656-477B-B5E3-5AAB207DE4BD}"/>
              </a:ext>
            </a:extLst>
          </p:cNvPr>
          <p:cNvSpPr>
            <a:spLocks noGrp="1"/>
          </p:cNvSpPr>
          <p:nvPr/>
        </p:nvSpPr>
        <p:spPr>
          <a:xfrm>
            <a:off x="5726430" y="436245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0.601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xmlns="" id="{B928CFF2-8BDB-4AD8-850B-FE79E9A56D38}"/>
              </a:ext>
            </a:extLst>
          </p:cNvPr>
          <p:cNvSpPr>
            <a:spLocks noGrp="1"/>
          </p:cNvSpPr>
          <p:nvPr/>
        </p:nvSpPr>
        <p:spPr>
          <a:xfrm>
            <a:off x="7338060" y="428625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xmlns="" id="{8C28F0D9-E120-4D38-823A-C93BA9BC84FB}"/>
              </a:ext>
            </a:extLst>
          </p:cNvPr>
          <p:cNvSpPr>
            <a:spLocks noGrp="1"/>
          </p:cNvSpPr>
          <p:nvPr/>
        </p:nvSpPr>
        <p:spPr>
          <a:xfrm>
            <a:off x="7433310" y="436245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xmlns="" id="{49619C78-4DF5-4BC7-936A-981004A65ED8}"/>
              </a:ext>
            </a:extLst>
          </p:cNvPr>
          <p:cNvSpPr>
            <a:spLocks noGrp="1"/>
          </p:cNvSpPr>
          <p:nvPr/>
        </p:nvSpPr>
        <p:spPr>
          <a:xfrm>
            <a:off x="8618220" y="428625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xmlns="" id="{4CED5257-E252-412A-9B71-4EFF91F3A7F4}"/>
              </a:ext>
            </a:extLst>
          </p:cNvPr>
          <p:cNvSpPr>
            <a:spLocks noGrp="1"/>
          </p:cNvSpPr>
          <p:nvPr/>
        </p:nvSpPr>
        <p:spPr>
          <a:xfrm>
            <a:off x="8713470" y="436245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11,832만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xmlns="" id="{94D87323-0C78-4742-B6FB-C27EF5128A47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xmlns="" id="{EA410009-8120-4BD4-9D77-2C0E95F0B5A1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xmlns="" id="{1C8C9A5A-78D6-41D6-8BDC-38DD4013936D}"/>
              </a:ext>
            </a:extLst>
          </p:cNvPr>
          <p:cNvSpPr>
            <a:spLocks noGrp="1"/>
          </p:cNvSpPr>
          <p:nvPr/>
        </p:nvSpPr>
        <p:spPr>
          <a:xfrm>
            <a:off x="1790700" y="480060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xmlns="" id="{806A8AD9-1BF9-4C93-9E57-E0A112A14A38}"/>
              </a:ext>
            </a:extLst>
          </p:cNvPr>
          <p:cNvSpPr>
            <a:spLocks noGrp="1"/>
          </p:cNvSpPr>
          <p:nvPr/>
        </p:nvSpPr>
        <p:spPr>
          <a:xfrm>
            <a:off x="1885950" y="48768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잠실(송파구청)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xmlns="" id="{562BF84D-5A20-4F37-A1F1-3071C0E61A6E}"/>
              </a:ext>
            </a:extLst>
          </p:cNvPr>
          <p:cNvSpPr>
            <a:spLocks noGrp="1"/>
          </p:cNvSpPr>
          <p:nvPr/>
        </p:nvSpPr>
        <p:spPr>
          <a:xfrm>
            <a:off x="5631180" y="480060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xmlns="" id="{E5F99106-8B68-4C35-8D51-CAB5DAF98D6D}"/>
              </a:ext>
            </a:extLst>
          </p:cNvPr>
          <p:cNvSpPr>
            <a:spLocks noGrp="1"/>
          </p:cNvSpPr>
          <p:nvPr/>
        </p:nvSpPr>
        <p:spPr>
          <a:xfrm>
            <a:off x="5726430" y="48768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0.595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xmlns="" id="{51DA1FC8-AD17-49F5-8F3E-E45E0F572830}"/>
              </a:ext>
            </a:extLst>
          </p:cNvPr>
          <p:cNvSpPr>
            <a:spLocks noGrp="1"/>
          </p:cNvSpPr>
          <p:nvPr/>
        </p:nvSpPr>
        <p:spPr>
          <a:xfrm>
            <a:off x="7338060" y="480060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xmlns="" id="{66C37348-ABF5-4ED9-BB6E-B14FD604B7B2}"/>
              </a:ext>
            </a:extLst>
          </p:cNvPr>
          <p:cNvSpPr>
            <a:spLocks noGrp="1"/>
          </p:cNvSpPr>
          <p:nvPr/>
        </p:nvSpPr>
        <p:spPr>
          <a:xfrm>
            <a:off x="7433310" y="48768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xmlns="" id="{B0D0946A-E334-4ED4-9C41-78CBFC0AD2BD}"/>
              </a:ext>
            </a:extLst>
          </p:cNvPr>
          <p:cNvSpPr>
            <a:spLocks noGrp="1"/>
          </p:cNvSpPr>
          <p:nvPr/>
        </p:nvSpPr>
        <p:spPr>
          <a:xfrm>
            <a:off x="8618220" y="480060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F74E6285-B756-40E8-A7A0-5CE355614E7C}"/>
              </a:ext>
            </a:extLst>
          </p:cNvPr>
          <p:cNvSpPr>
            <a:spLocks noGrp="1"/>
          </p:cNvSpPr>
          <p:nvPr/>
        </p:nvSpPr>
        <p:spPr>
          <a:xfrm>
            <a:off x="8713470" y="48768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11,743만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xmlns="" id="{ADC88E6E-DEE3-49AB-AB19-90F6C810071F}"/>
              </a:ext>
            </a:extLst>
          </p:cNvPr>
          <p:cNvSpPr>
            <a:spLocks noGrp="1"/>
          </p:cNvSpPr>
          <p:nvPr/>
        </p:nvSpPr>
        <p:spPr>
          <a:xfrm>
            <a:off x="723900" y="53149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xmlns="" id="{4E12A33D-51CC-4169-B39D-08679EA25582}"/>
              </a:ext>
            </a:extLst>
          </p:cNvPr>
          <p:cNvSpPr>
            <a:spLocks noGrp="1"/>
          </p:cNvSpPr>
          <p:nvPr/>
        </p:nvSpPr>
        <p:spPr>
          <a:xfrm>
            <a:off x="819150" y="539115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75AB7030-63A0-41E5-9ACF-B95F0E575848}"/>
              </a:ext>
            </a:extLst>
          </p:cNvPr>
          <p:cNvSpPr>
            <a:spLocks noGrp="1"/>
          </p:cNvSpPr>
          <p:nvPr/>
        </p:nvSpPr>
        <p:spPr>
          <a:xfrm>
            <a:off x="1790700" y="531495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E2BD415A-0548-4F99-A006-F019E912EABE}"/>
              </a:ext>
            </a:extLst>
          </p:cNvPr>
          <p:cNvSpPr>
            <a:spLocks noGrp="1"/>
          </p:cNvSpPr>
          <p:nvPr/>
        </p:nvSpPr>
        <p:spPr>
          <a:xfrm>
            <a:off x="1885950" y="539115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선릉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xmlns="" id="{CC7436A6-2B78-4B22-AE6F-F75D6BBF8B8B}"/>
              </a:ext>
            </a:extLst>
          </p:cNvPr>
          <p:cNvSpPr>
            <a:spLocks noGrp="1"/>
          </p:cNvSpPr>
          <p:nvPr/>
        </p:nvSpPr>
        <p:spPr>
          <a:xfrm>
            <a:off x="5631180" y="531495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xmlns="" id="{746E2BA5-2E2E-496B-9080-99CC32869C50}"/>
              </a:ext>
            </a:extLst>
          </p:cNvPr>
          <p:cNvSpPr>
            <a:spLocks noGrp="1"/>
          </p:cNvSpPr>
          <p:nvPr/>
        </p:nvSpPr>
        <p:spPr>
          <a:xfrm>
            <a:off x="5726430" y="539115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0.552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xmlns="" id="{82AE3D0D-A2A4-474F-A84D-43327BB24C62}"/>
              </a:ext>
            </a:extLst>
          </p:cNvPr>
          <p:cNvSpPr>
            <a:spLocks noGrp="1"/>
          </p:cNvSpPr>
          <p:nvPr/>
        </p:nvSpPr>
        <p:spPr>
          <a:xfrm>
            <a:off x="7338060" y="531495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xmlns="" id="{6A0C053B-AF18-49CB-BDD2-55B2955B6C87}"/>
              </a:ext>
            </a:extLst>
          </p:cNvPr>
          <p:cNvSpPr>
            <a:spLocks noGrp="1"/>
          </p:cNvSpPr>
          <p:nvPr/>
        </p:nvSpPr>
        <p:spPr>
          <a:xfrm>
            <a:off x="7433310" y="539115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xmlns="" id="{081D5AAD-CED7-4A70-BEA6-164541136CC7}"/>
              </a:ext>
            </a:extLst>
          </p:cNvPr>
          <p:cNvSpPr>
            <a:spLocks noGrp="1"/>
          </p:cNvSpPr>
          <p:nvPr/>
        </p:nvSpPr>
        <p:spPr>
          <a:xfrm>
            <a:off x="8618220" y="531495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xmlns="" id="{BAED6F9B-EC47-45FE-82AA-0F2894A8074D}"/>
              </a:ext>
            </a:extLst>
          </p:cNvPr>
          <p:cNvSpPr>
            <a:spLocks noGrp="1"/>
          </p:cNvSpPr>
          <p:nvPr/>
        </p:nvSpPr>
        <p:spPr>
          <a:xfrm>
            <a:off x="8713470" y="539115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11,640만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xmlns="" id="{FB764C64-DF4F-4BD1-AA48-05348E28ACF1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xmlns="" id="{9B55D977-EA99-421E-83AA-1759B3453C4D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xmlns="" id="{4E34F8C2-0057-434A-8BF7-328824549E7C}"/>
              </a:ext>
            </a:extLst>
          </p:cNvPr>
          <p:cNvSpPr>
            <a:spLocks noGrp="1"/>
          </p:cNvSpPr>
          <p:nvPr/>
        </p:nvSpPr>
        <p:spPr>
          <a:xfrm>
            <a:off x="1790700" y="582930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xmlns="" id="{BF383A80-C489-4483-BCBC-AFF10CDE5F60}"/>
              </a:ext>
            </a:extLst>
          </p:cNvPr>
          <p:cNvSpPr>
            <a:spLocks noGrp="1"/>
          </p:cNvSpPr>
          <p:nvPr/>
        </p:nvSpPr>
        <p:spPr>
          <a:xfrm>
            <a:off x="1885950" y="59055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역삼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xmlns="" id="{1644C979-E94D-4241-8DCA-01D644EA744B}"/>
              </a:ext>
            </a:extLst>
          </p:cNvPr>
          <p:cNvSpPr>
            <a:spLocks noGrp="1"/>
          </p:cNvSpPr>
          <p:nvPr/>
        </p:nvSpPr>
        <p:spPr>
          <a:xfrm>
            <a:off x="5631180" y="582930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xmlns="" id="{3C4A8CA6-CC25-4629-B1B0-A3F14C57B905}"/>
              </a:ext>
            </a:extLst>
          </p:cNvPr>
          <p:cNvSpPr>
            <a:spLocks noGrp="1"/>
          </p:cNvSpPr>
          <p:nvPr/>
        </p:nvSpPr>
        <p:spPr>
          <a:xfrm>
            <a:off x="5726430" y="59055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0.549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xmlns="" id="{4663594A-94F8-4D69-AB85-7D638AB83127}"/>
              </a:ext>
            </a:extLst>
          </p:cNvPr>
          <p:cNvSpPr>
            <a:spLocks noGrp="1"/>
          </p:cNvSpPr>
          <p:nvPr/>
        </p:nvSpPr>
        <p:spPr>
          <a:xfrm>
            <a:off x="7338060" y="582930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xmlns="" id="{56570BFF-4D0C-481B-A024-35E69907AAC8}"/>
              </a:ext>
            </a:extLst>
          </p:cNvPr>
          <p:cNvSpPr>
            <a:spLocks noGrp="1"/>
          </p:cNvSpPr>
          <p:nvPr/>
        </p:nvSpPr>
        <p:spPr>
          <a:xfrm>
            <a:off x="7433310" y="59055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xmlns="" id="{83E7DC83-DC7A-476F-BB98-C78B620F96B3}"/>
              </a:ext>
            </a:extLst>
          </p:cNvPr>
          <p:cNvSpPr>
            <a:spLocks noGrp="1"/>
          </p:cNvSpPr>
          <p:nvPr/>
        </p:nvSpPr>
        <p:spPr>
          <a:xfrm>
            <a:off x="8618220" y="582930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xmlns="" id="{42530E19-EB20-4EE5-BBCB-1A2281E7B5DC}"/>
              </a:ext>
            </a:extLst>
          </p:cNvPr>
          <p:cNvSpPr>
            <a:spLocks noGrp="1"/>
          </p:cNvSpPr>
          <p:nvPr/>
        </p:nvSpPr>
        <p:spPr>
          <a:xfrm>
            <a:off x="8713470" y="59055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12,003만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xmlns="" id="{0746BDB1-18CD-47B1-9CEA-497975751EB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xmlns="" id="{69C085A7-5AB2-428B-92FA-7D8454FD371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0416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EEF2332F-0A11-49BE-9B2A-23778186DF8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6F6A1A30-42B9-4CCB-A21C-D0E69C79E8D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 유형별 Action Plan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36F77E72-3072-4606-8DB2-C8F5C76181B8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B823521B-6F7D-4795-AA47-6B2EFFD3D36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E7B614F-5812-457E-82A2-335C30AE2EB4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622F0A91-F222-4E1D-AE8F-EA09BE4DDF12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70688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85E169E5-0582-4A60-BBAA-8C960D3A72D5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15163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B1B7781-4C43-451D-9672-F3E4729F6AB7}"/>
              </a:ext>
            </a:extLst>
          </p:cNvPr>
          <p:cNvSpPr>
            <a:spLocks noGrp="1"/>
          </p:cNvSpPr>
          <p:nvPr/>
        </p:nvSpPr>
        <p:spPr>
          <a:xfrm>
            <a:off x="2430780" y="1809750"/>
            <a:ext cx="352044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3672AF50-4E8A-4033-B9CB-BF21CF3C719E}"/>
              </a:ext>
            </a:extLst>
          </p:cNvPr>
          <p:cNvSpPr>
            <a:spLocks noGrp="1"/>
          </p:cNvSpPr>
          <p:nvPr/>
        </p:nvSpPr>
        <p:spPr>
          <a:xfrm>
            <a:off x="2526030" y="1885950"/>
            <a:ext cx="33299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 구조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3F99EE1-03A3-43E5-B46A-C2A51A388075}"/>
              </a:ext>
            </a:extLst>
          </p:cNvPr>
          <p:cNvSpPr>
            <a:spLocks noGrp="1"/>
          </p:cNvSpPr>
          <p:nvPr/>
        </p:nvSpPr>
        <p:spPr>
          <a:xfrm>
            <a:off x="5951220" y="1809750"/>
            <a:ext cx="544068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4BFC2B6-F33D-4039-8A27-ACDB2A9B46B3}"/>
              </a:ext>
            </a:extLst>
          </p:cNvPr>
          <p:cNvSpPr>
            <a:spLocks noGrp="1"/>
          </p:cNvSpPr>
          <p:nvPr/>
        </p:nvSpPr>
        <p:spPr>
          <a:xfrm>
            <a:off x="6046470" y="1885950"/>
            <a:ext cx="52501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747E5C34-BA80-4B5C-AC6A-C293C7D64B1F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17068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C59999B-9BE2-4E53-9C0C-D45134E6F833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15163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D4766183-B338-470F-9570-BF947C0B39BB}"/>
              </a:ext>
            </a:extLst>
          </p:cNvPr>
          <p:cNvSpPr>
            <a:spLocks noGrp="1"/>
          </p:cNvSpPr>
          <p:nvPr/>
        </p:nvSpPr>
        <p:spPr>
          <a:xfrm>
            <a:off x="2430780" y="2647950"/>
            <a:ext cx="352044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9871455-3FC9-49F8-B1A6-0F28BB298ADF}"/>
              </a:ext>
            </a:extLst>
          </p:cNvPr>
          <p:cNvSpPr>
            <a:spLocks noGrp="1"/>
          </p:cNvSpPr>
          <p:nvPr/>
        </p:nvSpPr>
        <p:spPr>
          <a:xfrm>
            <a:off x="2526030" y="2724150"/>
            <a:ext cx="33299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승강장 진입 전 대기열 증가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C44DD735-2086-4D1F-B463-7526E4188AF9}"/>
              </a:ext>
            </a:extLst>
          </p:cNvPr>
          <p:cNvSpPr>
            <a:spLocks noGrp="1"/>
          </p:cNvSpPr>
          <p:nvPr/>
        </p:nvSpPr>
        <p:spPr>
          <a:xfrm>
            <a:off x="5951220" y="2647950"/>
            <a:ext cx="54406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902C7B46-61D5-405B-90F6-27FCC441A050}"/>
              </a:ext>
            </a:extLst>
          </p:cNvPr>
          <p:cNvSpPr>
            <a:spLocks noGrp="1"/>
          </p:cNvSpPr>
          <p:nvPr/>
        </p:nvSpPr>
        <p:spPr>
          <a:xfrm>
            <a:off x="6046470" y="2724150"/>
            <a:ext cx="52501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개찰구·승강장 진입 안내, 대기열 분산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766661D0-0C6A-4556-A8F9-F539C9D12EE8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17068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83EE7C5D-E2DB-4B3F-BF50-E60AE1F64838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15163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78F71D49-1332-46E3-A25A-D99461D9626B}"/>
              </a:ext>
            </a:extLst>
          </p:cNvPr>
          <p:cNvSpPr>
            <a:spLocks noGrp="1"/>
          </p:cNvSpPr>
          <p:nvPr/>
        </p:nvSpPr>
        <p:spPr>
          <a:xfrm>
            <a:off x="2430780" y="3486150"/>
            <a:ext cx="352044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E7F2F915-7157-4850-9A28-89DD64CA3E4C}"/>
              </a:ext>
            </a:extLst>
          </p:cNvPr>
          <p:cNvSpPr>
            <a:spLocks noGrp="1"/>
          </p:cNvSpPr>
          <p:nvPr/>
        </p:nvSpPr>
        <p:spPr>
          <a:xfrm>
            <a:off x="2526030" y="3562350"/>
            <a:ext cx="33299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출구·환승 동선 병목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925A23A9-CB97-4835-9746-8E6DA192967F}"/>
              </a:ext>
            </a:extLst>
          </p:cNvPr>
          <p:cNvSpPr>
            <a:spLocks noGrp="1"/>
          </p:cNvSpPr>
          <p:nvPr/>
        </p:nvSpPr>
        <p:spPr>
          <a:xfrm>
            <a:off x="5951220" y="3486150"/>
            <a:ext cx="54406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1C6877E6-2F2C-40E6-8491-98F46E9A302B}"/>
              </a:ext>
            </a:extLst>
          </p:cNvPr>
          <p:cNvSpPr>
            <a:spLocks noGrp="1"/>
          </p:cNvSpPr>
          <p:nvPr/>
        </p:nvSpPr>
        <p:spPr>
          <a:xfrm>
            <a:off x="6046470" y="3562350"/>
            <a:ext cx="52501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 동선 분산, 출구 안내, 환승 방향 분리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F9D07277-CFFA-42B7-8D4D-E9ED8C840A98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17068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28DBE789-311A-4008-8A25-96D1F09942BA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15163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혼합형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2906F85A-44D3-4981-9CA2-0DAAD8861DDC}"/>
              </a:ext>
            </a:extLst>
          </p:cNvPr>
          <p:cNvSpPr>
            <a:spLocks noGrp="1"/>
          </p:cNvSpPr>
          <p:nvPr/>
        </p:nvSpPr>
        <p:spPr>
          <a:xfrm>
            <a:off x="2430780" y="4324350"/>
            <a:ext cx="352044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235C67B6-AB51-473C-B8D5-5189410909CD}"/>
              </a:ext>
            </a:extLst>
          </p:cNvPr>
          <p:cNvSpPr>
            <a:spLocks noGrp="1"/>
          </p:cNvSpPr>
          <p:nvPr/>
        </p:nvSpPr>
        <p:spPr>
          <a:xfrm>
            <a:off x="2526030" y="4400550"/>
            <a:ext cx="33299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승차·하차가 동시에 높음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420D1C2F-F14B-447F-96BF-4A75B8B1CC2D}"/>
              </a:ext>
            </a:extLst>
          </p:cNvPr>
          <p:cNvSpPr>
            <a:spLocks noGrp="1"/>
          </p:cNvSpPr>
          <p:nvPr/>
        </p:nvSpPr>
        <p:spPr>
          <a:xfrm>
            <a:off x="5951220" y="4324350"/>
            <a:ext cx="54406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F52AD9E7-8CCB-4C2D-B8F5-38645F7A20E9}"/>
              </a:ext>
            </a:extLst>
          </p:cNvPr>
          <p:cNvSpPr>
            <a:spLocks noGrp="1"/>
          </p:cNvSpPr>
          <p:nvPr/>
        </p:nvSpPr>
        <p:spPr>
          <a:xfrm>
            <a:off x="6046470" y="4400550"/>
            <a:ext cx="52501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승하차 동선 분리, 환승 병목 집중 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23204BE3-BCEE-453D-B3F7-B04D8519A42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512F2FF0-19B8-4C9B-92DB-F0E55DD93BB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4514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F78C2066-2463-4C38-9633-86148707154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ABCE142F-723F-4C76-8091-6F4F395C5AC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30-60-90일 실행 로드맵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9D9D79C-1488-4B97-B62E-384EF0CEBF7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03D9975-1951-4D95-BA39-BC3E0D629A9C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6BB2786C-3103-451A-BFEF-E69681016B8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CEE6EC1-5E5F-4283-8A36-F86724E7B96E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706880" cy="904875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08956AF-13C3-436C-B279-49F1981906DA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151638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36D9DB43-33B4-4173-9598-A8DBFA4B9097}"/>
              </a:ext>
            </a:extLst>
          </p:cNvPr>
          <p:cNvSpPr>
            <a:spLocks noGrp="1"/>
          </p:cNvSpPr>
          <p:nvPr/>
        </p:nvSpPr>
        <p:spPr>
          <a:xfrm>
            <a:off x="2430780" y="1809750"/>
            <a:ext cx="5547360" cy="904875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D678E7A6-D806-473D-8B0C-1256677BDF57}"/>
              </a:ext>
            </a:extLst>
          </p:cNvPr>
          <p:cNvSpPr>
            <a:spLocks noGrp="1"/>
          </p:cNvSpPr>
          <p:nvPr/>
        </p:nvSpPr>
        <p:spPr>
          <a:xfrm>
            <a:off x="2526030" y="1885950"/>
            <a:ext cx="53568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9AC506FA-D505-48AF-A999-E26DFD657AA0}"/>
              </a:ext>
            </a:extLst>
          </p:cNvPr>
          <p:cNvSpPr>
            <a:spLocks noGrp="1"/>
          </p:cNvSpPr>
          <p:nvPr/>
        </p:nvSpPr>
        <p:spPr>
          <a:xfrm>
            <a:off x="7978140" y="1809750"/>
            <a:ext cx="3413760" cy="904875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B0AE414B-AEE8-47F4-9033-E75B38E0F6F9}"/>
              </a:ext>
            </a:extLst>
          </p:cNvPr>
          <p:cNvSpPr>
            <a:spLocks noGrp="1"/>
          </p:cNvSpPr>
          <p:nvPr/>
        </p:nvSpPr>
        <p:spPr>
          <a:xfrm>
            <a:off x="8073390" y="1885950"/>
            <a:ext cx="32232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성과 지표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14ADA630-D5D0-4D75-9DA1-4BC6F100E2CF}"/>
              </a:ext>
            </a:extLst>
          </p:cNvPr>
          <p:cNvSpPr>
            <a:spLocks noGrp="1"/>
          </p:cNvSpPr>
          <p:nvPr/>
        </p:nvSpPr>
        <p:spPr>
          <a:xfrm>
            <a:off x="723900" y="2714625"/>
            <a:ext cx="170688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FA4AE66-97EF-4608-8AF4-A1BEFDCE0323}"/>
              </a:ext>
            </a:extLst>
          </p:cNvPr>
          <p:cNvSpPr>
            <a:spLocks noGrp="1"/>
          </p:cNvSpPr>
          <p:nvPr/>
        </p:nvSpPr>
        <p:spPr>
          <a:xfrm>
            <a:off x="819150" y="2790825"/>
            <a:ext cx="151638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30일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603DCA86-2940-43A7-9B92-DEB3A6D05B29}"/>
              </a:ext>
            </a:extLst>
          </p:cNvPr>
          <p:cNvSpPr>
            <a:spLocks noGrp="1"/>
          </p:cNvSpPr>
          <p:nvPr/>
        </p:nvSpPr>
        <p:spPr>
          <a:xfrm>
            <a:off x="2430780" y="2714625"/>
            <a:ext cx="55473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0C1E0B29-D445-40D7-B2E0-28A373B8D5AC}"/>
              </a:ext>
            </a:extLst>
          </p:cNvPr>
          <p:cNvSpPr>
            <a:spLocks noGrp="1"/>
          </p:cNvSpPr>
          <p:nvPr/>
        </p:nvSpPr>
        <p:spPr>
          <a:xfrm>
            <a:off x="2526030" y="2790825"/>
            <a:ext cx="53568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A등급 역 현장 점검 및 피크 안내 강화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C23C743B-7A62-4A3B-A375-CCD797F9811D}"/>
              </a:ext>
            </a:extLst>
          </p:cNvPr>
          <p:cNvSpPr>
            <a:spLocks noGrp="1"/>
          </p:cNvSpPr>
          <p:nvPr/>
        </p:nvSpPr>
        <p:spPr>
          <a:xfrm>
            <a:off x="7978140" y="2714625"/>
            <a:ext cx="34137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7B2DFD7E-384B-4A41-9391-1FCBFB500ADB}"/>
              </a:ext>
            </a:extLst>
          </p:cNvPr>
          <p:cNvSpPr>
            <a:spLocks noGrp="1"/>
          </p:cNvSpPr>
          <p:nvPr/>
        </p:nvSpPr>
        <p:spPr>
          <a:xfrm>
            <a:off x="8073390" y="2790825"/>
            <a:ext cx="32232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혼잡 역 커버리지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0656B751-027B-4E3F-9E8B-323F75C364E6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70688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F3EA0405-B28A-4BDD-95B3-6912D905ADD4}"/>
              </a:ext>
            </a:extLst>
          </p:cNvPr>
          <p:cNvSpPr>
            <a:spLocks noGrp="1"/>
          </p:cNvSpPr>
          <p:nvPr/>
        </p:nvSpPr>
        <p:spPr>
          <a:xfrm>
            <a:off x="819150" y="3695700"/>
            <a:ext cx="151638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60일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B98C77A5-3012-4E7F-A96C-C6473F2B7984}"/>
              </a:ext>
            </a:extLst>
          </p:cNvPr>
          <p:cNvSpPr>
            <a:spLocks noGrp="1"/>
          </p:cNvSpPr>
          <p:nvPr/>
        </p:nvSpPr>
        <p:spPr>
          <a:xfrm>
            <a:off x="2430780" y="3619500"/>
            <a:ext cx="55473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75192080-0CB9-4775-82A9-0275E7E8024E}"/>
              </a:ext>
            </a:extLst>
          </p:cNvPr>
          <p:cNvSpPr>
            <a:spLocks noGrp="1"/>
          </p:cNvSpPr>
          <p:nvPr/>
        </p:nvSpPr>
        <p:spPr>
          <a:xfrm>
            <a:off x="2526030" y="3695700"/>
            <a:ext cx="53568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승차형·하차형·혼합형별 동선 운영안 적용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08D9FC0-447B-4FE2-A98D-ED38ABEF6FC2}"/>
              </a:ext>
            </a:extLst>
          </p:cNvPr>
          <p:cNvSpPr>
            <a:spLocks noGrp="1"/>
          </p:cNvSpPr>
          <p:nvPr/>
        </p:nvSpPr>
        <p:spPr>
          <a:xfrm>
            <a:off x="7978140" y="3619500"/>
            <a:ext cx="34137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BE364BD4-4CF9-4D6F-8542-104FC4321329}"/>
              </a:ext>
            </a:extLst>
          </p:cNvPr>
          <p:cNvSpPr>
            <a:spLocks noGrp="1"/>
          </p:cNvSpPr>
          <p:nvPr/>
        </p:nvSpPr>
        <p:spPr>
          <a:xfrm>
            <a:off x="8073390" y="3695700"/>
            <a:ext cx="32232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시간대 병목 신고 감소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48C61370-E171-4B0A-9E8C-A072991263B0}"/>
              </a:ext>
            </a:extLst>
          </p:cNvPr>
          <p:cNvSpPr>
            <a:spLocks noGrp="1"/>
          </p:cNvSpPr>
          <p:nvPr/>
        </p:nvSpPr>
        <p:spPr>
          <a:xfrm>
            <a:off x="723900" y="4524375"/>
            <a:ext cx="170688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0111F371-8969-41BE-86D7-8C3AE1D7FABB}"/>
              </a:ext>
            </a:extLst>
          </p:cNvPr>
          <p:cNvSpPr>
            <a:spLocks noGrp="1"/>
          </p:cNvSpPr>
          <p:nvPr/>
        </p:nvSpPr>
        <p:spPr>
          <a:xfrm>
            <a:off x="819150" y="4600575"/>
            <a:ext cx="151638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90일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19253D32-4577-4912-8BE4-9D6BDD3F3F72}"/>
              </a:ext>
            </a:extLst>
          </p:cNvPr>
          <p:cNvSpPr>
            <a:spLocks noGrp="1"/>
          </p:cNvSpPr>
          <p:nvPr/>
        </p:nvSpPr>
        <p:spPr>
          <a:xfrm>
            <a:off x="2430780" y="4524375"/>
            <a:ext cx="55473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AF8E24A1-1B00-46EB-9C0C-462A802CC9A8}"/>
              </a:ext>
            </a:extLst>
          </p:cNvPr>
          <p:cNvSpPr>
            <a:spLocks noGrp="1"/>
          </p:cNvSpPr>
          <p:nvPr/>
        </p:nvSpPr>
        <p:spPr>
          <a:xfrm>
            <a:off x="2526030" y="4600575"/>
            <a:ext cx="53568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월별 혼잡도 대시보드 운영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A6D8F061-85FB-4AA8-A517-F18675C5FF37}"/>
              </a:ext>
            </a:extLst>
          </p:cNvPr>
          <p:cNvSpPr>
            <a:spLocks noGrp="1"/>
          </p:cNvSpPr>
          <p:nvPr/>
        </p:nvSpPr>
        <p:spPr>
          <a:xfrm>
            <a:off x="7978140" y="4524375"/>
            <a:ext cx="34137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2C0F8E0C-3721-402D-A6BC-FEB70B8A88A1}"/>
              </a:ext>
            </a:extLst>
          </p:cNvPr>
          <p:cNvSpPr>
            <a:spLocks noGrp="1"/>
          </p:cNvSpPr>
          <p:nvPr/>
        </p:nvSpPr>
        <p:spPr>
          <a:xfrm>
            <a:off x="8073390" y="4600575"/>
            <a:ext cx="32232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우선순위 점수 월별 추적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5D02A93E-879F-40FF-B19A-7A369977F8A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0B33E937-E0B1-438E-8BB9-1E6461EF2E9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50763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EEC24E73-ABCC-41A5-BC8E-FD231E77E5A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9D8788FF-C459-4192-B2B8-56D919A148C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의사결정 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5BE33D5D-3DDE-4325-B0DC-A2729A44538B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4BD1A50E-2B0F-41D6-A308-19B18B009BBF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6E2349A1-99AF-4B24-9646-C9C2B835439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BE1595C7-8ADB-4F6B-96C9-1FDBF190C3F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818BACC8-78EF-4A04-8095-F36F9BC83071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933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혼잡 관리는 전체 평균이 아니라 피크 시간대, 고혼잡 역, 승하차 흐름 유형 기준으로 선별 설계해야 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0184393E-82E5-494F-A065-2A802D714BA6}"/>
              </a:ext>
            </a:extLst>
          </p:cNvPr>
          <p:cNvSpPr>
            <a:spLocks noGrp="1"/>
          </p:cNvSpPr>
          <p:nvPr/>
        </p:nvSpPr>
        <p:spPr>
          <a:xfrm>
            <a:off x="857250" y="36671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CCCD1CC-FE11-47B8-AF92-6B5FF9362400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A등급 69개 역을 우선 관리 대상으로 지정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85152A6-2431-4B27-BCB1-5C78CA48286C}"/>
              </a:ext>
            </a:extLst>
          </p:cNvPr>
          <p:cNvSpPr>
            <a:spLocks noGrp="1"/>
          </p:cNvSpPr>
          <p:nvPr/>
        </p:nvSpPr>
        <p:spPr>
          <a:xfrm>
            <a:off x="857250" y="41243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BB2908EC-4F86-4061-8BF5-8C9B6F57AD8A}"/>
              </a:ext>
            </a:extLst>
          </p:cNvPr>
          <p:cNvSpPr>
            <a:spLocks noGrp="1"/>
          </p:cNvSpPr>
          <p:nvPr/>
        </p:nvSpPr>
        <p:spPr>
          <a:xfrm>
            <a:off x="1143000" y="41243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08시-09시 중심의 출근 피크 집중 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01A5C003-C82F-415B-B503-308F803356A9}"/>
              </a:ext>
            </a:extLst>
          </p:cNvPr>
          <p:cNvSpPr>
            <a:spLocks noGrp="1"/>
          </p:cNvSpPr>
          <p:nvPr/>
        </p:nvSpPr>
        <p:spPr>
          <a:xfrm>
            <a:off x="857250" y="45815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ABBBBD32-2F20-4972-9DD0-2FD1D7560A82}"/>
              </a:ext>
            </a:extLst>
          </p:cNvPr>
          <p:cNvSpPr>
            <a:spLocks noGrp="1"/>
          </p:cNvSpPr>
          <p:nvPr/>
        </p:nvSpPr>
        <p:spPr>
          <a:xfrm>
            <a:off x="1143000" y="45815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승차형·하차형·혼합형에 따른 현장 운영안 차등 적용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5916A2E7-A741-4B22-A983-DF320C320C3B}"/>
              </a:ext>
            </a:extLst>
          </p:cNvPr>
          <p:cNvSpPr>
            <a:spLocks noGrp="1"/>
          </p:cNvSpPr>
          <p:nvPr/>
        </p:nvSpPr>
        <p:spPr>
          <a:xfrm>
            <a:off x="857250" y="50387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640F4490-2751-4246-BD9C-CBD2183AC87A}"/>
              </a:ext>
            </a:extLst>
          </p:cNvPr>
          <p:cNvSpPr>
            <a:spLocks noGrp="1"/>
          </p:cNvSpPr>
          <p:nvPr/>
        </p:nvSpPr>
        <p:spPr>
          <a:xfrm>
            <a:off x="1143000" y="50387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월별 혼잡도 지표로 정기 모니터링 체계 구축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DD899966-5BB9-454F-B19C-3FB9E76ED93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401DC665-A911-4B90-B90C-C4300D6C5B8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64873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균형">
  <a:themeElements>
    <a:clrScheme name="균형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균형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균형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841</Words>
  <Application>Microsoft Office PowerPoint</Application>
  <DocSecurity>0</DocSecurity>
  <PresentationFormat>사용자 지정</PresentationFormat>
  <Paragraphs>256</Paragraphs>
  <Slides>18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균형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gnl2109@gmail.com</cp:lastModifiedBy>
  <cp:revision>1</cp:revision>
  <dcterms:created xsi:type="dcterms:W3CDTF">2026-06-26T01:10:57Z</dcterms:created>
  <dcterms:modified xsi:type="dcterms:W3CDTF">2026-06-26T01:22:04Z</dcterms:modified>
</cp:coreProperties>
</file>