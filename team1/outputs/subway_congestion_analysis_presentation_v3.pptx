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4053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594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ko-KR"/>
  <c:roundedCorners val="0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유동량(억 명)</c:v>
          </c:tx>
          <c:cat>
            <c:strLit>
              <c:ptCount val="24"/>
              <c:pt idx="0">
                <c:v>00시-01시</c:v>
              </c:pt>
              <c:pt idx="1">
                <c:v>01시-02시</c:v>
              </c:pt>
              <c:pt idx="2">
                <c:v>02시-03시</c:v>
              </c:pt>
              <c:pt idx="3">
                <c:v>03시-04시</c:v>
              </c:pt>
              <c:pt idx="4">
                <c:v>04시-05시</c:v>
              </c:pt>
              <c:pt idx="5">
                <c:v>05시-06시</c:v>
              </c:pt>
              <c:pt idx="6">
                <c:v>06시-07시</c:v>
              </c:pt>
              <c:pt idx="7">
                <c:v>07시-08시</c:v>
              </c:pt>
              <c:pt idx="8">
                <c:v>08시-09시</c:v>
              </c:pt>
              <c:pt idx="9">
                <c:v>09시-10시</c:v>
              </c:pt>
              <c:pt idx="10">
                <c:v>10시-11시</c:v>
              </c:pt>
              <c:pt idx="11">
                <c:v>11시-12시</c:v>
              </c:pt>
              <c:pt idx="12">
                <c:v>12시-13시</c:v>
              </c:pt>
              <c:pt idx="13">
                <c:v>13시-14시</c:v>
              </c:pt>
              <c:pt idx="14">
                <c:v>14시-15시</c:v>
              </c:pt>
              <c:pt idx="15">
                <c:v>15시-16시</c:v>
              </c:pt>
              <c:pt idx="16">
                <c:v>16시-17시</c:v>
              </c:pt>
              <c:pt idx="17">
                <c:v>17시-18시</c:v>
              </c:pt>
              <c:pt idx="18">
                <c:v>18시-19시</c:v>
              </c:pt>
              <c:pt idx="19">
                <c:v>19시-20시</c:v>
              </c:pt>
              <c:pt idx="20">
                <c:v>20시-21시</c:v>
              </c:pt>
              <c:pt idx="21">
                <c:v>21시-22시</c:v>
              </c:pt>
              <c:pt idx="22">
                <c:v>22시-23시</c:v>
              </c:pt>
              <c:pt idx="23">
                <c:v>23시-24시</c:v>
              </c:pt>
            </c:strLit>
          </c:cat>
          <c:val>
            <c:numLit>
              <c:formatCode>General</c:formatCode>
              <c:ptCount val="24"/>
              <c:pt idx="0">
                <c:v>1.7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0.1</c:v>
              </c:pt>
              <c:pt idx="5">
                <c:v>3</c:v>
              </c:pt>
              <c:pt idx="6">
                <c:v>8.1</c:v>
              </c:pt>
              <c:pt idx="7">
                <c:v>20.3</c:v>
              </c:pt>
              <c:pt idx="8">
                <c:v>31.8</c:v>
              </c:pt>
              <c:pt idx="9">
                <c:v>20.399999999999999</c:v>
              </c:pt>
              <c:pt idx="10">
                <c:v>14.4</c:v>
              </c:pt>
              <c:pt idx="11">
                <c:v>14</c:v>
              </c:pt>
              <c:pt idx="12">
                <c:v>15</c:v>
              </c:pt>
              <c:pt idx="13">
                <c:v>16</c:v>
              </c:pt>
              <c:pt idx="14">
                <c:v>15.8</c:v>
              </c:pt>
              <c:pt idx="15">
                <c:v>16.8</c:v>
              </c:pt>
              <c:pt idx="16">
                <c:v>18.899999999999999</c:v>
              </c:pt>
              <c:pt idx="17">
                <c:v>23.1</c:v>
              </c:pt>
              <c:pt idx="18">
                <c:v>31.6</c:v>
              </c:pt>
              <c:pt idx="19">
                <c:v>23.4</c:v>
              </c:pt>
              <c:pt idx="20">
                <c:v>16</c:v>
              </c:pt>
              <c:pt idx="21">
                <c:v>14.7</c:v>
              </c:pt>
              <c:pt idx="22">
                <c:v>13.1</c:v>
              </c:pt>
              <c:pt idx="23">
                <c:v>7.2</c:v>
              </c:pt>
            </c:numLit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4356992"/>
        <c:axId val="134316032"/>
      </c:lineChart>
      <c:catAx>
        <c:axId val="134356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ko-KR"/>
          </a:p>
        </c:txPr>
        <c:crossAx val="134316032"/>
        <c:crosses val="autoZero"/>
        <c:auto val="1"/>
        <c:lblAlgn val="ctr"/>
        <c:lblOffset val="100"/>
        <c:noMultiLvlLbl val="0"/>
      </c:catAx>
      <c:valAx>
        <c:axId val="134316032"/>
        <c:scaling>
          <c:orientation val="minMax"/>
        </c:scaling>
        <c:delete val="0"/>
        <c:axPos val="l"/>
        <c:majorGridlines>
          <c:spPr>
            <a:ln w="9525">
              <a:solidFill>
                <a:srgbClr val="B8BCC4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ko-KR"/>
          </a:p>
        </c:txPr>
        <c:crossAx val="134356992"/>
        <c:crosses val="autoZero"/>
        <c:crossBetween val="between"/>
      </c:valAx>
    </c:plotArea>
    <c:plotVisOnly val="1"/>
    <c:dispBlanksAs val="zero"/>
    <c:showDLblsOverMax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ko-KR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유동량(억 명)</c:v>
          </c:tx>
          <c:spPr>
            <a:solidFill>
              <a:srgbClr val="457B9D"/>
            </a:solidFill>
          </c:spPr>
          <c:invertIfNegative val="1"/>
          <c:dLbls>
            <c:delete val="1"/>
          </c:dLbls>
          <c:cat>
            <c:strLit>
              <c:ptCount val="8"/>
              <c:pt idx="0">
                <c:v>2호선</c:v>
              </c:pt>
              <c:pt idx="1">
                <c:v>7호선</c:v>
              </c:pt>
              <c:pt idx="2">
                <c:v>5호선</c:v>
              </c:pt>
              <c:pt idx="3">
                <c:v>4호선</c:v>
              </c:pt>
              <c:pt idx="4">
                <c:v>3호선</c:v>
              </c:pt>
              <c:pt idx="5">
                <c:v>경부선</c:v>
              </c:pt>
              <c:pt idx="6">
                <c:v>분당선</c:v>
              </c:pt>
              <c:pt idx="7">
                <c:v>6호선</c:v>
              </c:pt>
            </c:strLit>
          </c:cat>
          <c:val>
            <c:numLit>
              <c:formatCode>General</c:formatCode>
              <c:ptCount val="8"/>
              <c:pt idx="0">
                <c:v>68.2</c:v>
              </c:pt>
              <c:pt idx="1">
                <c:v>31.8</c:v>
              </c:pt>
              <c:pt idx="2">
                <c:v>26.9</c:v>
              </c:pt>
              <c:pt idx="3">
                <c:v>26</c:v>
              </c:pt>
              <c:pt idx="4">
                <c:v>24.9</c:v>
              </c:pt>
              <c:pt idx="5">
                <c:v>21.7</c:v>
              </c:pt>
              <c:pt idx="6">
                <c:v>16.600000000000001</c:v>
              </c:pt>
              <c:pt idx="7">
                <c:v>15.6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33611520"/>
        <c:axId val="134317760"/>
      </c:barChart>
      <c:catAx>
        <c:axId val="1336115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ko-KR"/>
          </a:p>
        </c:txPr>
        <c:crossAx val="134317760"/>
        <c:crosses val="autoZero"/>
        <c:auto val="1"/>
        <c:lblAlgn val="ctr"/>
        <c:lblOffset val="100"/>
        <c:noMultiLvlLbl val="0"/>
      </c:catAx>
      <c:valAx>
        <c:axId val="134317760"/>
        <c:scaling>
          <c:orientation val="minMax"/>
        </c:scaling>
        <c:delete val="0"/>
        <c:axPos val="l"/>
        <c:majorGridlines>
          <c:spPr>
            <a:ln w="9525">
              <a:solidFill>
                <a:srgbClr val="B8BCC4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ko-KR"/>
          </a:p>
        </c:txPr>
        <c:crossAx val="133611520"/>
        <c:crosses val="autoZero"/>
        <c:crossBetween val="between"/>
      </c:valAx>
    </c:plotArea>
    <c:plotVisOnly val="1"/>
    <c:dispBlanksAs val="zero"/>
    <c:showDLblsOverMax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ko-KR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유동량(억 명)</c:v>
          </c:tx>
          <c:spPr>
            <a:solidFill>
              <a:srgbClr val="E63946"/>
            </a:solidFill>
          </c:spPr>
          <c:invertIfNegative val="1"/>
          <c:dLbls>
            <c:delete val="1"/>
          </c:dLbls>
          <c:cat>
            <c:strLit>
              <c:ptCount val="8"/>
              <c:pt idx="0">
                <c:v>2호선 강남</c:v>
              </c:pt>
              <c:pt idx="1">
                <c:v>2호선 홍대입구</c:v>
              </c:pt>
              <c:pt idx="2">
                <c:v>2호선 신림</c:v>
              </c:pt>
              <c:pt idx="3">
                <c:v>2호선 구로디지털단지</c:v>
              </c:pt>
              <c:pt idx="4">
                <c:v>2호선 신도림</c:v>
              </c:pt>
              <c:pt idx="5">
                <c:v>2호선 잠실(송파구청)</c:v>
              </c:pt>
              <c:pt idx="6">
                <c:v>3호선 고속터미널</c:v>
              </c:pt>
              <c:pt idx="7">
                <c:v>1호선 서울역</c:v>
              </c:pt>
            </c:strLit>
          </c:cat>
          <c:val>
            <c:numLit>
              <c:formatCode>General</c:formatCode>
              <c:ptCount val="8"/>
              <c:pt idx="0">
                <c:v>4.5</c:v>
              </c:pt>
              <c:pt idx="1">
                <c:v>3.5</c:v>
              </c:pt>
              <c:pt idx="2">
                <c:v>3.2</c:v>
              </c:pt>
              <c:pt idx="3">
                <c:v>2.8</c:v>
              </c:pt>
              <c:pt idx="4">
                <c:v>2.7</c:v>
              </c:pt>
              <c:pt idx="5">
                <c:v>2.6</c:v>
              </c:pt>
              <c:pt idx="6">
                <c:v>2.6</c:v>
              </c:pt>
              <c:pt idx="7">
                <c:v>2.4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55848192"/>
        <c:axId val="134320064"/>
      </c:barChart>
      <c:catAx>
        <c:axId val="155848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ko-KR"/>
          </a:p>
        </c:txPr>
        <c:crossAx val="134320064"/>
        <c:crosses val="autoZero"/>
        <c:auto val="1"/>
        <c:lblAlgn val="ctr"/>
        <c:lblOffset val="100"/>
        <c:noMultiLvlLbl val="0"/>
      </c:catAx>
      <c:valAx>
        <c:axId val="134320064"/>
        <c:scaling>
          <c:orientation val="minMax"/>
        </c:scaling>
        <c:delete val="0"/>
        <c:axPos val="l"/>
        <c:majorGridlines>
          <c:spPr>
            <a:ln w="9525">
              <a:solidFill>
                <a:srgbClr val="B8BCC4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ko-KR"/>
          </a:p>
        </c:txPr>
        <c:crossAx val="155848192"/>
        <c:crosses val="autoZero"/>
        <c:crossBetween val="between"/>
      </c:valAx>
    </c:plotArea>
    <c:plotVisOnly val="1"/>
    <c:dispBlanksAs val="zero"/>
    <c:showDLblsOverMax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ko-KR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출근 피크</c:v>
          </c:tx>
          <c:spPr>
            <a:solidFill>
              <a:srgbClr val="FF6B35"/>
            </a:solidFill>
          </c:spPr>
          <c:invertIfNegative val="1"/>
          <c:dLbls>
            <c:delete val="1"/>
          </c:dLbls>
          <c:cat>
            <c:strLit>
              <c:ptCount val="3"/>
              <c:pt idx="0">
                <c:v>승차형</c:v>
              </c:pt>
              <c:pt idx="1">
                <c:v>하차형</c:v>
              </c:pt>
              <c:pt idx="2">
                <c:v>혼합형</c:v>
              </c:pt>
            </c:strLit>
          </c:cat>
          <c:val>
            <c:numLit>
              <c:formatCode>General</c:formatCode>
              <c:ptCount val="3"/>
              <c:pt idx="0">
                <c:v>333</c:v>
              </c:pt>
              <c:pt idx="1">
                <c:v>185</c:v>
              </c:pt>
              <c:pt idx="2">
                <c:v>167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</c:extLst>
        </c:ser>
        <c:ser>
          <c:idx val="1"/>
          <c:order val="1"/>
          <c:tx>
            <c:v>퇴근 피크</c:v>
          </c:tx>
          <c:spPr>
            <a:solidFill>
              <a:srgbClr val="2A9D8F"/>
            </a:solidFill>
          </c:spPr>
          <c:invertIfNegative val="1"/>
          <c:dLbls>
            <c:delete val="1"/>
          </c:dLbls>
          <c:cat>
            <c:strLit>
              <c:ptCount val="3"/>
              <c:pt idx="0">
                <c:v>승차형</c:v>
              </c:pt>
              <c:pt idx="1">
                <c:v>하차형</c:v>
              </c:pt>
              <c:pt idx="2">
                <c:v>혼합형</c:v>
              </c:pt>
            </c:strLit>
          </c:cat>
          <c:val>
            <c:numLit>
              <c:formatCode>General</c:formatCode>
              <c:ptCount val="3"/>
              <c:pt idx="0">
                <c:v>158</c:v>
              </c:pt>
              <c:pt idx="1">
                <c:v>235</c:v>
              </c:pt>
              <c:pt idx="2">
                <c:v>292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56198912"/>
        <c:axId val="134322944"/>
      </c:barChart>
      <c:catAx>
        <c:axId val="1561989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ko-KR"/>
          </a:p>
        </c:txPr>
        <c:crossAx val="134322944"/>
        <c:crosses val="autoZero"/>
        <c:auto val="1"/>
        <c:lblAlgn val="ctr"/>
        <c:lblOffset val="100"/>
        <c:noMultiLvlLbl val="0"/>
      </c:catAx>
      <c:valAx>
        <c:axId val="13432294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561989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33175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모서리가 둥근 직사각형 12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부제목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ko-KR" altLang="en-US" smtClean="0"/>
              <a:t>마스터 부제목 스타일 편집</a:t>
            </a:r>
            <a:endParaRPr kumimoji="0" lang="en-US"/>
          </a:p>
        </p:txBody>
      </p:sp>
      <p:sp>
        <p:nvSpPr>
          <p:cNvPr id="28" name="날짜 개체 틀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8957-A2A5-4F57-8536-F56434125B66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42A2C699-C96F-456A-AF2D-BFC9E811119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83909" y="1449304"/>
            <a:ext cx="12028716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83909" y="1396720"/>
            <a:ext cx="12028716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직사각형 10"/>
          <p:cNvSpPr/>
          <p:nvPr/>
        </p:nvSpPr>
        <p:spPr>
          <a:xfrm>
            <a:off x="83909" y="2976649"/>
            <a:ext cx="12028716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제목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8957-A2A5-4F57-8536-F56434125B66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2C699-C96F-456A-AF2D-BFC9E811119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 vert="horz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모서리가 둥근 직사각형 9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8957-A2A5-4F57-8536-F56434125B66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1066800" y="6172200"/>
            <a:ext cx="5334000" cy="4572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 flipV="1">
            <a:off x="92550" y="2376830"/>
            <a:ext cx="120180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92195" y="2341476"/>
            <a:ext cx="12018375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91075" y="2468880"/>
            <a:ext cx="12019495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42A2C699-C96F-456A-AF2D-BFC9E811119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8957-A2A5-4F57-8536-F56434125B66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2C699-C96F-456A-AF2D-BFC9E811119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8957-A2A5-4F57-8536-F56434125B66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2C699-C96F-456A-AF2D-BFC9E811119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내용 개체 틀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13" name="내용 개체 틀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8957-A2A5-4F57-8536-F56434125B66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2C699-C96F-456A-AF2D-BFC9E811119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8957-A2A5-4F57-8536-F56434125B66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2C699-C96F-456A-AF2D-BFC9E811119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모서리가 둥근 직사각형 8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8957-A2A5-4F57-8536-F56434125B66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2C699-C96F-456A-AF2D-BFC9E811119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 vert="horz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8957-A2A5-4F57-8536-F56434125B66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1219200" y="6172200"/>
            <a:ext cx="5181600" cy="4572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42A2C699-C96F-456A-AF2D-BFC9E811119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 flipV="1">
            <a:off x="91076" y="4683555"/>
            <a:ext cx="120091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직사각형 11"/>
          <p:cNvSpPr/>
          <p:nvPr/>
        </p:nvSpPr>
        <p:spPr>
          <a:xfrm>
            <a:off x="91345" y="4650475"/>
            <a:ext cx="12008852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직사각형 12"/>
          <p:cNvSpPr/>
          <p:nvPr/>
        </p:nvSpPr>
        <p:spPr>
          <a:xfrm>
            <a:off x="91348" y="4773225"/>
            <a:ext cx="12008849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ko-KR" altLang="en-US" smtClean="0"/>
              <a:t>그림을 추가하려면 아이콘을 클릭하십시오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8957-A2A5-4F57-8536-F56434125B66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2C699-C96F-456A-AF2D-BFC9E811119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8957-A2A5-4F57-8536-F56434125B66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2C699-C96F-456A-AF2D-BFC9E811119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모서리가 둥근 직사각형 7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smtClean="0"/>
              <a:t>둘째 수준</a:t>
            </a:r>
          </a:p>
          <a:p>
            <a:pPr lvl="2" eaLnBrk="1" latinLnBrk="0" hangingPunct="1"/>
            <a:r>
              <a:rPr kumimoji="0" lang="ko-KR" altLang="en-US" smtClean="0"/>
              <a:t>셋째 수준</a:t>
            </a:r>
          </a:p>
          <a:p>
            <a:pPr lvl="3" eaLnBrk="1" latinLnBrk="0" hangingPunct="1"/>
            <a:r>
              <a:rPr kumimoji="0" lang="ko-KR" altLang="en-US" smtClean="0"/>
              <a:t>넷째 수준</a:t>
            </a:r>
          </a:p>
          <a:p>
            <a:pPr lvl="4" eaLnBrk="1" latinLnBrk="0" hangingPunct="1"/>
            <a:r>
              <a:rPr kumimoji="0" lang="ko-KR" altLang="en-US" smtClean="0"/>
              <a:t>다섯째 수준</a:t>
            </a:r>
            <a:endParaRPr kumimoji="0" lang="en-US"/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0DD8957-A2A5-4F57-8536-F56434125B66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195072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42A2C699-C96F-456A-AF2D-BFC9E811119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  <p:sldLayoutId id="2147484055" r:id="rId2"/>
    <p:sldLayoutId id="2147484056" r:id="rId3"/>
    <p:sldLayoutId id="2147484057" r:id="rId4"/>
    <p:sldLayoutId id="2147484058" r:id="rId5"/>
    <p:sldLayoutId id="2147484059" r:id="rId6"/>
    <p:sldLayoutId id="2147484060" r:id="rId7"/>
    <p:sldLayoutId id="2147484061" r:id="rId8"/>
    <p:sldLayoutId id="2147484062" r:id="rId9"/>
    <p:sldLayoutId id="2147484063" r:id="rId10"/>
    <p:sldLayoutId id="2147484064" r:id="rId11"/>
    <p:sldLayoutId id="2147484065" r:id="rId12"/>
  </p:sldLayoutIdLst>
  <p:txStyles>
    <p:titleStyle>
      <a:lvl1pPr algn="l" rtl="0" eaLnBrk="1" latinLnBrk="1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1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1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1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1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1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1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1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1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1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7E47E9B6-3E98-4C8F-B930-3DAA82CDEC16}"/>
              </a:ext>
            </a:extLst>
          </p:cNvPr>
          <p:cNvSpPr>
            <a:spLocks noGrp="1"/>
          </p:cNvSpPr>
          <p:nvPr/>
        </p:nvSpPr>
        <p:spPr>
          <a:xfrm>
            <a:off x="400050" y="514350"/>
            <a:ext cx="857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4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서울 지하철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A4D28B81-2F23-48D0-ADD2-E9C1F508E5BA}"/>
              </a:ext>
            </a:extLst>
          </p:cNvPr>
          <p:cNvSpPr>
            <a:spLocks noGrp="1"/>
          </p:cNvSpPr>
          <p:nvPr/>
        </p:nvSpPr>
        <p:spPr>
          <a:xfrm>
            <a:off x="400050" y="1123950"/>
            <a:ext cx="9334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승하차 혼잡도 분석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DAE557CB-60C4-463E-9AD0-1433AD4E4C0D}"/>
              </a:ext>
            </a:extLst>
          </p:cNvPr>
          <p:cNvSpPr>
            <a:spLocks noGrp="1"/>
          </p:cNvSpPr>
          <p:nvPr/>
        </p:nvSpPr>
        <p:spPr>
          <a:xfrm>
            <a:off x="457200" y="2190750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 dirty="0" err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피크</a:t>
            </a:r>
            <a:r>
              <a:rPr sz="1725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725" b="0" dirty="0" err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시간대</a:t>
            </a:r>
            <a:r>
              <a:rPr sz="1725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1725" b="0" dirty="0" err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고혼잡</a:t>
            </a:r>
            <a:r>
              <a:rPr sz="1725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 역 · </a:t>
            </a:r>
            <a:r>
              <a:rPr sz="1725" b="0" dirty="0" err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승하차</a:t>
            </a:r>
            <a:r>
              <a:rPr sz="1725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725" b="0" dirty="0" err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흐름</a:t>
            </a:r>
            <a:r>
              <a:rPr sz="1725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725" b="0" dirty="0" err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유형</a:t>
            </a:r>
            <a:r>
              <a:rPr sz="1725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725" b="0" dirty="0" err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기반</a:t>
            </a:r>
            <a:r>
              <a:rPr sz="1725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725" b="0" dirty="0" err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운영</a:t>
            </a:r>
            <a:r>
              <a:rPr sz="1725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725" b="0" dirty="0" err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우선순위</a:t>
            </a:r>
            <a:r>
              <a:rPr sz="1725" b="0" dirty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725" b="0" dirty="0" err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제안</a:t>
            </a:r>
            <a:endParaRPr sz="1725" b="0" dirty="0">
              <a:solidFill>
                <a:srgbClr val="55555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2D54460C-2F6E-4E7E-B4F0-A9239BD5BDB7}"/>
              </a:ext>
            </a:extLst>
          </p:cNvPr>
          <p:cNvSpPr>
            <a:spLocks noGrp="1"/>
          </p:cNvSpPr>
          <p:nvPr/>
        </p:nvSpPr>
        <p:spPr>
          <a:xfrm>
            <a:off x="495300" y="3857625"/>
            <a:ext cx="2571750" cy="1238250"/>
          </a:xfrm>
          <a:prstGeom prst="rect">
            <a:avLst/>
          </a:prstGeom>
          <a:solidFill>
            <a:srgbClr val="F0F1F3"/>
          </a:solidFill>
          <a:ln w="0">
            <a:noFill/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953066F3-185F-414D-A03B-6E77A08B520E}"/>
              </a:ext>
            </a:extLst>
          </p:cNvPr>
          <p:cNvSpPr>
            <a:spLocks noGrp="1"/>
          </p:cNvSpPr>
          <p:nvPr/>
        </p:nvSpPr>
        <p:spPr>
          <a:xfrm>
            <a:off x="704850" y="4048125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최혼잡 시간대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64F370E4-113B-4EBC-9ED6-E449D3D682F4}"/>
              </a:ext>
            </a:extLst>
          </p:cNvPr>
          <p:cNvSpPr>
            <a:spLocks noGrp="1"/>
          </p:cNvSpPr>
          <p:nvPr/>
        </p:nvSpPr>
        <p:spPr>
          <a:xfrm>
            <a:off x="704850" y="4381500"/>
            <a:ext cx="21526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08시-09시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9227F67C-FF67-4B7F-B6A9-9E958525600B}"/>
              </a:ext>
            </a:extLst>
          </p:cNvPr>
          <p:cNvSpPr>
            <a:spLocks noGrp="1"/>
          </p:cNvSpPr>
          <p:nvPr/>
        </p:nvSpPr>
        <p:spPr>
          <a:xfrm>
            <a:off x="3352800" y="3857625"/>
            <a:ext cx="2571750" cy="1238250"/>
          </a:xfrm>
          <a:prstGeom prst="rect">
            <a:avLst/>
          </a:prstGeom>
          <a:solidFill>
            <a:srgbClr val="F0F1F3"/>
          </a:solidFill>
          <a:ln w="0">
            <a:noFill/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A7B5CFF1-9179-493F-A712-E4D7F12B620C}"/>
              </a:ext>
            </a:extLst>
          </p:cNvPr>
          <p:cNvSpPr>
            <a:spLocks noGrp="1"/>
          </p:cNvSpPr>
          <p:nvPr/>
        </p:nvSpPr>
        <p:spPr>
          <a:xfrm>
            <a:off x="3562350" y="4048125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최혼잡 노선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B7CE5654-92D1-42BB-B157-3A69079AAABD}"/>
              </a:ext>
            </a:extLst>
          </p:cNvPr>
          <p:cNvSpPr>
            <a:spLocks noGrp="1"/>
          </p:cNvSpPr>
          <p:nvPr/>
        </p:nvSpPr>
        <p:spPr>
          <a:xfrm>
            <a:off x="3562350" y="4381500"/>
            <a:ext cx="21526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457B9D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457B9D"/>
                </a:solidFill>
                <a:latin typeface="Malgun Gothic"/>
                <a:ea typeface="Malgun Gothic"/>
                <a:cs typeface="Malgun Gothic"/>
              </a:rPr>
              <a:t>2호선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12A19895-9DC3-4D88-9930-DC77DDF855DD}"/>
              </a:ext>
            </a:extLst>
          </p:cNvPr>
          <p:cNvSpPr>
            <a:spLocks noGrp="1"/>
          </p:cNvSpPr>
          <p:nvPr/>
        </p:nvSpPr>
        <p:spPr>
          <a:xfrm>
            <a:off x="6210300" y="3857625"/>
            <a:ext cx="3048000" cy="1238250"/>
          </a:xfrm>
          <a:prstGeom prst="rect">
            <a:avLst/>
          </a:prstGeom>
          <a:solidFill>
            <a:srgbClr val="F0F1F3"/>
          </a:solidFill>
          <a:ln w="0">
            <a:noFill/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10738BC7-5FE1-4F47-8D8D-DBDF3C094515}"/>
              </a:ext>
            </a:extLst>
          </p:cNvPr>
          <p:cNvSpPr>
            <a:spLocks noGrp="1"/>
          </p:cNvSpPr>
          <p:nvPr/>
        </p:nvSpPr>
        <p:spPr>
          <a:xfrm>
            <a:off x="6419850" y="4048125"/>
            <a:ext cx="2628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최우선 역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3DD7D7F5-1406-4201-99EF-E284FC4BAA44}"/>
              </a:ext>
            </a:extLst>
          </p:cNvPr>
          <p:cNvSpPr>
            <a:spLocks noGrp="1"/>
          </p:cNvSpPr>
          <p:nvPr/>
        </p:nvSpPr>
        <p:spPr>
          <a:xfrm>
            <a:off x="6419850" y="4381500"/>
            <a:ext cx="2628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E63946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E63946"/>
                </a:solidFill>
                <a:latin typeface="Malgun Gothic"/>
                <a:ea typeface="Malgun Gothic"/>
                <a:cs typeface="Malgun Gothic"/>
              </a:rPr>
              <a:t>2호선 강남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B29498CF-5920-42E7-881B-91297091C910}"/>
              </a:ext>
            </a:extLst>
          </p:cNvPr>
          <p:cNvSpPr>
            <a:spLocks noGrp="1"/>
          </p:cNvSpPr>
          <p:nvPr/>
        </p:nvSpPr>
        <p:spPr>
          <a:xfrm>
            <a:off x="9544050" y="3857625"/>
            <a:ext cx="2190750" cy="1238250"/>
          </a:xfrm>
          <a:prstGeom prst="rect">
            <a:avLst/>
          </a:prstGeom>
          <a:solidFill>
            <a:srgbClr val="F0F1F3"/>
          </a:solidFill>
          <a:ln w="0">
            <a:noFill/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C43AD5EF-C674-4ABD-B226-9F0D8D915E27}"/>
              </a:ext>
            </a:extLst>
          </p:cNvPr>
          <p:cNvSpPr>
            <a:spLocks noGrp="1"/>
          </p:cNvSpPr>
          <p:nvPr/>
        </p:nvSpPr>
        <p:spPr>
          <a:xfrm>
            <a:off x="9753600" y="4048125"/>
            <a:ext cx="1771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A등급 대상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D5A472C4-17EE-4767-8FB8-C5CB5D87F4EB}"/>
              </a:ext>
            </a:extLst>
          </p:cNvPr>
          <p:cNvSpPr>
            <a:spLocks noGrp="1"/>
          </p:cNvSpPr>
          <p:nvPr/>
        </p:nvSpPr>
        <p:spPr>
          <a:xfrm>
            <a:off x="9753600" y="4381500"/>
            <a:ext cx="17716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rPr>
              <a:t>69개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915975D7-03AA-4F20-903B-5A2D58471C4E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xmlns="" id="{DAE557CB-60C4-463E-9AD0-1433AD4E4C0D}"/>
              </a:ext>
            </a:extLst>
          </p:cNvPr>
          <p:cNvSpPr>
            <a:spLocks noGrp="1"/>
          </p:cNvSpPr>
          <p:nvPr/>
        </p:nvSpPr>
        <p:spPr>
          <a:xfrm>
            <a:off x="495300" y="5301208"/>
            <a:ext cx="9334500" cy="12519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 err="1">
                <a:solidFill>
                  <a:schemeClr val="bg1">
                    <a:lumMod val="50000"/>
                  </a:schemeClr>
                </a:solidFill>
                <a:latin typeface="Malgun Gothic"/>
                <a:ea typeface="Malgun Gothic"/>
                <a:cs typeface="Malgun Gothic"/>
              </a:rPr>
              <a:t>이어드림스쿨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Malgun Gothic"/>
                <a:ea typeface="Malgun Gothic"/>
                <a:cs typeface="Malgun Gothic"/>
              </a:rPr>
              <a:t>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Malgun Gothic"/>
                <a:ea typeface="Malgun Gothic"/>
                <a:cs typeface="Malgun Gothic"/>
              </a:rPr>
              <a:t>기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Malgun Gothic"/>
                <a:ea typeface="Malgun Gothic"/>
                <a:cs typeface="Malgun Gothic"/>
              </a:rPr>
              <a:t>미니프로젝트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Malgun Gothic"/>
                <a:ea typeface="Malgun Gothic"/>
                <a:cs typeface="Malgun Gothic"/>
              </a:rPr>
              <a:t>1</a:t>
            </a:r>
            <a:r>
              <a:rPr lang="ko-KR" altLang="en-US" dirty="0" smtClean="0">
                <a:solidFill>
                  <a:schemeClr val="bg1">
                    <a:lumMod val="50000"/>
                  </a:schemeClr>
                </a:solidFill>
                <a:latin typeface="Malgun Gothic"/>
                <a:ea typeface="Malgun Gothic"/>
                <a:cs typeface="Malgun Gothic"/>
              </a:rPr>
              <a:t>차</a:t>
            </a:r>
            <a:endParaRPr lang="en-US" altLang="ko-KR" dirty="0" smtClean="0">
              <a:solidFill>
                <a:schemeClr val="bg1">
                  <a:lumMod val="50000"/>
                </a:schemeClr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endParaRPr lang="ko-KR" altLang="en-US" dirty="0">
              <a:solidFill>
                <a:schemeClr val="bg1">
                  <a:lumMod val="50000"/>
                </a:schemeClr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Malgun Gothic"/>
                <a:ea typeface="Malgun Gothic"/>
                <a:cs typeface="Malgun Gothic"/>
              </a:rPr>
              <a:t>비대면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Malgun Gothic"/>
                <a:ea typeface="Malgun Gothic"/>
                <a:cs typeface="Malgun Gothic"/>
              </a:rPr>
              <a:t>12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Malgun Gothic"/>
                <a:ea typeface="Malgun Gothic"/>
                <a:cs typeface="Malgun Gothic"/>
              </a:rPr>
              <a:t>팀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Malgun Gothic"/>
                <a:ea typeface="Malgun Gothic"/>
                <a:cs typeface="Malgun Gothic"/>
              </a:rPr>
              <a:t>| 4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Malgun Gothic"/>
                <a:ea typeface="Malgun Gothic"/>
                <a:cs typeface="Malgun Gothic"/>
              </a:rPr>
              <a:t>코어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Malgun Gothic"/>
                <a:ea typeface="Malgun Gothic"/>
                <a:cs typeface="Malgun Gothic"/>
              </a:rPr>
              <a:t>12</a:t>
            </a:r>
            <a:r>
              <a:rPr lang="ko-KR" altLang="en-US" dirty="0" err="1">
                <a:solidFill>
                  <a:schemeClr val="bg1">
                    <a:lumMod val="50000"/>
                  </a:schemeClr>
                </a:solidFill>
                <a:latin typeface="Malgun Gothic"/>
                <a:ea typeface="Malgun Gothic"/>
                <a:cs typeface="Malgun Gothic"/>
              </a:rPr>
              <a:t>스레드</a:t>
            </a:r>
            <a:endParaRPr lang="ko-KR" altLang="en-US" dirty="0">
              <a:solidFill>
                <a:schemeClr val="bg1">
                  <a:lumMod val="50000"/>
                </a:schemeClr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17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Malgun Gothic"/>
                <a:ea typeface="Malgun Gothic"/>
                <a:cs typeface="Malgun Gothic"/>
              </a:rPr>
              <a:t>황윤찬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Malgun Gothic"/>
                <a:ea typeface="Malgun Gothic"/>
                <a:cs typeface="Malgun Gothic"/>
              </a:rPr>
              <a:t>허정모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lang="ko-KR" altLang="en-US" dirty="0" err="1" smtClean="0">
                <a:solidFill>
                  <a:schemeClr val="bg1">
                    <a:lumMod val="50000"/>
                  </a:schemeClr>
                </a:solidFill>
                <a:latin typeface="Malgun Gothic"/>
                <a:ea typeface="Malgun Gothic"/>
                <a:cs typeface="Malgun Gothic"/>
              </a:rPr>
              <a:t>김휘</a:t>
            </a:r>
            <a:endParaRPr b="0" dirty="0">
              <a:solidFill>
                <a:schemeClr val="bg1">
                  <a:lumMod val="50000"/>
                </a:schemeClr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321019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DF8A75D7-1BAA-4DAE-9650-0AE6EA7202A5}"/>
              </a:ext>
            </a:extLst>
          </p:cNvPr>
          <p:cNvSpPr>
            <a:spLocks noGrp="1"/>
          </p:cNvSpPr>
          <p:nvPr/>
        </p:nvSpPr>
        <p:spPr>
          <a:xfrm>
            <a:off x="400050" y="4572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83DD394C-56FD-4C87-A36A-05353107DAC5}"/>
              </a:ext>
            </a:extLst>
          </p:cNvPr>
          <p:cNvSpPr>
            <a:spLocks noGrp="1"/>
          </p:cNvSpPr>
          <p:nvPr/>
        </p:nvSpPr>
        <p:spPr>
          <a:xfrm>
            <a:off x="666750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5EC4422D-4F92-47BF-917F-B37B508F2B0C}"/>
              </a:ext>
            </a:extLst>
          </p:cNvPr>
          <p:cNvSpPr>
            <a:spLocks noGrp="1"/>
          </p:cNvSpPr>
          <p:nvPr/>
        </p:nvSpPr>
        <p:spPr>
          <a:xfrm>
            <a:off x="6753225" y="657225"/>
            <a:ext cx="895350" cy="2857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625034A1-471B-4160-9257-104499F76EE1}"/>
              </a:ext>
            </a:extLst>
          </p:cNvPr>
          <p:cNvSpPr>
            <a:spLocks noGrp="1"/>
          </p:cNvSpPr>
          <p:nvPr/>
        </p:nvSpPr>
        <p:spPr>
          <a:xfrm>
            <a:off x="786765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B1DCC747-CE3F-478A-831A-DAA97C3925C0}"/>
              </a:ext>
            </a:extLst>
          </p:cNvPr>
          <p:cNvSpPr>
            <a:spLocks noGrp="1"/>
          </p:cNvSpPr>
          <p:nvPr/>
        </p:nvSpPr>
        <p:spPr>
          <a:xfrm>
            <a:off x="7953375" y="657225"/>
            <a:ext cx="89535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A6467D6E-6E02-443C-AC96-C4CB284E5B5A}"/>
              </a:ext>
            </a:extLst>
          </p:cNvPr>
          <p:cNvSpPr>
            <a:spLocks noGrp="1"/>
          </p:cNvSpPr>
          <p:nvPr/>
        </p:nvSpPr>
        <p:spPr>
          <a:xfrm>
            <a:off x="906780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91714A3D-DD81-4207-939A-819A5ADB5BAC}"/>
              </a:ext>
            </a:extLst>
          </p:cNvPr>
          <p:cNvSpPr>
            <a:spLocks noGrp="1"/>
          </p:cNvSpPr>
          <p:nvPr/>
        </p:nvSpPr>
        <p:spPr>
          <a:xfrm>
            <a:off x="9153525" y="657225"/>
            <a:ext cx="89535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16EAF6DD-8001-4AD1-A374-0CBF86C947D7}"/>
              </a:ext>
            </a:extLst>
          </p:cNvPr>
          <p:cNvSpPr>
            <a:spLocks noGrp="1"/>
          </p:cNvSpPr>
          <p:nvPr/>
        </p:nvSpPr>
        <p:spPr>
          <a:xfrm>
            <a:off x="1026795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6754A818-B8E2-40AD-9EEC-5293E656D0A2}"/>
              </a:ext>
            </a:extLst>
          </p:cNvPr>
          <p:cNvSpPr>
            <a:spLocks noGrp="1"/>
          </p:cNvSpPr>
          <p:nvPr/>
        </p:nvSpPr>
        <p:spPr>
          <a:xfrm>
            <a:off x="10353675" y="657225"/>
            <a:ext cx="89535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6F276076-E5B5-415F-9182-1529A6686106}"/>
              </a:ext>
            </a:extLst>
          </p:cNvPr>
          <p:cNvSpPr>
            <a:spLocks noGrp="1"/>
          </p:cNvSpPr>
          <p:nvPr/>
        </p:nvSpPr>
        <p:spPr>
          <a:xfrm>
            <a:off x="400050" y="2000250"/>
            <a:ext cx="9525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데이터 분석 문제 정의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4A60B984-78F0-45E4-88FD-157F02143E5D}"/>
              </a:ext>
            </a:extLst>
          </p:cNvPr>
          <p:cNvSpPr>
            <a:spLocks noGrp="1"/>
          </p:cNvSpPr>
          <p:nvPr/>
        </p:nvSpPr>
        <p:spPr>
          <a:xfrm>
            <a:off x="457200" y="3095625"/>
            <a:ext cx="857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혼잡 완화의 질문을 운영 자원 배치 문제로 바꾼다.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20988711-E9AE-48B3-9F8D-684D5B1050EE}"/>
              </a:ext>
            </a:extLst>
          </p:cNvPr>
          <p:cNvSpPr>
            <a:spLocks noGrp="1"/>
          </p:cNvSpPr>
          <p:nvPr/>
        </p:nvSpPr>
        <p:spPr>
          <a:xfrm>
            <a:off x="400050" y="5953125"/>
            <a:ext cx="11391900" cy="190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E7B67F2E-BCD3-48FE-A05A-27F2E9E9465F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6BAADE11-90E9-40C8-B9FD-2661AFDEFA35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24864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>
            <a:extLst>
              <a:ext uri="{FF2B5EF4-FFF2-40B4-BE49-F238E27FC236}">
                <a16:creationId xmlns:a16="http://schemas.microsoft.com/office/drawing/2014/main" xmlns="" id="{290621C7-2096-41D0-931C-0E839010B93F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9220BD98-CD0B-4014-9411-59C4AADC31EF}"/>
              </a:ext>
            </a:extLst>
          </p:cNvPr>
          <p:cNvSpPr>
            <a:spLocks noGrp="1"/>
          </p:cNvSpPr>
          <p:nvPr/>
        </p:nvSpPr>
        <p:spPr>
          <a:xfrm>
            <a:off x="666750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DDA6E018-CD0C-4302-9A53-757CF2867FD1}"/>
              </a:ext>
            </a:extLst>
          </p:cNvPr>
          <p:cNvSpPr>
            <a:spLocks noGrp="1"/>
          </p:cNvSpPr>
          <p:nvPr/>
        </p:nvSpPr>
        <p:spPr>
          <a:xfrm>
            <a:off x="6753225" y="657225"/>
            <a:ext cx="895350" cy="2857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332CDA29-B09C-41C8-9580-281055693203}"/>
              </a:ext>
            </a:extLst>
          </p:cNvPr>
          <p:cNvSpPr>
            <a:spLocks noGrp="1"/>
          </p:cNvSpPr>
          <p:nvPr/>
        </p:nvSpPr>
        <p:spPr>
          <a:xfrm>
            <a:off x="786765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4216A25B-DFFF-471D-A0E1-53D1364555D6}"/>
              </a:ext>
            </a:extLst>
          </p:cNvPr>
          <p:cNvSpPr>
            <a:spLocks noGrp="1"/>
          </p:cNvSpPr>
          <p:nvPr/>
        </p:nvSpPr>
        <p:spPr>
          <a:xfrm>
            <a:off x="7953375" y="657225"/>
            <a:ext cx="89535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DFECDF69-25DE-4EA2-9167-E9DC2BBEDEB6}"/>
              </a:ext>
            </a:extLst>
          </p:cNvPr>
          <p:cNvSpPr>
            <a:spLocks noGrp="1"/>
          </p:cNvSpPr>
          <p:nvPr/>
        </p:nvSpPr>
        <p:spPr>
          <a:xfrm>
            <a:off x="906780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87A5A7E6-6DFD-40B8-A54E-83BD8CFA1067}"/>
              </a:ext>
            </a:extLst>
          </p:cNvPr>
          <p:cNvSpPr>
            <a:spLocks noGrp="1"/>
          </p:cNvSpPr>
          <p:nvPr/>
        </p:nvSpPr>
        <p:spPr>
          <a:xfrm>
            <a:off x="9153525" y="657225"/>
            <a:ext cx="89535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DA0DBD36-56B5-438B-9759-F120B895FCF9}"/>
              </a:ext>
            </a:extLst>
          </p:cNvPr>
          <p:cNvSpPr>
            <a:spLocks noGrp="1"/>
          </p:cNvSpPr>
          <p:nvPr/>
        </p:nvSpPr>
        <p:spPr>
          <a:xfrm>
            <a:off x="1026795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19820727-3AAD-4EAE-B263-96DD73EDE142}"/>
              </a:ext>
            </a:extLst>
          </p:cNvPr>
          <p:cNvSpPr>
            <a:spLocks noGrp="1"/>
          </p:cNvSpPr>
          <p:nvPr/>
        </p:nvSpPr>
        <p:spPr>
          <a:xfrm>
            <a:off x="10353675" y="657225"/>
            <a:ext cx="89535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FB6C5026-299C-4BAE-885E-0448398EE099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8953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SCQA: 그래서 어디에, 언제, 무엇을 해야 하는가?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01F2D5EB-371E-43C3-AED7-796E73702C21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C61BAD13-492F-48A3-BE7E-5A6C5196E587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2D27827A-FC44-40B7-BB96-8DD92D79C162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EE7936E6-3B24-4DEE-A9F1-6D8D8AB516AC}"/>
              </a:ext>
            </a:extLst>
          </p:cNvPr>
          <p:cNvSpPr>
            <a:spLocks noGrp="1"/>
          </p:cNvSpPr>
          <p:nvPr/>
        </p:nvSpPr>
        <p:spPr>
          <a:xfrm>
            <a:off x="742950" y="1809750"/>
            <a:ext cx="1066800" cy="838200"/>
          </a:xfrm>
          <a:prstGeom prst="rect">
            <a:avLst/>
          </a:prstGeom>
          <a:solidFill>
            <a:srgbClr val="F0F1F3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EB98F010-9BFE-41E2-B74D-339C2FBA1D3E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8763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S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92C67191-9EF4-4AB8-B632-0EF9FAE8B27C}"/>
              </a:ext>
            </a:extLst>
          </p:cNvPr>
          <p:cNvSpPr>
            <a:spLocks noGrp="1"/>
          </p:cNvSpPr>
          <p:nvPr/>
        </p:nvSpPr>
        <p:spPr>
          <a:xfrm>
            <a:off x="1809750" y="1809750"/>
            <a:ext cx="9601200" cy="838200"/>
          </a:xfrm>
          <a:prstGeom prst="rect">
            <a:avLst/>
          </a:prstGeom>
          <a:solidFill>
            <a:srgbClr val="F0F1F3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912E5331-CDBD-49FD-A9EB-8482ADCF8EA3}"/>
              </a:ext>
            </a:extLst>
          </p:cNvPr>
          <p:cNvSpPr>
            <a:spLocks noGrp="1"/>
          </p:cNvSpPr>
          <p:nvPr/>
        </p:nvSpPr>
        <p:spPr>
          <a:xfrm>
            <a:off x="1905000" y="1885950"/>
            <a:ext cx="94107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서울 지하철 수요는 시간대와 역에 따라 크게 달라진다.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82CD4392-ECD5-4E90-A3FC-4B89B3D3449E}"/>
              </a:ext>
            </a:extLst>
          </p:cNvPr>
          <p:cNvSpPr>
            <a:spLocks noGrp="1"/>
          </p:cNvSpPr>
          <p:nvPr/>
        </p:nvSpPr>
        <p:spPr>
          <a:xfrm>
            <a:off x="742950" y="2647950"/>
            <a:ext cx="10668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xmlns="" id="{AD2E1A95-BD65-422D-A260-528A9305E20E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8763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C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xmlns="" id="{9CD8C152-F6C2-4220-9B4F-871AA2C551A6}"/>
              </a:ext>
            </a:extLst>
          </p:cNvPr>
          <p:cNvSpPr>
            <a:spLocks noGrp="1"/>
          </p:cNvSpPr>
          <p:nvPr/>
        </p:nvSpPr>
        <p:spPr>
          <a:xfrm>
            <a:off x="1809750" y="2647950"/>
            <a:ext cx="96012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xmlns="" id="{DC993CC6-8199-40FD-9FC5-3D74F86BC910}"/>
              </a:ext>
            </a:extLst>
          </p:cNvPr>
          <p:cNvSpPr>
            <a:spLocks noGrp="1"/>
          </p:cNvSpPr>
          <p:nvPr/>
        </p:nvSpPr>
        <p:spPr>
          <a:xfrm>
            <a:off x="1905000" y="2724150"/>
            <a:ext cx="94107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모든 역에 같은 방식으로 자원을 배치하면 실제 혼잡 지점 대응이 어렵다.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xmlns="" id="{D5E8E089-92B8-468A-BF1D-1497F168118B}"/>
              </a:ext>
            </a:extLst>
          </p:cNvPr>
          <p:cNvSpPr>
            <a:spLocks noGrp="1"/>
          </p:cNvSpPr>
          <p:nvPr/>
        </p:nvSpPr>
        <p:spPr>
          <a:xfrm>
            <a:off x="742950" y="3486150"/>
            <a:ext cx="10668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xmlns="" id="{15C3444D-6AC7-4FCE-89E1-E514E6E61963}"/>
              </a:ext>
            </a:extLst>
          </p:cNvPr>
          <p:cNvSpPr>
            <a:spLocks noGrp="1"/>
          </p:cNvSpPr>
          <p:nvPr/>
        </p:nvSpPr>
        <p:spPr>
          <a:xfrm>
            <a:off x="838200" y="3562350"/>
            <a:ext cx="8763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Q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xmlns="" id="{9F8801F1-30BD-41C8-A8EA-026B3969FF72}"/>
              </a:ext>
            </a:extLst>
          </p:cNvPr>
          <p:cNvSpPr>
            <a:spLocks noGrp="1"/>
          </p:cNvSpPr>
          <p:nvPr/>
        </p:nvSpPr>
        <p:spPr>
          <a:xfrm>
            <a:off x="1809750" y="3486150"/>
            <a:ext cx="96012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xmlns="" id="{DC250839-5E4C-4C18-886B-EF1234497FF0}"/>
              </a:ext>
            </a:extLst>
          </p:cNvPr>
          <p:cNvSpPr>
            <a:spLocks noGrp="1"/>
          </p:cNvSpPr>
          <p:nvPr/>
        </p:nvSpPr>
        <p:spPr>
          <a:xfrm>
            <a:off x="1905000" y="3562350"/>
            <a:ext cx="94107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혼잡 완화를 위해 운영 자원을 어디에, 언제, 어떤 방식으로 우선 배치해야 하는가?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xmlns="" id="{D52F58BB-2EFC-4A63-818D-9F49BAB896D8}"/>
              </a:ext>
            </a:extLst>
          </p:cNvPr>
          <p:cNvSpPr>
            <a:spLocks noGrp="1"/>
          </p:cNvSpPr>
          <p:nvPr/>
        </p:nvSpPr>
        <p:spPr>
          <a:xfrm>
            <a:off x="742950" y="4324350"/>
            <a:ext cx="10668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xmlns="" id="{E744876F-5C7D-4C33-B8C4-2ED8638CB4B8}"/>
              </a:ext>
            </a:extLst>
          </p:cNvPr>
          <p:cNvSpPr>
            <a:spLocks noGrp="1"/>
          </p:cNvSpPr>
          <p:nvPr/>
        </p:nvSpPr>
        <p:spPr>
          <a:xfrm>
            <a:off x="838200" y="4400550"/>
            <a:ext cx="8763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xmlns="" id="{5701503F-C560-40D3-882E-7EBF372C0389}"/>
              </a:ext>
            </a:extLst>
          </p:cNvPr>
          <p:cNvSpPr>
            <a:spLocks noGrp="1"/>
          </p:cNvSpPr>
          <p:nvPr/>
        </p:nvSpPr>
        <p:spPr>
          <a:xfrm>
            <a:off x="1809750" y="4324350"/>
            <a:ext cx="96012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xmlns="" id="{BD89B618-6097-4673-A489-0C802D3C2F0D}"/>
              </a:ext>
            </a:extLst>
          </p:cNvPr>
          <p:cNvSpPr>
            <a:spLocks noGrp="1"/>
          </p:cNvSpPr>
          <p:nvPr/>
        </p:nvSpPr>
        <p:spPr>
          <a:xfrm>
            <a:off x="1905000" y="4400550"/>
            <a:ext cx="94107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피크 시간대와 고혼잡 역 중심의 선별적 혼잡 완화 전략이 필요하다.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xmlns="" id="{684CF437-C9A4-4932-98CC-FF632FACF0C6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xmlns="" id="{D39F90F2-0A56-4983-8965-A27F7E45FD74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74343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>
            <a:extLst>
              <a:ext uri="{FF2B5EF4-FFF2-40B4-BE49-F238E27FC236}">
                <a16:creationId xmlns:a16="http://schemas.microsoft.com/office/drawing/2014/main" xmlns="" id="{CC7A1975-34E4-4547-BF46-83890F25BBA4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D08A065D-CA95-4F63-95FB-23FDDE489556}"/>
              </a:ext>
            </a:extLst>
          </p:cNvPr>
          <p:cNvSpPr>
            <a:spLocks noGrp="1"/>
          </p:cNvSpPr>
          <p:nvPr/>
        </p:nvSpPr>
        <p:spPr>
          <a:xfrm>
            <a:off x="666750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E5256DF4-AC48-4A80-897C-EFC3F83A138B}"/>
              </a:ext>
            </a:extLst>
          </p:cNvPr>
          <p:cNvSpPr>
            <a:spLocks noGrp="1"/>
          </p:cNvSpPr>
          <p:nvPr/>
        </p:nvSpPr>
        <p:spPr>
          <a:xfrm>
            <a:off x="6753225" y="657225"/>
            <a:ext cx="895350" cy="2857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417DE6FE-50B2-4D1F-B406-107F1BD1CF5B}"/>
              </a:ext>
            </a:extLst>
          </p:cNvPr>
          <p:cNvSpPr>
            <a:spLocks noGrp="1"/>
          </p:cNvSpPr>
          <p:nvPr/>
        </p:nvSpPr>
        <p:spPr>
          <a:xfrm>
            <a:off x="786765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BC346DEC-9870-43BD-B6C1-7CEC3D7D9106}"/>
              </a:ext>
            </a:extLst>
          </p:cNvPr>
          <p:cNvSpPr>
            <a:spLocks noGrp="1"/>
          </p:cNvSpPr>
          <p:nvPr/>
        </p:nvSpPr>
        <p:spPr>
          <a:xfrm>
            <a:off x="7953375" y="657225"/>
            <a:ext cx="89535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B37EC755-4DCF-42ED-938F-7DCA0B55A976}"/>
              </a:ext>
            </a:extLst>
          </p:cNvPr>
          <p:cNvSpPr>
            <a:spLocks noGrp="1"/>
          </p:cNvSpPr>
          <p:nvPr/>
        </p:nvSpPr>
        <p:spPr>
          <a:xfrm>
            <a:off x="906780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E3FA3661-404A-4B91-A10F-8A4A51372CB8}"/>
              </a:ext>
            </a:extLst>
          </p:cNvPr>
          <p:cNvSpPr>
            <a:spLocks noGrp="1"/>
          </p:cNvSpPr>
          <p:nvPr/>
        </p:nvSpPr>
        <p:spPr>
          <a:xfrm>
            <a:off x="9153525" y="657225"/>
            <a:ext cx="89535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D73CDEE9-6CFC-4673-90E2-FC934A1DCD56}"/>
              </a:ext>
            </a:extLst>
          </p:cNvPr>
          <p:cNvSpPr>
            <a:spLocks noGrp="1"/>
          </p:cNvSpPr>
          <p:nvPr/>
        </p:nvSpPr>
        <p:spPr>
          <a:xfrm>
            <a:off x="1026795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A2BF99A9-DBC6-4BB2-B726-486D9D949B3A}"/>
              </a:ext>
            </a:extLst>
          </p:cNvPr>
          <p:cNvSpPr>
            <a:spLocks noGrp="1"/>
          </p:cNvSpPr>
          <p:nvPr/>
        </p:nvSpPr>
        <p:spPr>
          <a:xfrm>
            <a:off x="10353675" y="657225"/>
            <a:ext cx="89535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BC8DE68D-5357-4632-947D-7792DB249F4D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8953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분석 범위와 한계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CCD59FBF-AEB3-408F-BD3D-3442C77D3D9A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1FC6E0D3-5A35-4D17-A340-477C82ED8854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33570EB8-6C04-42DE-8F36-37E78BC7E343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21385FFF-E918-4629-A8FC-A9A80D7655B4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2381250" cy="1238250"/>
          </a:xfrm>
          <a:prstGeom prst="rect">
            <a:avLst/>
          </a:prstGeom>
          <a:solidFill>
            <a:srgbClr val="F0F1F3"/>
          </a:solidFill>
          <a:ln w="0">
            <a:noFill/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913BDC86-582C-413A-A4B9-9C81617A23A7}"/>
              </a:ext>
            </a:extLst>
          </p:cNvPr>
          <p:cNvSpPr>
            <a:spLocks noGrp="1"/>
          </p:cNvSpPr>
          <p:nvPr/>
        </p:nvSpPr>
        <p:spPr>
          <a:xfrm>
            <a:off x="895350" y="2000250"/>
            <a:ext cx="1962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기간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6D3F7E7A-4B29-4DE8-B118-FF2DBED5B18C}"/>
              </a:ext>
            </a:extLst>
          </p:cNvPr>
          <p:cNvSpPr>
            <a:spLocks noGrp="1"/>
          </p:cNvSpPr>
          <p:nvPr/>
        </p:nvSpPr>
        <p:spPr>
          <a:xfrm>
            <a:off x="895350" y="2333625"/>
            <a:ext cx="19621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2015.01-2021.06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C0B0EFCA-0459-4479-B09D-E14A60A1B656}"/>
              </a:ext>
            </a:extLst>
          </p:cNvPr>
          <p:cNvSpPr>
            <a:spLocks noGrp="1"/>
          </p:cNvSpPr>
          <p:nvPr/>
        </p:nvSpPr>
        <p:spPr>
          <a:xfrm>
            <a:off x="3352800" y="1809750"/>
            <a:ext cx="2381250" cy="1238250"/>
          </a:xfrm>
          <a:prstGeom prst="rect">
            <a:avLst/>
          </a:prstGeom>
          <a:solidFill>
            <a:srgbClr val="F0F1F3"/>
          </a:solidFill>
          <a:ln w="0">
            <a:noFill/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5607241D-6932-425B-8B3A-7F673DC6AD4E}"/>
              </a:ext>
            </a:extLst>
          </p:cNvPr>
          <p:cNvSpPr>
            <a:spLocks noGrp="1"/>
          </p:cNvSpPr>
          <p:nvPr/>
        </p:nvSpPr>
        <p:spPr>
          <a:xfrm>
            <a:off x="3562350" y="2000250"/>
            <a:ext cx="1962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원천 행 수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xmlns="" id="{AE526A71-D30C-4FFD-A7AA-04924CE76B16}"/>
              </a:ext>
            </a:extLst>
          </p:cNvPr>
          <p:cNvSpPr>
            <a:spLocks noGrp="1"/>
          </p:cNvSpPr>
          <p:nvPr/>
        </p:nvSpPr>
        <p:spPr>
          <a:xfrm>
            <a:off x="3562350" y="2333625"/>
            <a:ext cx="19621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457B9D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457B9D"/>
                </a:solidFill>
                <a:latin typeface="Malgun Gothic"/>
                <a:ea typeface="Malgun Gothic"/>
                <a:cs typeface="Malgun Gothic"/>
              </a:rPr>
              <a:t>45,338행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xmlns="" id="{8F5A0947-2536-489A-A764-0BF94E8375DE}"/>
              </a:ext>
            </a:extLst>
          </p:cNvPr>
          <p:cNvSpPr>
            <a:spLocks noGrp="1"/>
          </p:cNvSpPr>
          <p:nvPr/>
        </p:nvSpPr>
        <p:spPr>
          <a:xfrm>
            <a:off x="6019800" y="1809750"/>
            <a:ext cx="2667000" cy="1238250"/>
          </a:xfrm>
          <a:prstGeom prst="rect">
            <a:avLst/>
          </a:prstGeom>
          <a:solidFill>
            <a:srgbClr val="F0F1F3"/>
          </a:solidFill>
          <a:ln w="0">
            <a:noFill/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xmlns="" id="{B3D0EC72-4CBF-4220-A7D2-3E148EA4FA0B}"/>
              </a:ext>
            </a:extLst>
          </p:cNvPr>
          <p:cNvSpPr>
            <a:spLocks noGrp="1"/>
          </p:cNvSpPr>
          <p:nvPr/>
        </p:nvSpPr>
        <p:spPr>
          <a:xfrm>
            <a:off x="6229350" y="2000250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Long 변환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xmlns="" id="{98900C0E-267C-4B3C-9869-4EA8CFC163AD}"/>
              </a:ext>
            </a:extLst>
          </p:cNvPr>
          <p:cNvSpPr>
            <a:spLocks noGrp="1"/>
          </p:cNvSpPr>
          <p:nvPr/>
        </p:nvSpPr>
        <p:spPr>
          <a:xfrm>
            <a:off x="6229350" y="2333625"/>
            <a:ext cx="2247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rPr>
              <a:t>1,088,112행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xmlns="" id="{D69C9C57-1DB9-44A6-BE8C-C3496A029750}"/>
              </a:ext>
            </a:extLst>
          </p:cNvPr>
          <p:cNvSpPr>
            <a:spLocks noGrp="1"/>
          </p:cNvSpPr>
          <p:nvPr/>
        </p:nvSpPr>
        <p:spPr>
          <a:xfrm>
            <a:off x="8972550" y="1809750"/>
            <a:ext cx="2381250" cy="1238250"/>
          </a:xfrm>
          <a:prstGeom prst="rect">
            <a:avLst/>
          </a:prstGeom>
          <a:solidFill>
            <a:srgbClr val="F0F1F3"/>
          </a:solidFill>
          <a:ln w="0">
            <a:noFill/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xmlns="" id="{F46D56D1-DC18-4B14-901D-B2E5E5828EAE}"/>
              </a:ext>
            </a:extLst>
          </p:cNvPr>
          <p:cNvSpPr>
            <a:spLocks noGrp="1"/>
          </p:cNvSpPr>
          <p:nvPr/>
        </p:nvSpPr>
        <p:spPr>
          <a:xfrm>
            <a:off x="9182100" y="2000250"/>
            <a:ext cx="1962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지도 매칭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xmlns="" id="{09EDE1FA-58A5-403A-B4F3-2660A80115B1}"/>
              </a:ext>
            </a:extLst>
          </p:cNvPr>
          <p:cNvSpPr>
            <a:spLocks noGrp="1"/>
          </p:cNvSpPr>
          <p:nvPr/>
        </p:nvSpPr>
        <p:spPr>
          <a:xfrm>
            <a:off x="9182100" y="2333625"/>
            <a:ext cx="19621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E63946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E63946"/>
                </a:solidFill>
                <a:latin typeface="Malgun Gothic"/>
                <a:ea typeface="Malgun Gothic"/>
                <a:cs typeface="Malgun Gothic"/>
              </a:rPr>
              <a:t>601/685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xmlns="" id="{A75613FA-3471-4D18-8832-D813A8345A79}"/>
              </a:ext>
            </a:extLst>
          </p:cNvPr>
          <p:cNvSpPr>
            <a:spLocks noGrp="1"/>
          </p:cNvSpPr>
          <p:nvPr/>
        </p:nvSpPr>
        <p:spPr>
          <a:xfrm>
            <a:off x="876300" y="371475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xmlns="" id="{2E0307D8-8CC9-4BDF-8766-EBEA34C83963}"/>
              </a:ext>
            </a:extLst>
          </p:cNvPr>
          <p:cNvSpPr>
            <a:spLocks noGrp="1"/>
          </p:cNvSpPr>
          <p:nvPr/>
        </p:nvSpPr>
        <p:spPr>
          <a:xfrm>
            <a:off x="1162050" y="3714750"/>
            <a:ext cx="1000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혼잡도는 실제 열차 혼잡률이 아니라 승하차 유동량 기반 대리지표다.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xmlns="" id="{2F8E3CFF-D899-48F3-A6DA-8BA896548048}"/>
              </a:ext>
            </a:extLst>
          </p:cNvPr>
          <p:cNvSpPr>
            <a:spLocks noGrp="1"/>
          </p:cNvSpPr>
          <p:nvPr/>
        </p:nvSpPr>
        <p:spPr>
          <a:xfrm>
            <a:off x="876300" y="424815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xmlns="" id="{9AC5792A-4D9E-4D5D-9906-38D4C02F38D5}"/>
              </a:ext>
            </a:extLst>
          </p:cNvPr>
          <p:cNvSpPr>
            <a:spLocks noGrp="1"/>
          </p:cNvSpPr>
          <p:nvPr/>
        </p:nvSpPr>
        <p:spPr>
          <a:xfrm>
            <a:off x="1162050" y="4248150"/>
            <a:ext cx="1000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차량 정원, 운행 횟수, 승강장 면적이 없으므로 실제 혼잡률은 확인 필요다.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xmlns="" id="{21ABE776-1662-420B-8705-3F88C81CDC38}"/>
              </a:ext>
            </a:extLst>
          </p:cNvPr>
          <p:cNvSpPr>
            <a:spLocks noGrp="1"/>
          </p:cNvSpPr>
          <p:nvPr/>
        </p:nvSpPr>
        <p:spPr>
          <a:xfrm>
            <a:off x="876300" y="4781550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xmlns="" id="{27FCF108-B3D0-4587-8C25-9268E84D9E3D}"/>
              </a:ext>
            </a:extLst>
          </p:cNvPr>
          <p:cNvSpPr>
            <a:spLocks noGrp="1"/>
          </p:cNvSpPr>
          <p:nvPr/>
        </p:nvSpPr>
        <p:spPr>
          <a:xfrm>
            <a:off x="1162050" y="4781550"/>
            <a:ext cx="1000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월 단위 집계 데이터이므로 일별 이벤트와 열차 1편 단위 혼잡은 제외한다.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xmlns="" id="{66F6D472-4C1F-4DAA-A7E9-7518DCA6F56B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xmlns="" id="{7BE95BB2-7037-4B9A-9E79-7814362ED36B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06298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42455B12-6ACF-423B-B545-3C87469DBCF4}"/>
              </a:ext>
            </a:extLst>
          </p:cNvPr>
          <p:cNvSpPr>
            <a:spLocks noGrp="1"/>
          </p:cNvSpPr>
          <p:nvPr/>
        </p:nvSpPr>
        <p:spPr>
          <a:xfrm>
            <a:off x="400050" y="4572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41C02434-308E-4719-BDDB-8CF51B21BCDD}"/>
              </a:ext>
            </a:extLst>
          </p:cNvPr>
          <p:cNvSpPr>
            <a:spLocks noGrp="1"/>
          </p:cNvSpPr>
          <p:nvPr/>
        </p:nvSpPr>
        <p:spPr>
          <a:xfrm>
            <a:off x="666750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F19DBB9F-8914-4B43-80D7-936363AB64FB}"/>
              </a:ext>
            </a:extLst>
          </p:cNvPr>
          <p:cNvSpPr>
            <a:spLocks noGrp="1"/>
          </p:cNvSpPr>
          <p:nvPr/>
        </p:nvSpPr>
        <p:spPr>
          <a:xfrm>
            <a:off x="6753225" y="657225"/>
            <a:ext cx="89535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B54C5CE4-CB22-422A-940C-ADC893815430}"/>
              </a:ext>
            </a:extLst>
          </p:cNvPr>
          <p:cNvSpPr>
            <a:spLocks noGrp="1"/>
          </p:cNvSpPr>
          <p:nvPr/>
        </p:nvSpPr>
        <p:spPr>
          <a:xfrm>
            <a:off x="786765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C59E2584-6C01-4C04-B816-F2A143C12FC9}"/>
              </a:ext>
            </a:extLst>
          </p:cNvPr>
          <p:cNvSpPr>
            <a:spLocks noGrp="1"/>
          </p:cNvSpPr>
          <p:nvPr/>
        </p:nvSpPr>
        <p:spPr>
          <a:xfrm>
            <a:off x="7953375" y="657225"/>
            <a:ext cx="895350" cy="2857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93AA4FB8-F97B-49A9-8B8C-9CC62F004AC5}"/>
              </a:ext>
            </a:extLst>
          </p:cNvPr>
          <p:cNvSpPr>
            <a:spLocks noGrp="1"/>
          </p:cNvSpPr>
          <p:nvPr/>
        </p:nvSpPr>
        <p:spPr>
          <a:xfrm>
            <a:off x="906780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188302B3-82FD-45E1-B059-345711D6E2F7}"/>
              </a:ext>
            </a:extLst>
          </p:cNvPr>
          <p:cNvSpPr>
            <a:spLocks noGrp="1"/>
          </p:cNvSpPr>
          <p:nvPr/>
        </p:nvSpPr>
        <p:spPr>
          <a:xfrm>
            <a:off x="9153525" y="657225"/>
            <a:ext cx="89535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50785AAF-53C2-4B3C-BD5F-82179520424B}"/>
              </a:ext>
            </a:extLst>
          </p:cNvPr>
          <p:cNvSpPr>
            <a:spLocks noGrp="1"/>
          </p:cNvSpPr>
          <p:nvPr/>
        </p:nvSpPr>
        <p:spPr>
          <a:xfrm>
            <a:off x="1026795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A91945DD-9599-4CCB-A65C-22C9ECAE77DF}"/>
              </a:ext>
            </a:extLst>
          </p:cNvPr>
          <p:cNvSpPr>
            <a:spLocks noGrp="1"/>
          </p:cNvSpPr>
          <p:nvPr/>
        </p:nvSpPr>
        <p:spPr>
          <a:xfrm>
            <a:off x="10353675" y="657225"/>
            <a:ext cx="89535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9C26E4FA-1423-4D11-B993-5BBBBFBDCE20}"/>
              </a:ext>
            </a:extLst>
          </p:cNvPr>
          <p:cNvSpPr>
            <a:spLocks noGrp="1"/>
          </p:cNvSpPr>
          <p:nvPr/>
        </p:nvSpPr>
        <p:spPr>
          <a:xfrm>
            <a:off x="400050" y="2000250"/>
            <a:ext cx="9525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피라미드 근거와 통계 분석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6B3D1573-0741-41D4-8269-0FB2298FFD9A}"/>
              </a:ext>
            </a:extLst>
          </p:cNvPr>
          <p:cNvSpPr>
            <a:spLocks noGrp="1"/>
          </p:cNvSpPr>
          <p:nvPr/>
        </p:nvSpPr>
        <p:spPr>
          <a:xfrm>
            <a:off x="457200" y="3095625"/>
            <a:ext cx="857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핵심 주장을 세 개의 MECE 근거로 분해하고 통계로 확인한다.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72F01ACF-D3F9-42E5-B200-2512697EBE7C}"/>
              </a:ext>
            </a:extLst>
          </p:cNvPr>
          <p:cNvSpPr>
            <a:spLocks noGrp="1"/>
          </p:cNvSpPr>
          <p:nvPr/>
        </p:nvSpPr>
        <p:spPr>
          <a:xfrm>
            <a:off x="400050" y="5953125"/>
            <a:ext cx="11391900" cy="190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F27EE3E9-C5AE-4255-B363-236287839AEB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1B018AAF-3EAC-4480-9BCD-FF03F98E54F2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55774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xmlns="" id="{7E5F439F-8090-4CC2-8965-FFB919A828BE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D23C575E-ED81-4432-8116-304CF159529A}"/>
              </a:ext>
            </a:extLst>
          </p:cNvPr>
          <p:cNvSpPr>
            <a:spLocks noGrp="1"/>
          </p:cNvSpPr>
          <p:nvPr/>
        </p:nvSpPr>
        <p:spPr>
          <a:xfrm>
            <a:off x="666750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96E83A53-AB2C-4E7D-BDA0-A24CF7CAB43A}"/>
              </a:ext>
            </a:extLst>
          </p:cNvPr>
          <p:cNvSpPr>
            <a:spLocks noGrp="1"/>
          </p:cNvSpPr>
          <p:nvPr/>
        </p:nvSpPr>
        <p:spPr>
          <a:xfrm>
            <a:off x="6753225" y="657225"/>
            <a:ext cx="89535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5A6CBED3-7588-46B5-A366-F32F09F762FE}"/>
              </a:ext>
            </a:extLst>
          </p:cNvPr>
          <p:cNvSpPr>
            <a:spLocks noGrp="1"/>
          </p:cNvSpPr>
          <p:nvPr/>
        </p:nvSpPr>
        <p:spPr>
          <a:xfrm>
            <a:off x="786765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E33340E0-81F0-46F1-8959-A5738DD5B5DA}"/>
              </a:ext>
            </a:extLst>
          </p:cNvPr>
          <p:cNvSpPr>
            <a:spLocks noGrp="1"/>
          </p:cNvSpPr>
          <p:nvPr/>
        </p:nvSpPr>
        <p:spPr>
          <a:xfrm>
            <a:off x="7953375" y="657225"/>
            <a:ext cx="895350" cy="2857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771D95F6-86B9-4E5C-A673-70A91B6D2BD0}"/>
              </a:ext>
            </a:extLst>
          </p:cNvPr>
          <p:cNvSpPr>
            <a:spLocks noGrp="1"/>
          </p:cNvSpPr>
          <p:nvPr/>
        </p:nvSpPr>
        <p:spPr>
          <a:xfrm>
            <a:off x="906780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B00AF5B3-9F2A-4B1F-BF09-E666612832BA}"/>
              </a:ext>
            </a:extLst>
          </p:cNvPr>
          <p:cNvSpPr>
            <a:spLocks noGrp="1"/>
          </p:cNvSpPr>
          <p:nvPr/>
        </p:nvSpPr>
        <p:spPr>
          <a:xfrm>
            <a:off x="9153525" y="657225"/>
            <a:ext cx="89535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DA34EFFF-F1DC-4D83-B0CB-955CF436F943}"/>
              </a:ext>
            </a:extLst>
          </p:cNvPr>
          <p:cNvSpPr>
            <a:spLocks noGrp="1"/>
          </p:cNvSpPr>
          <p:nvPr/>
        </p:nvSpPr>
        <p:spPr>
          <a:xfrm>
            <a:off x="1026795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135025A4-CA2C-4746-9021-E3524F3952CC}"/>
              </a:ext>
            </a:extLst>
          </p:cNvPr>
          <p:cNvSpPr>
            <a:spLocks noGrp="1"/>
          </p:cNvSpPr>
          <p:nvPr/>
        </p:nvSpPr>
        <p:spPr>
          <a:xfrm>
            <a:off x="10353675" y="657225"/>
            <a:ext cx="89535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132F113C-EAF7-4DAB-99D6-982FD8BAD557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8953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피라미드 구조: 주장 → 근거 → 데이터 → 통계분석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F6980A66-0B3A-41EE-8816-EF2F068A63C2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3E0BFC0B-2421-4CE1-820D-7233EEAF3469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AA49203C-2574-492A-8302-3EEE8F068496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74477DE3-E30B-4872-A130-2AC8BC3B845D}"/>
              </a:ext>
            </a:extLst>
          </p:cNvPr>
          <p:cNvSpPr>
            <a:spLocks noGrp="1"/>
          </p:cNvSpPr>
          <p:nvPr/>
        </p:nvSpPr>
        <p:spPr>
          <a:xfrm>
            <a:off x="857250" y="1619250"/>
            <a:ext cx="10477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서울 지하철 혼잡 관리는 전체 평균이 아니라 피크 시간대, 고혼잡 역, 승하차 방향성 기준으로 선별 설계해야 한다.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FC552332-347C-4E56-AAD5-F9C64A88CA04}"/>
              </a:ext>
            </a:extLst>
          </p:cNvPr>
          <p:cNvSpPr>
            <a:spLocks noGrp="1"/>
          </p:cNvSpPr>
          <p:nvPr/>
        </p:nvSpPr>
        <p:spPr>
          <a:xfrm>
            <a:off x="685800" y="2619375"/>
            <a:ext cx="3333750" cy="2333625"/>
          </a:xfrm>
          <a:prstGeom prst="rect">
            <a:avLst/>
          </a:prstGeom>
          <a:solidFill>
            <a:srgbClr val="FFF0E8"/>
          </a:solidFill>
          <a:ln w="0">
            <a:noFill/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EBA1E836-A978-4DDD-8077-8C2C8DA99DF1}"/>
              </a:ext>
            </a:extLst>
          </p:cNvPr>
          <p:cNvSpPr>
            <a:spLocks noGrp="1"/>
          </p:cNvSpPr>
          <p:nvPr/>
        </p:nvSpPr>
        <p:spPr>
          <a:xfrm>
            <a:off x="914400" y="2857500"/>
            <a:ext cx="2857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[근거 1]</a:t>
            </a:r>
          </a:p>
          <a:p>
            <a:pPr algn="l">
              <a:defRPr sz="187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시간대별 집중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F77EBADA-91A4-440E-8506-772E57192EFB}"/>
              </a:ext>
            </a:extLst>
          </p:cNvPr>
          <p:cNvSpPr>
            <a:spLocks noGrp="1"/>
          </p:cNvSpPr>
          <p:nvPr/>
        </p:nvSpPr>
        <p:spPr>
          <a:xfrm>
            <a:off x="914400" y="3714750"/>
            <a:ext cx="2857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데이터: 시간대별 유동량</a:t>
            </a:r>
          </a:p>
          <a:p>
            <a:pPr algn="l">
              <a:def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통계: Kruskal-Wallis</a:t>
            </a:r>
          </a:p>
          <a:p>
            <a:pPr algn="l">
              <a:def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효과: epsilon²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24540132-B4F0-4BFC-A33D-58844CEDC21D}"/>
              </a:ext>
            </a:extLst>
          </p:cNvPr>
          <p:cNvSpPr>
            <a:spLocks noGrp="1"/>
          </p:cNvSpPr>
          <p:nvPr/>
        </p:nvSpPr>
        <p:spPr>
          <a:xfrm>
            <a:off x="4400550" y="2619375"/>
            <a:ext cx="3333750" cy="2333625"/>
          </a:xfrm>
          <a:prstGeom prst="rect">
            <a:avLst/>
          </a:prstGeom>
          <a:solidFill>
            <a:srgbClr val="F0F1F3"/>
          </a:solidFill>
          <a:ln w="0">
            <a:noFill/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xmlns="" id="{082E9ACE-3535-45D6-98D1-0F8370D10E1D}"/>
              </a:ext>
            </a:extLst>
          </p:cNvPr>
          <p:cNvSpPr>
            <a:spLocks noGrp="1"/>
          </p:cNvSpPr>
          <p:nvPr/>
        </p:nvSpPr>
        <p:spPr>
          <a:xfrm>
            <a:off x="4629150" y="2857500"/>
            <a:ext cx="2857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[근거 2]</a:t>
            </a:r>
          </a:p>
          <a:p>
            <a:pPr algn="l"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공간별 집중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xmlns="" id="{693F6F99-D074-4CE8-8DC8-4F34BB14B6F7}"/>
              </a:ext>
            </a:extLst>
          </p:cNvPr>
          <p:cNvSpPr>
            <a:spLocks noGrp="1"/>
          </p:cNvSpPr>
          <p:nvPr/>
        </p:nvSpPr>
        <p:spPr>
          <a:xfrm>
            <a:off x="4629150" y="3714750"/>
            <a:ext cx="2857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데이터: 노선·역별 유동량</a:t>
            </a:r>
          </a:p>
          <a:p>
            <a:pPr algn="l">
              <a:def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통계: Kruskal-Wallis</a:t>
            </a:r>
          </a:p>
          <a:p>
            <a:pPr algn="l">
              <a:def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집중도: 상위 역 비중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xmlns="" id="{E46D9F04-5042-4290-8D88-C646A8A16CAB}"/>
              </a:ext>
            </a:extLst>
          </p:cNvPr>
          <p:cNvSpPr>
            <a:spLocks noGrp="1"/>
          </p:cNvSpPr>
          <p:nvPr/>
        </p:nvSpPr>
        <p:spPr>
          <a:xfrm>
            <a:off x="8115300" y="2619375"/>
            <a:ext cx="3333750" cy="2333625"/>
          </a:xfrm>
          <a:prstGeom prst="rect">
            <a:avLst/>
          </a:prstGeom>
          <a:solidFill>
            <a:srgbClr val="F0F1F3"/>
          </a:solidFill>
          <a:ln w="0">
            <a:noFill/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xmlns="" id="{80BA4BE7-4E0A-47DF-B1ED-9ED61B5D7D0E}"/>
              </a:ext>
            </a:extLst>
          </p:cNvPr>
          <p:cNvSpPr>
            <a:spLocks noGrp="1"/>
          </p:cNvSpPr>
          <p:nvPr/>
        </p:nvSpPr>
        <p:spPr>
          <a:xfrm>
            <a:off x="8343900" y="2857500"/>
            <a:ext cx="2857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[근거 3]</a:t>
            </a:r>
          </a:p>
          <a:p>
            <a:pPr algn="l"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흐름별 유형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xmlns="" id="{7F65C503-5D1E-46F0-A1AD-B4C2CAD78A26}"/>
              </a:ext>
            </a:extLst>
          </p:cNvPr>
          <p:cNvSpPr>
            <a:spLocks noGrp="1"/>
          </p:cNvSpPr>
          <p:nvPr/>
        </p:nvSpPr>
        <p:spPr>
          <a:xfrm>
            <a:off x="8343900" y="3714750"/>
            <a:ext cx="2857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데이터: 승차·하차 비중</a:t>
            </a:r>
          </a:p>
          <a:p>
            <a:pPr algn="l">
              <a:def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통계: 카이제곱 검정</a:t>
            </a:r>
          </a:p>
          <a:p>
            <a:pPr algn="l">
              <a:def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효과: Cramer's V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xmlns="" id="{E7F462F3-885C-4155-B0B3-D13387DF69CD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xmlns="" id="{C38203D3-869C-4E97-A246-EBDAFC2E321B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58254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직사각형 47">
            <a:extLst>
              <a:ext uri="{FF2B5EF4-FFF2-40B4-BE49-F238E27FC236}">
                <a16:creationId xmlns:a16="http://schemas.microsoft.com/office/drawing/2014/main" xmlns="" id="{89A6AC1C-8259-46BD-9F43-57003146A1FE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C47386BF-654B-4467-9525-53EDA1665C27}"/>
              </a:ext>
            </a:extLst>
          </p:cNvPr>
          <p:cNvSpPr>
            <a:spLocks noGrp="1"/>
          </p:cNvSpPr>
          <p:nvPr/>
        </p:nvSpPr>
        <p:spPr>
          <a:xfrm>
            <a:off x="666750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549B79CB-A800-4512-AD38-497C2956D396}"/>
              </a:ext>
            </a:extLst>
          </p:cNvPr>
          <p:cNvSpPr>
            <a:spLocks noGrp="1"/>
          </p:cNvSpPr>
          <p:nvPr/>
        </p:nvSpPr>
        <p:spPr>
          <a:xfrm>
            <a:off x="6753225" y="657225"/>
            <a:ext cx="89535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352B1C99-27BB-4683-B2C8-9998756DA92A}"/>
              </a:ext>
            </a:extLst>
          </p:cNvPr>
          <p:cNvSpPr>
            <a:spLocks noGrp="1"/>
          </p:cNvSpPr>
          <p:nvPr/>
        </p:nvSpPr>
        <p:spPr>
          <a:xfrm>
            <a:off x="786765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DCACCDCD-5D8B-4F84-A9C0-D2D8AD64F611}"/>
              </a:ext>
            </a:extLst>
          </p:cNvPr>
          <p:cNvSpPr>
            <a:spLocks noGrp="1"/>
          </p:cNvSpPr>
          <p:nvPr/>
        </p:nvSpPr>
        <p:spPr>
          <a:xfrm>
            <a:off x="7953375" y="657225"/>
            <a:ext cx="895350" cy="2857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75D2D2FD-7847-434A-9AB1-937335C7E2DD}"/>
              </a:ext>
            </a:extLst>
          </p:cNvPr>
          <p:cNvSpPr>
            <a:spLocks noGrp="1"/>
          </p:cNvSpPr>
          <p:nvPr/>
        </p:nvSpPr>
        <p:spPr>
          <a:xfrm>
            <a:off x="906780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4E60366E-625A-493E-B0FC-B20B676FFF50}"/>
              </a:ext>
            </a:extLst>
          </p:cNvPr>
          <p:cNvSpPr>
            <a:spLocks noGrp="1"/>
          </p:cNvSpPr>
          <p:nvPr/>
        </p:nvSpPr>
        <p:spPr>
          <a:xfrm>
            <a:off x="9153525" y="657225"/>
            <a:ext cx="89535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0638E068-A8B1-45ED-8469-A70A17D991B7}"/>
              </a:ext>
            </a:extLst>
          </p:cNvPr>
          <p:cNvSpPr>
            <a:spLocks noGrp="1"/>
          </p:cNvSpPr>
          <p:nvPr/>
        </p:nvSpPr>
        <p:spPr>
          <a:xfrm>
            <a:off x="1026795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C1D960B0-7D51-443F-A6DA-BA0CFC983DF1}"/>
              </a:ext>
            </a:extLst>
          </p:cNvPr>
          <p:cNvSpPr>
            <a:spLocks noGrp="1"/>
          </p:cNvSpPr>
          <p:nvPr/>
        </p:nvSpPr>
        <p:spPr>
          <a:xfrm>
            <a:off x="10353675" y="657225"/>
            <a:ext cx="89535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F73C9B8B-E52B-47F1-AF09-CE18E50DF60E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8953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통계 분석 요약: 세 근거 모두 실행 판단을 뒷받침한다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E002A262-967A-49D2-A375-CF9BBB1CA931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95804C2A-8C27-4BC8-AB4F-5EA8219C2061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EE5788FA-7804-4ECD-93D8-9E01F030243A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4CFF9DCB-9DD6-49D7-AA09-DA789A80526A}"/>
              </a:ext>
            </a:extLst>
          </p:cNvPr>
          <p:cNvSpPr>
            <a:spLocks noGrp="1"/>
          </p:cNvSpPr>
          <p:nvPr/>
        </p:nvSpPr>
        <p:spPr>
          <a:xfrm>
            <a:off x="514350" y="1714500"/>
            <a:ext cx="2455926" cy="876300"/>
          </a:xfrm>
          <a:prstGeom prst="rect">
            <a:avLst/>
          </a:prstGeom>
          <a:solidFill>
            <a:srgbClr val="F0F1F3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46F611F1-4D86-470A-AA32-81A0DFEC5774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2265426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피라미드 근거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64B3E58-C134-4B71-A250-5C45D2A1D301}"/>
              </a:ext>
            </a:extLst>
          </p:cNvPr>
          <p:cNvSpPr>
            <a:spLocks noGrp="1"/>
          </p:cNvSpPr>
          <p:nvPr/>
        </p:nvSpPr>
        <p:spPr>
          <a:xfrm>
            <a:off x="2970276" y="1714500"/>
            <a:ext cx="2232660" cy="876300"/>
          </a:xfrm>
          <a:prstGeom prst="rect">
            <a:avLst/>
          </a:prstGeom>
          <a:solidFill>
            <a:srgbClr val="F0F1F3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2E87C722-232A-4333-AB99-E82FFEC3B927}"/>
              </a:ext>
            </a:extLst>
          </p:cNvPr>
          <p:cNvSpPr>
            <a:spLocks noGrp="1"/>
          </p:cNvSpPr>
          <p:nvPr/>
        </p:nvSpPr>
        <p:spPr>
          <a:xfrm>
            <a:off x="3065526" y="1790700"/>
            <a:ext cx="204216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검정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BDF6A3DC-4C43-4A27-9A62-49DBC4CF7F61}"/>
              </a:ext>
            </a:extLst>
          </p:cNvPr>
          <p:cNvSpPr>
            <a:spLocks noGrp="1"/>
          </p:cNvSpPr>
          <p:nvPr/>
        </p:nvSpPr>
        <p:spPr>
          <a:xfrm>
            <a:off x="5202936" y="1714500"/>
            <a:ext cx="3683889" cy="876300"/>
          </a:xfrm>
          <a:prstGeom prst="rect">
            <a:avLst/>
          </a:prstGeom>
          <a:solidFill>
            <a:srgbClr val="F0F1F3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xmlns="" id="{1E6891B1-504D-43D0-9696-E473715EB5C0}"/>
              </a:ext>
            </a:extLst>
          </p:cNvPr>
          <p:cNvSpPr>
            <a:spLocks noGrp="1"/>
          </p:cNvSpPr>
          <p:nvPr/>
        </p:nvSpPr>
        <p:spPr>
          <a:xfrm>
            <a:off x="5298186" y="1790700"/>
            <a:ext cx="3493389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결과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xmlns="" id="{D1BA7D42-FAEC-429A-8537-74CF8DE295E5}"/>
              </a:ext>
            </a:extLst>
          </p:cNvPr>
          <p:cNvSpPr>
            <a:spLocks noGrp="1"/>
          </p:cNvSpPr>
          <p:nvPr/>
        </p:nvSpPr>
        <p:spPr>
          <a:xfrm>
            <a:off x="8886825" y="1714500"/>
            <a:ext cx="2790825" cy="876300"/>
          </a:xfrm>
          <a:prstGeom prst="rect">
            <a:avLst/>
          </a:prstGeom>
          <a:solidFill>
            <a:srgbClr val="F0F1F3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xmlns="" id="{0FA5A1E9-813F-4D3B-8D1B-2C6E25C281FD}"/>
              </a:ext>
            </a:extLst>
          </p:cNvPr>
          <p:cNvSpPr>
            <a:spLocks noGrp="1"/>
          </p:cNvSpPr>
          <p:nvPr/>
        </p:nvSpPr>
        <p:spPr>
          <a:xfrm>
            <a:off x="8982075" y="1790700"/>
            <a:ext cx="26003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해석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xmlns="" id="{3B030161-3543-4435-931C-A83DCFB88229}"/>
              </a:ext>
            </a:extLst>
          </p:cNvPr>
          <p:cNvSpPr>
            <a:spLocks noGrp="1"/>
          </p:cNvSpPr>
          <p:nvPr/>
        </p:nvSpPr>
        <p:spPr>
          <a:xfrm>
            <a:off x="514350" y="2590800"/>
            <a:ext cx="2455926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xmlns="" id="{950DFFB0-872F-4F8D-BF28-367A298ACFC7}"/>
              </a:ext>
            </a:extLst>
          </p:cNvPr>
          <p:cNvSpPr>
            <a:spLocks noGrp="1"/>
          </p:cNvSpPr>
          <p:nvPr/>
        </p:nvSpPr>
        <p:spPr>
          <a:xfrm>
            <a:off x="609600" y="2667000"/>
            <a:ext cx="2265426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시간대별 집중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xmlns="" id="{D472AB38-AF69-49B2-9FB9-CB9DEF343897}"/>
              </a:ext>
            </a:extLst>
          </p:cNvPr>
          <p:cNvSpPr>
            <a:spLocks noGrp="1"/>
          </p:cNvSpPr>
          <p:nvPr/>
        </p:nvSpPr>
        <p:spPr>
          <a:xfrm>
            <a:off x="2970276" y="2590800"/>
            <a:ext cx="223266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xmlns="" id="{48989C5C-C4DC-4DD8-84D1-542E8E027CB7}"/>
              </a:ext>
            </a:extLst>
          </p:cNvPr>
          <p:cNvSpPr>
            <a:spLocks noGrp="1"/>
          </p:cNvSpPr>
          <p:nvPr/>
        </p:nvSpPr>
        <p:spPr>
          <a:xfrm>
            <a:off x="3065526" y="2667000"/>
            <a:ext cx="204216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Kruskal-Wallis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xmlns="" id="{BF81193F-FACE-4E9B-BC68-01BFF92A5C3A}"/>
              </a:ext>
            </a:extLst>
          </p:cNvPr>
          <p:cNvSpPr>
            <a:spLocks noGrp="1"/>
          </p:cNvSpPr>
          <p:nvPr/>
        </p:nvSpPr>
        <p:spPr>
          <a:xfrm>
            <a:off x="5202936" y="2590800"/>
            <a:ext cx="3683889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xmlns="" id="{83996E90-9AEA-49C9-AB53-A4DC688B800B}"/>
              </a:ext>
            </a:extLst>
          </p:cNvPr>
          <p:cNvSpPr>
            <a:spLocks noGrp="1"/>
          </p:cNvSpPr>
          <p:nvPr/>
        </p:nvSpPr>
        <p:spPr>
          <a:xfrm>
            <a:off x="5298186" y="2667000"/>
            <a:ext cx="3493389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H=1720.9, p&lt;0.001, ε²=0.919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xmlns="" id="{EC20D375-CF08-402B-A349-78532CEC56FD}"/>
              </a:ext>
            </a:extLst>
          </p:cNvPr>
          <p:cNvSpPr>
            <a:spLocks noGrp="1"/>
          </p:cNvSpPr>
          <p:nvPr/>
        </p:nvSpPr>
        <p:spPr>
          <a:xfrm>
            <a:off x="8886825" y="2590800"/>
            <a:ext cx="2790825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xmlns="" id="{D2EE3208-84CF-4A0D-9B00-97CA2FD9A362}"/>
              </a:ext>
            </a:extLst>
          </p:cNvPr>
          <p:cNvSpPr>
            <a:spLocks noGrp="1"/>
          </p:cNvSpPr>
          <p:nvPr/>
        </p:nvSpPr>
        <p:spPr>
          <a:xfrm>
            <a:off x="8982075" y="2667000"/>
            <a:ext cx="26003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피크 집중 관리 근거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xmlns="" id="{254603B3-D5E8-425E-B32F-8964799A2D18}"/>
              </a:ext>
            </a:extLst>
          </p:cNvPr>
          <p:cNvSpPr>
            <a:spLocks noGrp="1"/>
          </p:cNvSpPr>
          <p:nvPr/>
        </p:nvSpPr>
        <p:spPr>
          <a:xfrm>
            <a:off x="514350" y="3467100"/>
            <a:ext cx="2455926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xmlns="" id="{FE93F99F-4934-45A6-8276-5097E9F75253}"/>
              </a:ext>
            </a:extLst>
          </p:cNvPr>
          <p:cNvSpPr>
            <a:spLocks noGrp="1"/>
          </p:cNvSpPr>
          <p:nvPr/>
        </p:nvSpPr>
        <p:spPr>
          <a:xfrm>
            <a:off x="609600" y="3543300"/>
            <a:ext cx="2265426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공간별 집중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xmlns="" id="{3BF5ADBC-B0E8-4AD7-849C-BB838D393442}"/>
              </a:ext>
            </a:extLst>
          </p:cNvPr>
          <p:cNvSpPr>
            <a:spLocks noGrp="1"/>
          </p:cNvSpPr>
          <p:nvPr/>
        </p:nvSpPr>
        <p:spPr>
          <a:xfrm>
            <a:off x="2970276" y="3467100"/>
            <a:ext cx="223266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xmlns="" id="{DD867ACF-94C2-481F-BA14-0DDC261B755D}"/>
              </a:ext>
            </a:extLst>
          </p:cNvPr>
          <p:cNvSpPr>
            <a:spLocks noGrp="1"/>
          </p:cNvSpPr>
          <p:nvPr/>
        </p:nvSpPr>
        <p:spPr>
          <a:xfrm>
            <a:off x="3065526" y="3543300"/>
            <a:ext cx="204216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Kruskal-Wallis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xmlns="" id="{082A4293-D72B-4985-8D31-A7AD1E8AACC8}"/>
              </a:ext>
            </a:extLst>
          </p:cNvPr>
          <p:cNvSpPr>
            <a:spLocks noGrp="1"/>
          </p:cNvSpPr>
          <p:nvPr/>
        </p:nvSpPr>
        <p:spPr>
          <a:xfrm>
            <a:off x="5202936" y="3467100"/>
            <a:ext cx="3683889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xmlns="" id="{953E7247-A593-489C-9CEA-E7CEF564D836}"/>
              </a:ext>
            </a:extLst>
          </p:cNvPr>
          <p:cNvSpPr>
            <a:spLocks noGrp="1"/>
          </p:cNvSpPr>
          <p:nvPr/>
        </p:nvSpPr>
        <p:spPr>
          <a:xfrm>
            <a:off x="5298186" y="3543300"/>
            <a:ext cx="3493389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H=1840.6, p&lt;0.001, ε²=0.971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xmlns="" id="{9FE3C4CC-F6D2-4DD6-BC90-F2B9ACABED7A}"/>
              </a:ext>
            </a:extLst>
          </p:cNvPr>
          <p:cNvSpPr>
            <a:spLocks noGrp="1"/>
          </p:cNvSpPr>
          <p:nvPr/>
        </p:nvSpPr>
        <p:spPr>
          <a:xfrm>
            <a:off x="8886825" y="3467100"/>
            <a:ext cx="2790825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xmlns="" id="{B6B83F09-38E2-444F-8274-7D7BED918158}"/>
              </a:ext>
            </a:extLst>
          </p:cNvPr>
          <p:cNvSpPr>
            <a:spLocks noGrp="1"/>
          </p:cNvSpPr>
          <p:nvPr/>
        </p:nvSpPr>
        <p:spPr>
          <a:xfrm>
            <a:off x="8982075" y="3543300"/>
            <a:ext cx="26003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고혼잡 역 우선순위 근거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xmlns="" id="{29F0ABE4-537E-48A8-AED7-630B497E0DF9}"/>
              </a:ext>
            </a:extLst>
          </p:cNvPr>
          <p:cNvSpPr>
            <a:spLocks noGrp="1"/>
          </p:cNvSpPr>
          <p:nvPr/>
        </p:nvSpPr>
        <p:spPr>
          <a:xfrm>
            <a:off x="514350" y="4343400"/>
            <a:ext cx="2455926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xmlns="" id="{011D23FE-8137-4156-9875-CA3D68EBD60C}"/>
              </a:ext>
            </a:extLst>
          </p:cNvPr>
          <p:cNvSpPr>
            <a:spLocks noGrp="1"/>
          </p:cNvSpPr>
          <p:nvPr/>
        </p:nvSpPr>
        <p:spPr>
          <a:xfrm>
            <a:off x="609600" y="4419600"/>
            <a:ext cx="2265426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흐름별 유형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xmlns="" id="{50B46C15-D670-4483-B0F5-90748F555B94}"/>
              </a:ext>
            </a:extLst>
          </p:cNvPr>
          <p:cNvSpPr>
            <a:spLocks noGrp="1"/>
          </p:cNvSpPr>
          <p:nvPr/>
        </p:nvSpPr>
        <p:spPr>
          <a:xfrm>
            <a:off x="2970276" y="4343400"/>
            <a:ext cx="223266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xmlns="" id="{914D272E-51FB-4CEC-BBE3-5E2407A68831}"/>
              </a:ext>
            </a:extLst>
          </p:cNvPr>
          <p:cNvSpPr>
            <a:spLocks noGrp="1"/>
          </p:cNvSpPr>
          <p:nvPr/>
        </p:nvSpPr>
        <p:spPr>
          <a:xfrm>
            <a:off x="3065526" y="4419600"/>
            <a:ext cx="204216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Chi-square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xmlns="" id="{B74D5484-D7E3-4077-A483-5801DA6E91BA}"/>
              </a:ext>
            </a:extLst>
          </p:cNvPr>
          <p:cNvSpPr>
            <a:spLocks noGrp="1"/>
          </p:cNvSpPr>
          <p:nvPr/>
        </p:nvSpPr>
        <p:spPr>
          <a:xfrm>
            <a:off x="5202936" y="4343400"/>
            <a:ext cx="3683889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xmlns="" id="{5A8CD114-567C-49A3-B176-3BE196B54B32}"/>
              </a:ext>
            </a:extLst>
          </p:cNvPr>
          <p:cNvSpPr>
            <a:spLocks noGrp="1"/>
          </p:cNvSpPr>
          <p:nvPr/>
        </p:nvSpPr>
        <p:spPr>
          <a:xfrm>
            <a:off x="5298186" y="4419600"/>
            <a:ext cx="3493389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χ²=102.4, p&lt;0.001, V=0.273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xmlns="" id="{5FFE22CF-91A8-4A4C-964E-DE1C67B937C9}"/>
              </a:ext>
            </a:extLst>
          </p:cNvPr>
          <p:cNvSpPr>
            <a:spLocks noGrp="1"/>
          </p:cNvSpPr>
          <p:nvPr/>
        </p:nvSpPr>
        <p:spPr>
          <a:xfrm>
            <a:off x="8886825" y="4343400"/>
            <a:ext cx="2790825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xmlns="" id="{2A1A0465-30CF-40EA-965D-431B4B6A0A23}"/>
              </a:ext>
            </a:extLst>
          </p:cNvPr>
          <p:cNvSpPr>
            <a:spLocks noGrp="1"/>
          </p:cNvSpPr>
          <p:nvPr/>
        </p:nvSpPr>
        <p:spPr>
          <a:xfrm>
            <a:off x="8982075" y="4419600"/>
            <a:ext cx="26003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역 유형별 대응 근거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xmlns="" id="{3BC92692-6881-439B-8994-B8EC2CC5BEBF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xmlns="" id="{C8C075E5-D351-4669-A35A-82CD45696FE3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02215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3FE6048D-90FD-4C5B-B934-A5C3F363061F}"/>
              </a:ext>
            </a:extLst>
          </p:cNvPr>
          <p:cNvSpPr>
            <a:spLocks noGrp="1"/>
          </p:cNvSpPr>
          <p:nvPr/>
        </p:nvSpPr>
        <p:spPr>
          <a:xfrm>
            <a:off x="400050" y="4572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055811B9-C24F-47C6-BB34-4821C27E5F9A}"/>
              </a:ext>
            </a:extLst>
          </p:cNvPr>
          <p:cNvSpPr>
            <a:spLocks noGrp="1"/>
          </p:cNvSpPr>
          <p:nvPr/>
        </p:nvSpPr>
        <p:spPr>
          <a:xfrm>
            <a:off x="666750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99EF9126-94AA-4DBA-A042-F7318ED35715}"/>
              </a:ext>
            </a:extLst>
          </p:cNvPr>
          <p:cNvSpPr>
            <a:spLocks noGrp="1"/>
          </p:cNvSpPr>
          <p:nvPr/>
        </p:nvSpPr>
        <p:spPr>
          <a:xfrm>
            <a:off x="6753225" y="657225"/>
            <a:ext cx="89535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47574BF3-98B8-44C4-AA4A-32A939EB7414}"/>
              </a:ext>
            </a:extLst>
          </p:cNvPr>
          <p:cNvSpPr>
            <a:spLocks noGrp="1"/>
          </p:cNvSpPr>
          <p:nvPr/>
        </p:nvSpPr>
        <p:spPr>
          <a:xfrm>
            <a:off x="786765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AB43ECFB-6EE9-49B3-8B49-898111C9C229}"/>
              </a:ext>
            </a:extLst>
          </p:cNvPr>
          <p:cNvSpPr>
            <a:spLocks noGrp="1"/>
          </p:cNvSpPr>
          <p:nvPr/>
        </p:nvSpPr>
        <p:spPr>
          <a:xfrm>
            <a:off x="7953375" y="657225"/>
            <a:ext cx="89535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56E5D04A-3725-4B52-AADC-BAE92C4316A1}"/>
              </a:ext>
            </a:extLst>
          </p:cNvPr>
          <p:cNvSpPr>
            <a:spLocks noGrp="1"/>
          </p:cNvSpPr>
          <p:nvPr/>
        </p:nvSpPr>
        <p:spPr>
          <a:xfrm>
            <a:off x="906780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0FB0BACA-273D-4246-9EDE-6E00EDA02824}"/>
              </a:ext>
            </a:extLst>
          </p:cNvPr>
          <p:cNvSpPr>
            <a:spLocks noGrp="1"/>
          </p:cNvSpPr>
          <p:nvPr/>
        </p:nvSpPr>
        <p:spPr>
          <a:xfrm>
            <a:off x="9153525" y="657225"/>
            <a:ext cx="895350" cy="2857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782EBE8A-CBE2-4204-B364-246561F1C736}"/>
              </a:ext>
            </a:extLst>
          </p:cNvPr>
          <p:cNvSpPr>
            <a:spLocks noGrp="1"/>
          </p:cNvSpPr>
          <p:nvPr/>
        </p:nvSpPr>
        <p:spPr>
          <a:xfrm>
            <a:off x="1026795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FD74C109-C2E8-41DF-9E6A-D668DF045F1C}"/>
              </a:ext>
            </a:extLst>
          </p:cNvPr>
          <p:cNvSpPr>
            <a:spLocks noGrp="1"/>
          </p:cNvSpPr>
          <p:nvPr/>
        </p:nvSpPr>
        <p:spPr>
          <a:xfrm>
            <a:off x="10353675" y="657225"/>
            <a:ext cx="89535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77D899D9-E4DC-4F9F-B838-5CE8FDD38749}"/>
              </a:ext>
            </a:extLst>
          </p:cNvPr>
          <p:cNvSpPr>
            <a:spLocks noGrp="1"/>
          </p:cNvSpPr>
          <p:nvPr/>
        </p:nvSpPr>
        <p:spPr>
          <a:xfrm>
            <a:off x="400050" y="2000250"/>
            <a:ext cx="9525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혼잡 패턴 시각화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A0F515A2-C460-435B-B124-ACCB91BEA46E}"/>
              </a:ext>
            </a:extLst>
          </p:cNvPr>
          <p:cNvSpPr>
            <a:spLocks noGrp="1"/>
          </p:cNvSpPr>
          <p:nvPr/>
        </p:nvSpPr>
        <p:spPr>
          <a:xfrm>
            <a:off x="457200" y="3095625"/>
            <a:ext cx="857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시간, 노선, 역, 흐름, 공간 관점에서 혼잡의 위치를 확인한다.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CEF18B4D-A08B-4110-840B-515007D5E114}"/>
              </a:ext>
            </a:extLst>
          </p:cNvPr>
          <p:cNvSpPr>
            <a:spLocks noGrp="1"/>
          </p:cNvSpPr>
          <p:nvPr/>
        </p:nvSpPr>
        <p:spPr>
          <a:xfrm>
            <a:off x="400050" y="5953125"/>
            <a:ext cx="11391900" cy="190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E9E0423B-8BC4-4E17-8E75-A9DD3BB1829A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272BC8BC-9C29-4360-BC7F-8E3C4895CFCE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77507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94A4989A-2EFF-4344-8385-C56EF4556A27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99880AA9-2BC8-4C1D-ABF9-C602F057B226}"/>
              </a:ext>
            </a:extLst>
          </p:cNvPr>
          <p:cNvSpPr>
            <a:spLocks noGrp="1"/>
          </p:cNvSpPr>
          <p:nvPr/>
        </p:nvSpPr>
        <p:spPr>
          <a:xfrm>
            <a:off x="666750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498E2C1E-4365-457F-BE86-55E01C8BA479}"/>
              </a:ext>
            </a:extLst>
          </p:cNvPr>
          <p:cNvSpPr>
            <a:spLocks noGrp="1"/>
          </p:cNvSpPr>
          <p:nvPr/>
        </p:nvSpPr>
        <p:spPr>
          <a:xfrm>
            <a:off x="6753225" y="657225"/>
            <a:ext cx="89535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CD0321E1-7C7F-4102-82D2-3293018379B6}"/>
              </a:ext>
            </a:extLst>
          </p:cNvPr>
          <p:cNvSpPr>
            <a:spLocks noGrp="1"/>
          </p:cNvSpPr>
          <p:nvPr/>
        </p:nvSpPr>
        <p:spPr>
          <a:xfrm>
            <a:off x="786765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1DAB5BBC-0689-419B-A00A-245A1515F8DE}"/>
              </a:ext>
            </a:extLst>
          </p:cNvPr>
          <p:cNvSpPr>
            <a:spLocks noGrp="1"/>
          </p:cNvSpPr>
          <p:nvPr/>
        </p:nvSpPr>
        <p:spPr>
          <a:xfrm>
            <a:off x="7953375" y="657225"/>
            <a:ext cx="89535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474541FC-556B-4327-92A2-2D4223FFB505}"/>
              </a:ext>
            </a:extLst>
          </p:cNvPr>
          <p:cNvSpPr>
            <a:spLocks noGrp="1"/>
          </p:cNvSpPr>
          <p:nvPr/>
        </p:nvSpPr>
        <p:spPr>
          <a:xfrm>
            <a:off x="906780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A23E0589-1F28-4C2D-906A-9561BF4DCE6B}"/>
              </a:ext>
            </a:extLst>
          </p:cNvPr>
          <p:cNvSpPr>
            <a:spLocks noGrp="1"/>
          </p:cNvSpPr>
          <p:nvPr/>
        </p:nvSpPr>
        <p:spPr>
          <a:xfrm>
            <a:off x="9153525" y="657225"/>
            <a:ext cx="895350" cy="2857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314B6121-A8D1-423C-B60A-72EEAAB7D4F6}"/>
              </a:ext>
            </a:extLst>
          </p:cNvPr>
          <p:cNvSpPr>
            <a:spLocks noGrp="1"/>
          </p:cNvSpPr>
          <p:nvPr/>
        </p:nvSpPr>
        <p:spPr>
          <a:xfrm>
            <a:off x="1026795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3F3A3636-E1CE-4F94-B2BB-A214F110717B}"/>
              </a:ext>
            </a:extLst>
          </p:cNvPr>
          <p:cNvSpPr>
            <a:spLocks noGrp="1"/>
          </p:cNvSpPr>
          <p:nvPr/>
        </p:nvSpPr>
        <p:spPr>
          <a:xfrm>
            <a:off x="10353675" y="657225"/>
            <a:ext cx="89535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CE650D36-BD1B-4231-B07C-8E6E1A257E08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8953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시간대별 유동량: 08시-09시가 최혼잡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EEC98A25-D681-4C5E-B065-796E182C3BF7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9BF1107E-4C97-4DBC-9A04-3994B9BA5A69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22D609FF-514E-4F4C-858D-50D0CAC8258B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="685800" y="1762125"/>
          <a:ext cx="10668000" cy="3857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FEABAB21-01B3-44F0-92DB-625372031151}"/>
              </a:ext>
            </a:extLst>
          </p:cNvPr>
          <p:cNvSpPr>
            <a:spLocks noGrp="1"/>
          </p:cNvSpPr>
          <p:nvPr/>
        </p:nvSpPr>
        <p:spPr>
          <a:xfrm>
            <a:off x="838200" y="5791200"/>
            <a:ext cx="952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출근 피크 대응은 상시 평균보다 효과적인 운영 단위다.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5BEBB2F0-C930-477D-B180-1402B4B04621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1B904132-AD78-46B5-8F91-1804916DBCF8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95162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1F363D0F-53DF-43F7-AC1E-9A2B6415D93F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13B6966C-76C3-40E6-855F-C0563F4C96B2}"/>
              </a:ext>
            </a:extLst>
          </p:cNvPr>
          <p:cNvSpPr>
            <a:spLocks noGrp="1"/>
          </p:cNvSpPr>
          <p:nvPr/>
        </p:nvSpPr>
        <p:spPr>
          <a:xfrm>
            <a:off x="666750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04326AFD-89AB-456E-9B39-F14BE8BDACFC}"/>
              </a:ext>
            </a:extLst>
          </p:cNvPr>
          <p:cNvSpPr>
            <a:spLocks noGrp="1"/>
          </p:cNvSpPr>
          <p:nvPr/>
        </p:nvSpPr>
        <p:spPr>
          <a:xfrm>
            <a:off x="6753225" y="657225"/>
            <a:ext cx="89535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D834CBDE-DB67-4704-AB4D-6DC0199FA0A4}"/>
              </a:ext>
            </a:extLst>
          </p:cNvPr>
          <p:cNvSpPr>
            <a:spLocks noGrp="1"/>
          </p:cNvSpPr>
          <p:nvPr/>
        </p:nvSpPr>
        <p:spPr>
          <a:xfrm>
            <a:off x="786765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5B3255AE-8E1B-4E5B-B20E-B554441D0C17}"/>
              </a:ext>
            </a:extLst>
          </p:cNvPr>
          <p:cNvSpPr>
            <a:spLocks noGrp="1"/>
          </p:cNvSpPr>
          <p:nvPr/>
        </p:nvSpPr>
        <p:spPr>
          <a:xfrm>
            <a:off x="7953375" y="657225"/>
            <a:ext cx="89535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C6CE3FCB-317F-4B2F-85F0-1C0B66E64295}"/>
              </a:ext>
            </a:extLst>
          </p:cNvPr>
          <p:cNvSpPr>
            <a:spLocks noGrp="1"/>
          </p:cNvSpPr>
          <p:nvPr/>
        </p:nvSpPr>
        <p:spPr>
          <a:xfrm>
            <a:off x="906780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CD8F1224-FA99-46DF-B953-DBB362452270}"/>
              </a:ext>
            </a:extLst>
          </p:cNvPr>
          <p:cNvSpPr>
            <a:spLocks noGrp="1"/>
          </p:cNvSpPr>
          <p:nvPr/>
        </p:nvSpPr>
        <p:spPr>
          <a:xfrm>
            <a:off x="9153525" y="657225"/>
            <a:ext cx="895350" cy="2857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A5D023A9-3CE4-4764-A3F5-5DB7F86E6B56}"/>
              </a:ext>
            </a:extLst>
          </p:cNvPr>
          <p:cNvSpPr>
            <a:spLocks noGrp="1"/>
          </p:cNvSpPr>
          <p:nvPr/>
        </p:nvSpPr>
        <p:spPr>
          <a:xfrm>
            <a:off x="1026795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1B803EA9-4A8D-433B-B627-8328E48F2074}"/>
              </a:ext>
            </a:extLst>
          </p:cNvPr>
          <p:cNvSpPr>
            <a:spLocks noGrp="1"/>
          </p:cNvSpPr>
          <p:nvPr/>
        </p:nvSpPr>
        <p:spPr>
          <a:xfrm>
            <a:off x="10353675" y="657225"/>
            <a:ext cx="89535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F41E7ADB-A67B-4C33-A8B6-54BEBBA6B8CC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8953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노선별 유동량: 2호선이 최상위 혼잡 축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F5C84137-9E5E-49E8-B5E9-1C934A6D224B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B0F9C291-3B7A-4E1E-8253-E85F5CFF6865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5721A56A-2D23-4E6E-B169-6A8BA292785F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="781050" y="1714500"/>
          <a:ext cx="10287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483E309F-1C67-4CE6-A30D-258327720361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6CC419C8-7163-4DAD-823E-2A6BE878C965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666238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7E746215-4D3D-4EBE-9FC4-583B6212905E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CD3EEED6-5963-491A-8D80-54AF2199A9F8}"/>
              </a:ext>
            </a:extLst>
          </p:cNvPr>
          <p:cNvSpPr>
            <a:spLocks noGrp="1"/>
          </p:cNvSpPr>
          <p:nvPr/>
        </p:nvSpPr>
        <p:spPr>
          <a:xfrm>
            <a:off x="666750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9E8AA82E-EE37-4BD7-8CF0-1B9FBA2458CC}"/>
              </a:ext>
            </a:extLst>
          </p:cNvPr>
          <p:cNvSpPr>
            <a:spLocks noGrp="1"/>
          </p:cNvSpPr>
          <p:nvPr/>
        </p:nvSpPr>
        <p:spPr>
          <a:xfrm>
            <a:off x="6753225" y="657225"/>
            <a:ext cx="89535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46184E64-B55D-4D4D-9118-B2F2A8552636}"/>
              </a:ext>
            </a:extLst>
          </p:cNvPr>
          <p:cNvSpPr>
            <a:spLocks noGrp="1"/>
          </p:cNvSpPr>
          <p:nvPr/>
        </p:nvSpPr>
        <p:spPr>
          <a:xfrm>
            <a:off x="786765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1E2978D1-84C3-4320-88D4-EABB468D8C0D}"/>
              </a:ext>
            </a:extLst>
          </p:cNvPr>
          <p:cNvSpPr>
            <a:spLocks noGrp="1"/>
          </p:cNvSpPr>
          <p:nvPr/>
        </p:nvSpPr>
        <p:spPr>
          <a:xfrm>
            <a:off x="7953375" y="657225"/>
            <a:ext cx="89535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E34EA6EA-883D-4F2A-8C11-18DC4CA1446B}"/>
              </a:ext>
            </a:extLst>
          </p:cNvPr>
          <p:cNvSpPr>
            <a:spLocks noGrp="1"/>
          </p:cNvSpPr>
          <p:nvPr/>
        </p:nvSpPr>
        <p:spPr>
          <a:xfrm>
            <a:off x="906780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84A74244-3BE3-4021-8547-C89E52AABE0D}"/>
              </a:ext>
            </a:extLst>
          </p:cNvPr>
          <p:cNvSpPr>
            <a:spLocks noGrp="1"/>
          </p:cNvSpPr>
          <p:nvPr/>
        </p:nvSpPr>
        <p:spPr>
          <a:xfrm>
            <a:off x="9153525" y="657225"/>
            <a:ext cx="895350" cy="2857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ED394A6A-4A79-4186-AFA9-8DBEE9B4F54F}"/>
              </a:ext>
            </a:extLst>
          </p:cNvPr>
          <p:cNvSpPr>
            <a:spLocks noGrp="1"/>
          </p:cNvSpPr>
          <p:nvPr/>
        </p:nvSpPr>
        <p:spPr>
          <a:xfrm>
            <a:off x="1026795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61395A05-34C7-4086-814B-379384D1636E}"/>
              </a:ext>
            </a:extLst>
          </p:cNvPr>
          <p:cNvSpPr>
            <a:spLocks noGrp="1"/>
          </p:cNvSpPr>
          <p:nvPr/>
        </p:nvSpPr>
        <p:spPr>
          <a:xfrm>
            <a:off x="10353675" y="657225"/>
            <a:ext cx="89535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8A323ACC-BEE2-4F54-A3DF-32BC6506DCFA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8953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역별 유동량: 상위 역 중심의 우선순위가 필요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5E63661D-43C8-410F-B0B8-E7D19794DCE9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B26E4590-7B28-43D0-90D7-6D9E18FDCD48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84CF4B1E-837F-4AB4-BB15-A5054139EE43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="781050" y="1714500"/>
          <a:ext cx="102870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70436BDB-CBB8-4FD4-A92C-17BA874C4896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78B7E9C7-8863-4947-82C9-EC881F996709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36245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3A9054F6-41FF-4763-8FD2-55E5D37E7C4B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389D0EDC-6866-4BB5-8A2F-A39427FE10A3}"/>
              </a:ext>
            </a:extLst>
          </p:cNvPr>
          <p:cNvSpPr>
            <a:spLocks noGrp="1"/>
          </p:cNvSpPr>
          <p:nvPr/>
        </p:nvSpPr>
        <p:spPr>
          <a:xfrm>
            <a:off x="666750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2FC77CB5-6122-47FA-85C7-84A3817866D3}"/>
              </a:ext>
            </a:extLst>
          </p:cNvPr>
          <p:cNvSpPr>
            <a:spLocks noGrp="1"/>
          </p:cNvSpPr>
          <p:nvPr/>
        </p:nvSpPr>
        <p:spPr>
          <a:xfrm>
            <a:off x="6753225" y="657225"/>
            <a:ext cx="89535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BF07FF42-0BD6-427D-8F39-FAD31F066CEF}"/>
              </a:ext>
            </a:extLst>
          </p:cNvPr>
          <p:cNvSpPr>
            <a:spLocks noGrp="1"/>
          </p:cNvSpPr>
          <p:nvPr/>
        </p:nvSpPr>
        <p:spPr>
          <a:xfrm>
            <a:off x="786765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673F93B1-3828-4903-9372-23AA9836EE36}"/>
              </a:ext>
            </a:extLst>
          </p:cNvPr>
          <p:cNvSpPr>
            <a:spLocks noGrp="1"/>
          </p:cNvSpPr>
          <p:nvPr/>
        </p:nvSpPr>
        <p:spPr>
          <a:xfrm>
            <a:off x="7953375" y="657225"/>
            <a:ext cx="89535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AB68DC69-8B47-4722-979D-6E07FB0E9CDC}"/>
              </a:ext>
            </a:extLst>
          </p:cNvPr>
          <p:cNvSpPr>
            <a:spLocks noGrp="1"/>
          </p:cNvSpPr>
          <p:nvPr/>
        </p:nvSpPr>
        <p:spPr>
          <a:xfrm>
            <a:off x="906780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FAC50ADB-984B-40A3-A772-B938694E9C34}"/>
              </a:ext>
            </a:extLst>
          </p:cNvPr>
          <p:cNvSpPr>
            <a:spLocks noGrp="1"/>
          </p:cNvSpPr>
          <p:nvPr/>
        </p:nvSpPr>
        <p:spPr>
          <a:xfrm>
            <a:off x="9153525" y="657225"/>
            <a:ext cx="895350" cy="2857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F822F2B9-7C46-4883-A090-824C7352D9C3}"/>
              </a:ext>
            </a:extLst>
          </p:cNvPr>
          <p:cNvSpPr>
            <a:spLocks noGrp="1"/>
          </p:cNvSpPr>
          <p:nvPr/>
        </p:nvSpPr>
        <p:spPr>
          <a:xfrm>
            <a:off x="1026795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FA6CF85A-74E2-4CDF-BF84-5B25DDF370F8}"/>
              </a:ext>
            </a:extLst>
          </p:cNvPr>
          <p:cNvSpPr>
            <a:spLocks noGrp="1"/>
          </p:cNvSpPr>
          <p:nvPr/>
        </p:nvSpPr>
        <p:spPr>
          <a:xfrm>
            <a:off x="10353675" y="657225"/>
            <a:ext cx="89535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647F8747-5761-4CEA-8B66-9A192A9C7828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8953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피크별 승하차 흐름 유형은 다르다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2A347960-F746-4541-B8FC-E7243C60A1E8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AC4EF36C-73B2-4E34-B5BF-A453F1672E50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DDEC150A-DFBF-4D4E-9DE8-D2381D15D6C9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32" name="Chart"/>
          <p:cNvGraphicFramePr/>
          <p:nvPr/>
        </p:nvGraphicFramePr>
        <p:xfrm>
          <a:off x="762000" y="1762125"/>
          <a:ext cx="7429500" cy="3762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9C2311C8-2EA1-4034-B229-B95992157E52}"/>
              </a:ext>
            </a:extLst>
          </p:cNvPr>
          <p:cNvSpPr>
            <a:spLocks noGrp="1"/>
          </p:cNvSpPr>
          <p:nvPr/>
        </p:nvSpPr>
        <p:spPr>
          <a:xfrm>
            <a:off x="8524875" y="2238375"/>
            <a:ext cx="26670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출근·퇴근 피크의 승차형/하차형/혼합형 분포가 다르므로 대응도 달라져야 한다.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0845DF04-FA91-448D-8C4D-F9122C38EA36}"/>
              </a:ext>
            </a:extLst>
          </p:cNvPr>
          <p:cNvSpPr>
            <a:spLocks noGrp="1"/>
          </p:cNvSpPr>
          <p:nvPr/>
        </p:nvSpPr>
        <p:spPr>
          <a:xfrm>
            <a:off x="8524875" y="4048125"/>
            <a:ext cx="2667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승차형: 대기열</a:t>
            </a:r>
          </a:p>
          <a:p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하차형: 출구 동선</a:t>
            </a:r>
          </a:p>
          <a:p>
            <a:pPr algn="l"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혼합형: 환승 병목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6ABE06A1-ADC4-43A0-BC26-80E02CBE141F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55D43E1E-76AA-4330-811D-FC143FD7DF2F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413288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38AE4859-53E1-43E5-9CD7-BEA3E0CB204F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38B8FEE4-59C8-4DAF-94A8-609ACC6382C5}"/>
              </a:ext>
            </a:extLst>
          </p:cNvPr>
          <p:cNvSpPr>
            <a:spLocks noGrp="1"/>
          </p:cNvSpPr>
          <p:nvPr/>
        </p:nvSpPr>
        <p:spPr>
          <a:xfrm>
            <a:off x="666750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F89B63CC-4271-415E-BE7A-D3FBEE844214}"/>
              </a:ext>
            </a:extLst>
          </p:cNvPr>
          <p:cNvSpPr>
            <a:spLocks noGrp="1"/>
          </p:cNvSpPr>
          <p:nvPr/>
        </p:nvSpPr>
        <p:spPr>
          <a:xfrm>
            <a:off x="6753225" y="657225"/>
            <a:ext cx="89535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F82C37A8-D285-4C08-8039-B107F1648E09}"/>
              </a:ext>
            </a:extLst>
          </p:cNvPr>
          <p:cNvSpPr>
            <a:spLocks noGrp="1"/>
          </p:cNvSpPr>
          <p:nvPr/>
        </p:nvSpPr>
        <p:spPr>
          <a:xfrm>
            <a:off x="786765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037CA14C-A3A4-4EB4-B3B9-CB78B2A6571A}"/>
              </a:ext>
            </a:extLst>
          </p:cNvPr>
          <p:cNvSpPr>
            <a:spLocks noGrp="1"/>
          </p:cNvSpPr>
          <p:nvPr/>
        </p:nvSpPr>
        <p:spPr>
          <a:xfrm>
            <a:off x="7953375" y="657225"/>
            <a:ext cx="89535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704A638A-2CAC-4AD1-B8E9-D14D82770D3B}"/>
              </a:ext>
            </a:extLst>
          </p:cNvPr>
          <p:cNvSpPr>
            <a:spLocks noGrp="1"/>
          </p:cNvSpPr>
          <p:nvPr/>
        </p:nvSpPr>
        <p:spPr>
          <a:xfrm>
            <a:off x="906780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1C311637-F2CF-478D-89B9-148FCE832B7A}"/>
              </a:ext>
            </a:extLst>
          </p:cNvPr>
          <p:cNvSpPr>
            <a:spLocks noGrp="1"/>
          </p:cNvSpPr>
          <p:nvPr/>
        </p:nvSpPr>
        <p:spPr>
          <a:xfrm>
            <a:off x="9153525" y="657225"/>
            <a:ext cx="895350" cy="2857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76729643-B853-4CF1-94E1-D17DB1895690}"/>
              </a:ext>
            </a:extLst>
          </p:cNvPr>
          <p:cNvSpPr>
            <a:spLocks noGrp="1"/>
          </p:cNvSpPr>
          <p:nvPr/>
        </p:nvSpPr>
        <p:spPr>
          <a:xfrm>
            <a:off x="1026795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6E2D373C-49FE-4652-A507-0B51F5A1FB2F}"/>
              </a:ext>
            </a:extLst>
          </p:cNvPr>
          <p:cNvSpPr>
            <a:spLocks noGrp="1"/>
          </p:cNvSpPr>
          <p:nvPr/>
        </p:nvSpPr>
        <p:spPr>
          <a:xfrm>
            <a:off x="10353675" y="657225"/>
            <a:ext cx="89535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719836AD-F1EE-47E6-9684-776D79DBAACC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8953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GeoJSON 지도: 공간적으로도 혼잡 지점 확인 가능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0373FB14-7A02-4DD3-9073-711F5B6D11ED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291A1488-D189-4D4D-83A2-F4835FB2D23F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D4EE43A8-3389-4D47-A6E1-4CFB75DB928E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pic>
        <p:nvPicPr>
          <p:cNvPr id="40" name="그림 3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1724257"/>
            <a:ext cx="7239000" cy="4038136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334A74D6-2D72-4A59-8B33-083809A0CF46}"/>
              </a:ext>
            </a:extLst>
          </p:cNvPr>
          <p:cNvSpPr>
            <a:spLocks noGrp="1"/>
          </p:cNvSpPr>
          <p:nvPr/>
        </p:nvSpPr>
        <p:spPr>
          <a:xfrm>
            <a:off x="8334375" y="1790700"/>
            <a:ext cx="2857500" cy="1238250"/>
          </a:xfrm>
          <a:prstGeom prst="rect">
            <a:avLst/>
          </a:prstGeom>
          <a:solidFill>
            <a:srgbClr val="F0F1F3"/>
          </a:solidFill>
          <a:ln w="0">
            <a:noFill/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DAA715B8-5190-4B36-8A3C-F16A4552D2F1}"/>
              </a:ext>
            </a:extLst>
          </p:cNvPr>
          <p:cNvSpPr>
            <a:spLocks noGrp="1"/>
          </p:cNvSpPr>
          <p:nvPr/>
        </p:nvSpPr>
        <p:spPr>
          <a:xfrm>
            <a:off x="8543925" y="1981200"/>
            <a:ext cx="2438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좌표 매칭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5B7336DE-9E30-4033-B957-5F15486E132A}"/>
              </a:ext>
            </a:extLst>
          </p:cNvPr>
          <p:cNvSpPr>
            <a:spLocks noGrp="1"/>
          </p:cNvSpPr>
          <p:nvPr/>
        </p:nvSpPr>
        <p:spPr>
          <a:xfrm>
            <a:off x="8543925" y="2314575"/>
            <a:ext cx="2438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A9D8F"/>
                </a:solidFill>
                <a:latin typeface="Malgun Gothic"/>
                <a:ea typeface="Malgun Gothic"/>
                <a:cs typeface="Malgun Gothic"/>
              </a:rPr>
              <a:t>601/685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D0365733-83BA-4770-A40A-71BCFF564822}"/>
              </a:ext>
            </a:extLst>
          </p:cNvPr>
          <p:cNvSpPr>
            <a:spLocks noGrp="1"/>
          </p:cNvSpPr>
          <p:nvPr/>
        </p:nvSpPr>
        <p:spPr>
          <a:xfrm>
            <a:off x="8334375" y="3219450"/>
            <a:ext cx="2857500" cy="1238250"/>
          </a:xfrm>
          <a:prstGeom prst="rect">
            <a:avLst/>
          </a:prstGeom>
          <a:solidFill>
            <a:srgbClr val="F0F1F3"/>
          </a:solidFill>
          <a:ln w="0">
            <a:noFill/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xmlns="" id="{BAE69A2B-A898-4E9F-8445-694F9757E239}"/>
              </a:ext>
            </a:extLst>
          </p:cNvPr>
          <p:cNvSpPr>
            <a:spLocks noGrp="1"/>
          </p:cNvSpPr>
          <p:nvPr/>
        </p:nvSpPr>
        <p:spPr>
          <a:xfrm>
            <a:off x="8543925" y="3409950"/>
            <a:ext cx="2438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상위 5개 역 비중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xmlns="" id="{75C4AF47-CE65-4372-A2EC-1C5F539794E7}"/>
              </a:ext>
            </a:extLst>
          </p:cNvPr>
          <p:cNvSpPr>
            <a:spLocks noGrp="1"/>
          </p:cNvSpPr>
          <p:nvPr/>
        </p:nvSpPr>
        <p:spPr>
          <a:xfrm>
            <a:off x="8543925" y="3743325"/>
            <a:ext cx="2438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5.1%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xmlns="" id="{C1647492-110F-43FC-B965-1FDD6A086CE0}"/>
              </a:ext>
            </a:extLst>
          </p:cNvPr>
          <p:cNvSpPr>
            <a:spLocks noGrp="1"/>
          </p:cNvSpPr>
          <p:nvPr/>
        </p:nvSpPr>
        <p:spPr>
          <a:xfrm>
            <a:off x="8334375" y="4648200"/>
            <a:ext cx="2857500" cy="1238250"/>
          </a:xfrm>
          <a:prstGeom prst="rect">
            <a:avLst/>
          </a:prstGeom>
          <a:solidFill>
            <a:srgbClr val="F0F1F3"/>
          </a:solidFill>
          <a:ln w="0">
            <a:noFill/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xmlns="" id="{96DB4380-856E-4802-8B37-F39F5DCD3575}"/>
              </a:ext>
            </a:extLst>
          </p:cNvPr>
          <p:cNvSpPr>
            <a:spLocks noGrp="1"/>
          </p:cNvSpPr>
          <p:nvPr/>
        </p:nvSpPr>
        <p:spPr>
          <a:xfrm>
            <a:off x="8543925" y="4838700"/>
            <a:ext cx="2438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상위 20개 역 비중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xmlns="" id="{6E808D70-3561-4012-8753-099C30EEB686}"/>
              </a:ext>
            </a:extLst>
          </p:cNvPr>
          <p:cNvSpPr>
            <a:spLocks noGrp="1"/>
          </p:cNvSpPr>
          <p:nvPr/>
        </p:nvSpPr>
        <p:spPr>
          <a:xfrm>
            <a:off x="8543925" y="5172075"/>
            <a:ext cx="2438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E63946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E63946"/>
                </a:solidFill>
                <a:latin typeface="Malgun Gothic"/>
                <a:ea typeface="Malgun Gothic"/>
                <a:cs typeface="Malgun Gothic"/>
              </a:rPr>
              <a:t>15.0%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xmlns="" id="{97C4C1CB-7FBF-4385-B2DF-04C19296918C}"/>
              </a:ext>
            </a:extLst>
          </p:cNvPr>
          <p:cNvSpPr>
            <a:spLocks noGrp="1"/>
          </p:cNvSpPr>
          <p:nvPr/>
        </p:nvSpPr>
        <p:spPr>
          <a:xfrm>
            <a:off x="781050" y="582930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GeoJSON 포인트를 지도 이미지로 변환해 고혼잡 역의 공간 분포를 확인한다.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xmlns="" id="{B30230C1-4B44-442B-B101-934E1DCDD53E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xmlns="" id="{CA089F32-A783-48A8-988A-89D49BC84ADE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29864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41BF4515-AAE8-47DB-912F-937CC9CDA9C4}"/>
              </a:ext>
            </a:extLst>
          </p:cNvPr>
          <p:cNvSpPr>
            <a:spLocks noGrp="1"/>
          </p:cNvSpPr>
          <p:nvPr/>
        </p:nvSpPr>
        <p:spPr>
          <a:xfrm>
            <a:off x="400050" y="4572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F73487E4-7F09-4ECF-AA9A-145CF22569D2}"/>
              </a:ext>
            </a:extLst>
          </p:cNvPr>
          <p:cNvSpPr>
            <a:spLocks noGrp="1"/>
          </p:cNvSpPr>
          <p:nvPr/>
        </p:nvSpPr>
        <p:spPr>
          <a:xfrm>
            <a:off x="666750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0E500C28-14F9-4C01-8AA1-98459476FA4B}"/>
              </a:ext>
            </a:extLst>
          </p:cNvPr>
          <p:cNvSpPr>
            <a:spLocks noGrp="1"/>
          </p:cNvSpPr>
          <p:nvPr/>
        </p:nvSpPr>
        <p:spPr>
          <a:xfrm>
            <a:off x="6753225" y="657225"/>
            <a:ext cx="89535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ABEA5F11-E9C2-480F-A6A1-B15CEA9DF768}"/>
              </a:ext>
            </a:extLst>
          </p:cNvPr>
          <p:cNvSpPr>
            <a:spLocks noGrp="1"/>
          </p:cNvSpPr>
          <p:nvPr/>
        </p:nvSpPr>
        <p:spPr>
          <a:xfrm>
            <a:off x="786765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0A85C995-99C5-4ABB-885C-85BE42704514}"/>
              </a:ext>
            </a:extLst>
          </p:cNvPr>
          <p:cNvSpPr>
            <a:spLocks noGrp="1"/>
          </p:cNvSpPr>
          <p:nvPr/>
        </p:nvSpPr>
        <p:spPr>
          <a:xfrm>
            <a:off x="7953375" y="657225"/>
            <a:ext cx="89535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8E7453E9-43C3-4E26-B68D-52FDB183EF14}"/>
              </a:ext>
            </a:extLst>
          </p:cNvPr>
          <p:cNvSpPr>
            <a:spLocks noGrp="1"/>
          </p:cNvSpPr>
          <p:nvPr/>
        </p:nvSpPr>
        <p:spPr>
          <a:xfrm>
            <a:off x="906780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34BB141C-6B43-4D90-B2A9-64122BAC6048}"/>
              </a:ext>
            </a:extLst>
          </p:cNvPr>
          <p:cNvSpPr>
            <a:spLocks noGrp="1"/>
          </p:cNvSpPr>
          <p:nvPr/>
        </p:nvSpPr>
        <p:spPr>
          <a:xfrm>
            <a:off x="9153525" y="657225"/>
            <a:ext cx="89535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AB80B331-33AB-4730-B072-17454218E14A}"/>
              </a:ext>
            </a:extLst>
          </p:cNvPr>
          <p:cNvSpPr>
            <a:spLocks noGrp="1"/>
          </p:cNvSpPr>
          <p:nvPr/>
        </p:nvSpPr>
        <p:spPr>
          <a:xfrm>
            <a:off x="1026795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0F813DDA-D55A-46A1-BE38-720C4C662F03}"/>
              </a:ext>
            </a:extLst>
          </p:cNvPr>
          <p:cNvSpPr>
            <a:spLocks noGrp="1"/>
          </p:cNvSpPr>
          <p:nvPr/>
        </p:nvSpPr>
        <p:spPr>
          <a:xfrm>
            <a:off x="10353675" y="657225"/>
            <a:ext cx="895350" cy="2857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D30B8562-84C6-4356-B28C-C62B2610517B}"/>
              </a:ext>
            </a:extLst>
          </p:cNvPr>
          <p:cNvSpPr>
            <a:spLocks noGrp="1"/>
          </p:cNvSpPr>
          <p:nvPr/>
        </p:nvSpPr>
        <p:spPr>
          <a:xfrm>
            <a:off x="400050" y="2000250"/>
            <a:ext cx="9525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So What? 실행 계획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C6C570EB-8ED8-4067-837F-0B5D3F5053F2}"/>
              </a:ext>
            </a:extLst>
          </p:cNvPr>
          <p:cNvSpPr>
            <a:spLocks noGrp="1"/>
          </p:cNvSpPr>
          <p:nvPr/>
        </p:nvSpPr>
        <p:spPr>
          <a:xfrm>
            <a:off x="457200" y="3095625"/>
            <a:ext cx="857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분석 결과를 운영 자원 배치와 모니터링 체계로 연결한다.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62002AB0-52F7-41F6-8B17-7C9193E423DA}"/>
              </a:ext>
            </a:extLst>
          </p:cNvPr>
          <p:cNvSpPr>
            <a:spLocks noGrp="1"/>
          </p:cNvSpPr>
          <p:nvPr/>
        </p:nvSpPr>
        <p:spPr>
          <a:xfrm>
            <a:off x="400050" y="5953125"/>
            <a:ext cx="11391900" cy="190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936859B0-E7A0-4AD3-BA40-B18F01CB3D7E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F4972D29-6DDF-4D5F-A446-0F76F59A795B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6541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직사각형 105">
            <a:extLst>
              <a:ext uri="{FF2B5EF4-FFF2-40B4-BE49-F238E27FC236}">
                <a16:creationId xmlns:a16="http://schemas.microsoft.com/office/drawing/2014/main" xmlns="" id="{FB18D266-51EF-49EE-A1C4-295447AC94AA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97446BAA-4D52-455A-AA77-548CC1314F0B}"/>
              </a:ext>
            </a:extLst>
          </p:cNvPr>
          <p:cNvSpPr>
            <a:spLocks noGrp="1"/>
          </p:cNvSpPr>
          <p:nvPr/>
        </p:nvSpPr>
        <p:spPr>
          <a:xfrm>
            <a:off x="666750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90A06A55-FC6C-4A1B-9018-163D0A9F0DD0}"/>
              </a:ext>
            </a:extLst>
          </p:cNvPr>
          <p:cNvSpPr>
            <a:spLocks noGrp="1"/>
          </p:cNvSpPr>
          <p:nvPr/>
        </p:nvSpPr>
        <p:spPr>
          <a:xfrm>
            <a:off x="6753225" y="657225"/>
            <a:ext cx="89535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77B2C24B-B04E-4CEB-BCC0-CE79C0697BDB}"/>
              </a:ext>
            </a:extLst>
          </p:cNvPr>
          <p:cNvSpPr>
            <a:spLocks noGrp="1"/>
          </p:cNvSpPr>
          <p:nvPr/>
        </p:nvSpPr>
        <p:spPr>
          <a:xfrm>
            <a:off x="786765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E36079E8-ABF1-407F-A454-33DA4835F175}"/>
              </a:ext>
            </a:extLst>
          </p:cNvPr>
          <p:cNvSpPr>
            <a:spLocks noGrp="1"/>
          </p:cNvSpPr>
          <p:nvPr/>
        </p:nvSpPr>
        <p:spPr>
          <a:xfrm>
            <a:off x="7953375" y="657225"/>
            <a:ext cx="89535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FAF7D10D-6564-4D5F-945B-741BD4DDDE37}"/>
              </a:ext>
            </a:extLst>
          </p:cNvPr>
          <p:cNvSpPr>
            <a:spLocks noGrp="1"/>
          </p:cNvSpPr>
          <p:nvPr/>
        </p:nvSpPr>
        <p:spPr>
          <a:xfrm>
            <a:off x="906780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A42BCE6D-7301-4027-B899-EE344E6A68DC}"/>
              </a:ext>
            </a:extLst>
          </p:cNvPr>
          <p:cNvSpPr>
            <a:spLocks noGrp="1"/>
          </p:cNvSpPr>
          <p:nvPr/>
        </p:nvSpPr>
        <p:spPr>
          <a:xfrm>
            <a:off x="9153525" y="657225"/>
            <a:ext cx="89535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2722DBC9-B59D-49DA-8425-BFB8C0E49355}"/>
              </a:ext>
            </a:extLst>
          </p:cNvPr>
          <p:cNvSpPr>
            <a:spLocks noGrp="1"/>
          </p:cNvSpPr>
          <p:nvPr/>
        </p:nvSpPr>
        <p:spPr>
          <a:xfrm>
            <a:off x="1026795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D8A48928-67FA-4420-A1AE-2C6F5C48D2E1}"/>
              </a:ext>
            </a:extLst>
          </p:cNvPr>
          <p:cNvSpPr>
            <a:spLocks noGrp="1"/>
          </p:cNvSpPr>
          <p:nvPr/>
        </p:nvSpPr>
        <p:spPr>
          <a:xfrm>
            <a:off x="10353675" y="657225"/>
            <a:ext cx="895350" cy="2857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1DA4C27C-80D5-4AE4-8260-BB9327D15609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8953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우선순위 점수: A등급 69개 역부터 관리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4C3F7817-0025-4413-950C-35A3C7588E54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D4DF2646-6814-459B-8394-6CA1F9952936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A4756F55-A230-44B4-BD95-A033D4B9BCD8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0B3FA274-B582-4BF1-A7D4-6B2D408028D5}"/>
              </a:ext>
            </a:extLst>
          </p:cNvPr>
          <p:cNvSpPr>
            <a:spLocks noGrp="1"/>
          </p:cNvSpPr>
          <p:nvPr/>
        </p:nvSpPr>
        <p:spPr>
          <a:xfrm>
            <a:off x="723900" y="1714500"/>
            <a:ext cx="1066800" cy="514350"/>
          </a:xfrm>
          <a:prstGeom prst="rect">
            <a:avLst/>
          </a:prstGeom>
          <a:solidFill>
            <a:srgbClr val="F0F1F3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E6D0DE15-E5B6-403A-BDA1-45A8AA94C668}"/>
              </a:ext>
            </a:extLst>
          </p:cNvPr>
          <p:cNvSpPr>
            <a:spLocks noGrp="1"/>
          </p:cNvSpPr>
          <p:nvPr/>
        </p:nvSpPr>
        <p:spPr>
          <a:xfrm>
            <a:off x="819150" y="1790700"/>
            <a:ext cx="876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순위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435844BD-9CCA-4C99-93B6-63C1ED9E227A}"/>
              </a:ext>
            </a:extLst>
          </p:cNvPr>
          <p:cNvSpPr>
            <a:spLocks noGrp="1"/>
          </p:cNvSpPr>
          <p:nvPr/>
        </p:nvSpPr>
        <p:spPr>
          <a:xfrm>
            <a:off x="1790700" y="1714500"/>
            <a:ext cx="3840480" cy="514350"/>
          </a:xfrm>
          <a:prstGeom prst="rect">
            <a:avLst/>
          </a:prstGeom>
          <a:solidFill>
            <a:srgbClr val="F0F1F3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5E3898F4-41BF-4E75-B24C-8B5A534E6C47}"/>
              </a:ext>
            </a:extLst>
          </p:cNvPr>
          <p:cNvSpPr>
            <a:spLocks noGrp="1"/>
          </p:cNvSpPr>
          <p:nvPr/>
        </p:nvSpPr>
        <p:spPr>
          <a:xfrm>
            <a:off x="1885950" y="1790700"/>
            <a:ext cx="36499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역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B745C4DB-7AF3-4DB9-B463-E8FFCD1F2794}"/>
              </a:ext>
            </a:extLst>
          </p:cNvPr>
          <p:cNvSpPr>
            <a:spLocks noGrp="1"/>
          </p:cNvSpPr>
          <p:nvPr/>
        </p:nvSpPr>
        <p:spPr>
          <a:xfrm>
            <a:off x="5631180" y="1714500"/>
            <a:ext cx="1706880" cy="514350"/>
          </a:xfrm>
          <a:prstGeom prst="rect">
            <a:avLst/>
          </a:prstGeom>
          <a:solidFill>
            <a:srgbClr val="F0F1F3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xmlns="" id="{DD444983-DA42-400F-B6EE-607B4C068487}"/>
              </a:ext>
            </a:extLst>
          </p:cNvPr>
          <p:cNvSpPr>
            <a:spLocks noGrp="1"/>
          </p:cNvSpPr>
          <p:nvPr/>
        </p:nvSpPr>
        <p:spPr>
          <a:xfrm>
            <a:off x="5726430" y="1790700"/>
            <a:ext cx="15163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점수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xmlns="" id="{7E543B4B-34FF-4C40-9315-837C80E91025}"/>
              </a:ext>
            </a:extLst>
          </p:cNvPr>
          <p:cNvSpPr>
            <a:spLocks noGrp="1"/>
          </p:cNvSpPr>
          <p:nvPr/>
        </p:nvSpPr>
        <p:spPr>
          <a:xfrm>
            <a:off x="7338060" y="1714500"/>
            <a:ext cx="1280160" cy="514350"/>
          </a:xfrm>
          <a:prstGeom prst="rect">
            <a:avLst/>
          </a:prstGeom>
          <a:solidFill>
            <a:srgbClr val="F0F1F3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xmlns="" id="{35FCA549-22F7-4A76-A94E-7AE444A6A108}"/>
              </a:ext>
            </a:extLst>
          </p:cNvPr>
          <p:cNvSpPr>
            <a:spLocks noGrp="1"/>
          </p:cNvSpPr>
          <p:nvPr/>
        </p:nvSpPr>
        <p:spPr>
          <a:xfrm>
            <a:off x="7433310" y="1790700"/>
            <a:ext cx="108966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등급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xmlns="" id="{139214E3-D910-422C-833D-5EE298974091}"/>
              </a:ext>
            </a:extLst>
          </p:cNvPr>
          <p:cNvSpPr>
            <a:spLocks noGrp="1"/>
          </p:cNvSpPr>
          <p:nvPr/>
        </p:nvSpPr>
        <p:spPr>
          <a:xfrm>
            <a:off x="8618220" y="1714500"/>
            <a:ext cx="2773680" cy="514350"/>
          </a:xfrm>
          <a:prstGeom prst="rect">
            <a:avLst/>
          </a:prstGeom>
          <a:solidFill>
            <a:srgbClr val="F0F1F3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xmlns="" id="{7C99EEFF-FAA2-48AB-9440-D2700137A0EE}"/>
              </a:ext>
            </a:extLst>
          </p:cNvPr>
          <p:cNvSpPr>
            <a:spLocks noGrp="1"/>
          </p:cNvSpPr>
          <p:nvPr/>
        </p:nvSpPr>
        <p:spPr>
          <a:xfrm>
            <a:off x="8713470" y="1790700"/>
            <a:ext cx="25831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피크유동량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xmlns="" id="{06DB9F18-0B46-4F82-8703-F75F65460FC2}"/>
              </a:ext>
            </a:extLst>
          </p:cNvPr>
          <p:cNvSpPr>
            <a:spLocks noGrp="1"/>
          </p:cNvSpPr>
          <p:nvPr/>
        </p:nvSpPr>
        <p:spPr>
          <a:xfrm>
            <a:off x="723900" y="2228850"/>
            <a:ext cx="10668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xmlns="" id="{F822EA60-246D-49A5-B4E1-997AD65CC296}"/>
              </a:ext>
            </a:extLst>
          </p:cNvPr>
          <p:cNvSpPr>
            <a:spLocks noGrp="1"/>
          </p:cNvSpPr>
          <p:nvPr/>
        </p:nvSpPr>
        <p:spPr>
          <a:xfrm>
            <a:off x="819150" y="2305050"/>
            <a:ext cx="876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xmlns="" id="{D4B8F74A-567D-4FEF-A69A-03739105E1CD}"/>
              </a:ext>
            </a:extLst>
          </p:cNvPr>
          <p:cNvSpPr>
            <a:spLocks noGrp="1"/>
          </p:cNvSpPr>
          <p:nvPr/>
        </p:nvSpPr>
        <p:spPr>
          <a:xfrm>
            <a:off x="1790700" y="2228850"/>
            <a:ext cx="38404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xmlns="" id="{EC0C84DA-4CE0-4030-A248-AE289369C6F6}"/>
              </a:ext>
            </a:extLst>
          </p:cNvPr>
          <p:cNvSpPr>
            <a:spLocks noGrp="1"/>
          </p:cNvSpPr>
          <p:nvPr/>
        </p:nvSpPr>
        <p:spPr>
          <a:xfrm>
            <a:off x="1885950" y="2305050"/>
            <a:ext cx="36499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2호선 강남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xmlns="" id="{5E11D7ED-E30A-4E32-A853-6F1237F7794D}"/>
              </a:ext>
            </a:extLst>
          </p:cNvPr>
          <p:cNvSpPr>
            <a:spLocks noGrp="1"/>
          </p:cNvSpPr>
          <p:nvPr/>
        </p:nvSpPr>
        <p:spPr>
          <a:xfrm>
            <a:off x="5631180" y="2228850"/>
            <a:ext cx="17068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xmlns="" id="{C8C06DB2-88EE-4390-A01A-FFDDBC374C3C}"/>
              </a:ext>
            </a:extLst>
          </p:cNvPr>
          <p:cNvSpPr>
            <a:spLocks noGrp="1"/>
          </p:cNvSpPr>
          <p:nvPr/>
        </p:nvSpPr>
        <p:spPr>
          <a:xfrm>
            <a:off x="5726430" y="2305050"/>
            <a:ext cx="15163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1.000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xmlns="" id="{CF9D1350-6847-4B60-8411-A0D931F0BD09}"/>
              </a:ext>
            </a:extLst>
          </p:cNvPr>
          <p:cNvSpPr>
            <a:spLocks noGrp="1"/>
          </p:cNvSpPr>
          <p:nvPr/>
        </p:nvSpPr>
        <p:spPr>
          <a:xfrm>
            <a:off x="7338060" y="2228850"/>
            <a:ext cx="128016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xmlns="" id="{D4BF257A-9EAD-47BD-B282-AB2D26867724}"/>
              </a:ext>
            </a:extLst>
          </p:cNvPr>
          <p:cNvSpPr>
            <a:spLocks noGrp="1"/>
          </p:cNvSpPr>
          <p:nvPr/>
        </p:nvSpPr>
        <p:spPr>
          <a:xfrm>
            <a:off x="7433310" y="2305050"/>
            <a:ext cx="108966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xmlns="" id="{DA31458B-C39B-40D4-93AE-3178CF9D4188}"/>
              </a:ext>
            </a:extLst>
          </p:cNvPr>
          <p:cNvSpPr>
            <a:spLocks noGrp="1"/>
          </p:cNvSpPr>
          <p:nvPr/>
        </p:nvSpPr>
        <p:spPr>
          <a:xfrm>
            <a:off x="8618220" y="2228850"/>
            <a:ext cx="27736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xmlns="" id="{EC85C618-471A-4C04-9687-BCD716C27AA4}"/>
              </a:ext>
            </a:extLst>
          </p:cNvPr>
          <p:cNvSpPr>
            <a:spLocks noGrp="1"/>
          </p:cNvSpPr>
          <p:nvPr/>
        </p:nvSpPr>
        <p:spPr>
          <a:xfrm>
            <a:off x="8713470" y="2305050"/>
            <a:ext cx="25831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19,752만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xmlns="" id="{8C46FFF7-71AC-43E8-96C9-9112DBE8290B}"/>
              </a:ext>
            </a:extLst>
          </p:cNvPr>
          <p:cNvSpPr>
            <a:spLocks noGrp="1"/>
          </p:cNvSpPr>
          <p:nvPr/>
        </p:nvSpPr>
        <p:spPr>
          <a:xfrm>
            <a:off x="723900" y="2743200"/>
            <a:ext cx="10668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xmlns="" id="{05A81AEE-657B-4F29-B67C-F71A6428BA10}"/>
              </a:ext>
            </a:extLst>
          </p:cNvPr>
          <p:cNvSpPr>
            <a:spLocks noGrp="1"/>
          </p:cNvSpPr>
          <p:nvPr/>
        </p:nvSpPr>
        <p:spPr>
          <a:xfrm>
            <a:off x="819150" y="2819400"/>
            <a:ext cx="876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xmlns="" id="{5DAA2F2E-14AD-406C-A2AF-B6CDC02EF488}"/>
              </a:ext>
            </a:extLst>
          </p:cNvPr>
          <p:cNvSpPr>
            <a:spLocks noGrp="1"/>
          </p:cNvSpPr>
          <p:nvPr/>
        </p:nvSpPr>
        <p:spPr>
          <a:xfrm>
            <a:off x="1790700" y="2743200"/>
            <a:ext cx="38404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xmlns="" id="{78B4D280-E063-4B34-8841-05BB24BB9E06}"/>
              </a:ext>
            </a:extLst>
          </p:cNvPr>
          <p:cNvSpPr>
            <a:spLocks noGrp="1"/>
          </p:cNvSpPr>
          <p:nvPr/>
        </p:nvSpPr>
        <p:spPr>
          <a:xfrm>
            <a:off x="1885950" y="2819400"/>
            <a:ext cx="36499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2호선 신림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xmlns="" id="{623E540D-A81E-42E0-9CC8-EBDDA358C812}"/>
              </a:ext>
            </a:extLst>
          </p:cNvPr>
          <p:cNvSpPr>
            <a:spLocks noGrp="1"/>
          </p:cNvSpPr>
          <p:nvPr/>
        </p:nvSpPr>
        <p:spPr>
          <a:xfrm>
            <a:off x="5631180" y="2743200"/>
            <a:ext cx="17068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xmlns="" id="{C9DEEB52-429D-4092-9CAC-993FBD86A384}"/>
              </a:ext>
            </a:extLst>
          </p:cNvPr>
          <p:cNvSpPr>
            <a:spLocks noGrp="1"/>
          </p:cNvSpPr>
          <p:nvPr/>
        </p:nvSpPr>
        <p:spPr>
          <a:xfrm>
            <a:off x="5726430" y="2819400"/>
            <a:ext cx="15163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0.724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xmlns="" id="{36949DFA-8C3D-4DA7-9FCC-D54D630154E6}"/>
              </a:ext>
            </a:extLst>
          </p:cNvPr>
          <p:cNvSpPr>
            <a:spLocks noGrp="1"/>
          </p:cNvSpPr>
          <p:nvPr/>
        </p:nvSpPr>
        <p:spPr>
          <a:xfrm>
            <a:off x="7338060" y="2743200"/>
            <a:ext cx="128016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xmlns="" id="{0E5EC16A-5E72-4796-BC10-C597D5A0E31D}"/>
              </a:ext>
            </a:extLst>
          </p:cNvPr>
          <p:cNvSpPr>
            <a:spLocks noGrp="1"/>
          </p:cNvSpPr>
          <p:nvPr/>
        </p:nvSpPr>
        <p:spPr>
          <a:xfrm>
            <a:off x="7433310" y="2819400"/>
            <a:ext cx="108966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xmlns="" id="{156520AD-F37C-4D6A-B2B6-A62908D662EB}"/>
              </a:ext>
            </a:extLst>
          </p:cNvPr>
          <p:cNvSpPr>
            <a:spLocks noGrp="1"/>
          </p:cNvSpPr>
          <p:nvPr/>
        </p:nvSpPr>
        <p:spPr>
          <a:xfrm>
            <a:off x="8618220" y="2743200"/>
            <a:ext cx="27736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xmlns="" id="{6ED33DBD-DE1C-4516-AF53-44061C24DCB6}"/>
              </a:ext>
            </a:extLst>
          </p:cNvPr>
          <p:cNvSpPr>
            <a:spLocks noGrp="1"/>
          </p:cNvSpPr>
          <p:nvPr/>
        </p:nvSpPr>
        <p:spPr>
          <a:xfrm>
            <a:off x="8713470" y="2819400"/>
            <a:ext cx="25831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14,581만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xmlns="" id="{116629B6-5CD5-4D56-A278-78E6C16FBC67}"/>
              </a:ext>
            </a:extLst>
          </p:cNvPr>
          <p:cNvSpPr>
            <a:spLocks noGrp="1"/>
          </p:cNvSpPr>
          <p:nvPr/>
        </p:nvSpPr>
        <p:spPr>
          <a:xfrm>
            <a:off x="723900" y="3257550"/>
            <a:ext cx="10668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xmlns="" id="{393CBE12-C1AC-468B-9A19-296EC2FC1407}"/>
              </a:ext>
            </a:extLst>
          </p:cNvPr>
          <p:cNvSpPr>
            <a:spLocks noGrp="1"/>
          </p:cNvSpPr>
          <p:nvPr/>
        </p:nvSpPr>
        <p:spPr>
          <a:xfrm>
            <a:off x="819150" y="3333750"/>
            <a:ext cx="876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xmlns="" id="{666536CF-EE5E-4389-A403-423BA0797594}"/>
              </a:ext>
            </a:extLst>
          </p:cNvPr>
          <p:cNvSpPr>
            <a:spLocks noGrp="1"/>
          </p:cNvSpPr>
          <p:nvPr/>
        </p:nvSpPr>
        <p:spPr>
          <a:xfrm>
            <a:off x="1790700" y="3257550"/>
            <a:ext cx="38404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xmlns="" id="{3AE3AE63-D86C-41BF-8613-BDA127DB04EE}"/>
              </a:ext>
            </a:extLst>
          </p:cNvPr>
          <p:cNvSpPr>
            <a:spLocks noGrp="1"/>
          </p:cNvSpPr>
          <p:nvPr/>
        </p:nvSpPr>
        <p:spPr>
          <a:xfrm>
            <a:off x="1885950" y="3333750"/>
            <a:ext cx="36499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2호선 홍대입구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xmlns="" id="{CEEB70A3-E202-4CF6-B4C4-D61CDC773895}"/>
              </a:ext>
            </a:extLst>
          </p:cNvPr>
          <p:cNvSpPr>
            <a:spLocks noGrp="1"/>
          </p:cNvSpPr>
          <p:nvPr/>
        </p:nvSpPr>
        <p:spPr>
          <a:xfrm>
            <a:off x="5631180" y="3257550"/>
            <a:ext cx="17068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xmlns="" id="{02C44631-EF06-438A-AA06-91A0100B4FB1}"/>
              </a:ext>
            </a:extLst>
          </p:cNvPr>
          <p:cNvSpPr>
            <a:spLocks noGrp="1"/>
          </p:cNvSpPr>
          <p:nvPr/>
        </p:nvSpPr>
        <p:spPr>
          <a:xfrm>
            <a:off x="5726430" y="3333750"/>
            <a:ext cx="15163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0.721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xmlns="" id="{2682F5D4-8A9E-4275-95B1-AB9C0ED5EEA2}"/>
              </a:ext>
            </a:extLst>
          </p:cNvPr>
          <p:cNvSpPr>
            <a:spLocks noGrp="1"/>
          </p:cNvSpPr>
          <p:nvPr/>
        </p:nvSpPr>
        <p:spPr>
          <a:xfrm>
            <a:off x="7338060" y="3257550"/>
            <a:ext cx="128016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xmlns="" id="{8DD1957F-175A-4DAA-BBA7-D9E49FCB3A3C}"/>
              </a:ext>
            </a:extLst>
          </p:cNvPr>
          <p:cNvSpPr>
            <a:spLocks noGrp="1"/>
          </p:cNvSpPr>
          <p:nvPr/>
        </p:nvSpPr>
        <p:spPr>
          <a:xfrm>
            <a:off x="7433310" y="3333750"/>
            <a:ext cx="108966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xmlns="" id="{3493C12C-57AA-4102-94EC-86B9BF754678}"/>
              </a:ext>
            </a:extLst>
          </p:cNvPr>
          <p:cNvSpPr>
            <a:spLocks noGrp="1"/>
          </p:cNvSpPr>
          <p:nvPr/>
        </p:nvSpPr>
        <p:spPr>
          <a:xfrm>
            <a:off x="8618220" y="3257550"/>
            <a:ext cx="27736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xmlns="" id="{370BA4AA-038B-412D-8B14-161843F0E83C}"/>
              </a:ext>
            </a:extLst>
          </p:cNvPr>
          <p:cNvSpPr>
            <a:spLocks noGrp="1"/>
          </p:cNvSpPr>
          <p:nvPr/>
        </p:nvSpPr>
        <p:spPr>
          <a:xfrm>
            <a:off x="8713470" y="3333750"/>
            <a:ext cx="25831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13,149만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xmlns="" id="{5F9B067A-D09D-40B3-B1A2-1A014D4BCABF}"/>
              </a:ext>
            </a:extLst>
          </p:cNvPr>
          <p:cNvSpPr>
            <a:spLocks noGrp="1"/>
          </p:cNvSpPr>
          <p:nvPr/>
        </p:nvSpPr>
        <p:spPr>
          <a:xfrm>
            <a:off x="723900" y="3771900"/>
            <a:ext cx="10668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xmlns="" id="{023DE87F-150D-4FD7-8C86-C1B94EE99728}"/>
              </a:ext>
            </a:extLst>
          </p:cNvPr>
          <p:cNvSpPr>
            <a:spLocks noGrp="1"/>
          </p:cNvSpPr>
          <p:nvPr/>
        </p:nvSpPr>
        <p:spPr>
          <a:xfrm>
            <a:off x="819150" y="3848100"/>
            <a:ext cx="876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xmlns="" id="{BC57E48E-CECF-43BD-BE86-E98E18EF3624}"/>
              </a:ext>
            </a:extLst>
          </p:cNvPr>
          <p:cNvSpPr>
            <a:spLocks noGrp="1"/>
          </p:cNvSpPr>
          <p:nvPr/>
        </p:nvSpPr>
        <p:spPr>
          <a:xfrm>
            <a:off x="1790700" y="3771900"/>
            <a:ext cx="38404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xmlns="" id="{2A86956C-8ED8-4612-B6E2-5AEF0BBE41EE}"/>
              </a:ext>
            </a:extLst>
          </p:cNvPr>
          <p:cNvSpPr>
            <a:spLocks noGrp="1"/>
          </p:cNvSpPr>
          <p:nvPr/>
        </p:nvSpPr>
        <p:spPr>
          <a:xfrm>
            <a:off x="1885950" y="3848100"/>
            <a:ext cx="36499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2호선 구로디지털단지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xmlns="" id="{B1AD85FD-9E7F-4C3E-A5D2-5F7FE55DDBF7}"/>
              </a:ext>
            </a:extLst>
          </p:cNvPr>
          <p:cNvSpPr>
            <a:spLocks noGrp="1"/>
          </p:cNvSpPr>
          <p:nvPr/>
        </p:nvSpPr>
        <p:spPr>
          <a:xfrm>
            <a:off x="5631180" y="3771900"/>
            <a:ext cx="17068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xmlns="" id="{951FF14A-C089-4EFA-9C24-44E427A5D491}"/>
              </a:ext>
            </a:extLst>
          </p:cNvPr>
          <p:cNvSpPr>
            <a:spLocks noGrp="1"/>
          </p:cNvSpPr>
          <p:nvPr/>
        </p:nvSpPr>
        <p:spPr>
          <a:xfrm>
            <a:off x="5726430" y="3848100"/>
            <a:ext cx="15163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0.691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xmlns="" id="{BB47945E-4975-4FA6-A768-27EC33013137}"/>
              </a:ext>
            </a:extLst>
          </p:cNvPr>
          <p:cNvSpPr>
            <a:spLocks noGrp="1"/>
          </p:cNvSpPr>
          <p:nvPr/>
        </p:nvSpPr>
        <p:spPr>
          <a:xfrm>
            <a:off x="7338060" y="3771900"/>
            <a:ext cx="128016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xmlns="" id="{2301E62B-CD98-479D-9413-2141BAFBEB4D}"/>
              </a:ext>
            </a:extLst>
          </p:cNvPr>
          <p:cNvSpPr>
            <a:spLocks noGrp="1"/>
          </p:cNvSpPr>
          <p:nvPr/>
        </p:nvSpPr>
        <p:spPr>
          <a:xfrm>
            <a:off x="7433310" y="3848100"/>
            <a:ext cx="108966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xmlns="" id="{BAB76C89-0E93-4E26-A031-8C1B51198725}"/>
              </a:ext>
            </a:extLst>
          </p:cNvPr>
          <p:cNvSpPr>
            <a:spLocks noGrp="1"/>
          </p:cNvSpPr>
          <p:nvPr/>
        </p:nvSpPr>
        <p:spPr>
          <a:xfrm>
            <a:off x="8618220" y="3771900"/>
            <a:ext cx="27736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xmlns="" id="{D903BD1A-0FC7-485A-801B-3772B39630FC}"/>
              </a:ext>
            </a:extLst>
          </p:cNvPr>
          <p:cNvSpPr>
            <a:spLocks noGrp="1"/>
          </p:cNvSpPr>
          <p:nvPr/>
        </p:nvSpPr>
        <p:spPr>
          <a:xfrm>
            <a:off x="8713470" y="3848100"/>
            <a:ext cx="25831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14,748만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xmlns="" id="{ADC1A9C3-CDCA-483F-BD3A-DD6F5BA9A3EB}"/>
              </a:ext>
            </a:extLst>
          </p:cNvPr>
          <p:cNvSpPr>
            <a:spLocks noGrp="1"/>
          </p:cNvSpPr>
          <p:nvPr/>
        </p:nvSpPr>
        <p:spPr>
          <a:xfrm>
            <a:off x="723900" y="4286250"/>
            <a:ext cx="10668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xmlns="" id="{8A7996E2-977E-456B-AA16-3A77BB9AEF31}"/>
              </a:ext>
            </a:extLst>
          </p:cNvPr>
          <p:cNvSpPr>
            <a:spLocks noGrp="1"/>
          </p:cNvSpPr>
          <p:nvPr/>
        </p:nvSpPr>
        <p:spPr>
          <a:xfrm>
            <a:off x="819150" y="4362450"/>
            <a:ext cx="876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xmlns="" id="{913A3A0F-C4DE-41C5-815C-4023B267A4A2}"/>
              </a:ext>
            </a:extLst>
          </p:cNvPr>
          <p:cNvSpPr>
            <a:spLocks noGrp="1"/>
          </p:cNvSpPr>
          <p:nvPr/>
        </p:nvSpPr>
        <p:spPr>
          <a:xfrm>
            <a:off x="1790700" y="4286250"/>
            <a:ext cx="38404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xmlns="" id="{10401C60-BE66-421F-988B-D4D9435FDAB6}"/>
              </a:ext>
            </a:extLst>
          </p:cNvPr>
          <p:cNvSpPr>
            <a:spLocks noGrp="1"/>
          </p:cNvSpPr>
          <p:nvPr/>
        </p:nvSpPr>
        <p:spPr>
          <a:xfrm>
            <a:off x="1885950" y="4362450"/>
            <a:ext cx="36499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2호선 신도림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xmlns="" id="{FC662BC1-0686-4B34-B5D6-AF67534DBDB2}"/>
              </a:ext>
            </a:extLst>
          </p:cNvPr>
          <p:cNvSpPr>
            <a:spLocks noGrp="1"/>
          </p:cNvSpPr>
          <p:nvPr/>
        </p:nvSpPr>
        <p:spPr>
          <a:xfrm>
            <a:off x="5631180" y="4286250"/>
            <a:ext cx="17068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xmlns="" id="{25D5A96F-FDB1-4587-AD47-8FE1A05B4AFF}"/>
              </a:ext>
            </a:extLst>
          </p:cNvPr>
          <p:cNvSpPr>
            <a:spLocks noGrp="1"/>
          </p:cNvSpPr>
          <p:nvPr/>
        </p:nvSpPr>
        <p:spPr>
          <a:xfrm>
            <a:off x="5726430" y="4362450"/>
            <a:ext cx="15163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0.601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xmlns="" id="{72C4348D-9FED-4D1C-B6E6-D59535B1D16A}"/>
              </a:ext>
            </a:extLst>
          </p:cNvPr>
          <p:cNvSpPr>
            <a:spLocks noGrp="1"/>
          </p:cNvSpPr>
          <p:nvPr/>
        </p:nvSpPr>
        <p:spPr>
          <a:xfrm>
            <a:off x="7338060" y="4286250"/>
            <a:ext cx="128016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xmlns="" id="{276658A9-6059-4281-94D3-815A052A9C31}"/>
              </a:ext>
            </a:extLst>
          </p:cNvPr>
          <p:cNvSpPr>
            <a:spLocks noGrp="1"/>
          </p:cNvSpPr>
          <p:nvPr/>
        </p:nvSpPr>
        <p:spPr>
          <a:xfrm>
            <a:off x="7433310" y="4362450"/>
            <a:ext cx="108966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xmlns="" id="{0151D22A-1C0F-41E4-9942-C37FB7A9B999}"/>
              </a:ext>
            </a:extLst>
          </p:cNvPr>
          <p:cNvSpPr>
            <a:spLocks noGrp="1"/>
          </p:cNvSpPr>
          <p:nvPr/>
        </p:nvSpPr>
        <p:spPr>
          <a:xfrm>
            <a:off x="8618220" y="4286250"/>
            <a:ext cx="27736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xmlns="" id="{0169AF4C-B3DA-407B-BF84-6E6D2FE7D803}"/>
              </a:ext>
            </a:extLst>
          </p:cNvPr>
          <p:cNvSpPr>
            <a:spLocks noGrp="1"/>
          </p:cNvSpPr>
          <p:nvPr/>
        </p:nvSpPr>
        <p:spPr>
          <a:xfrm>
            <a:off x="8713470" y="4362450"/>
            <a:ext cx="25831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11,832만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xmlns="" id="{D5E58169-803F-41DA-B127-F4F818902699}"/>
              </a:ext>
            </a:extLst>
          </p:cNvPr>
          <p:cNvSpPr>
            <a:spLocks noGrp="1"/>
          </p:cNvSpPr>
          <p:nvPr/>
        </p:nvSpPr>
        <p:spPr>
          <a:xfrm>
            <a:off x="723900" y="4800600"/>
            <a:ext cx="10668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xmlns="" id="{4C68BFC1-E787-4A28-BB15-EA52AF88C39A}"/>
              </a:ext>
            </a:extLst>
          </p:cNvPr>
          <p:cNvSpPr>
            <a:spLocks noGrp="1"/>
          </p:cNvSpPr>
          <p:nvPr/>
        </p:nvSpPr>
        <p:spPr>
          <a:xfrm>
            <a:off x="819150" y="4876800"/>
            <a:ext cx="876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xmlns="" id="{9D96D592-A2A2-4E36-A9DB-46C7BBE3579F}"/>
              </a:ext>
            </a:extLst>
          </p:cNvPr>
          <p:cNvSpPr>
            <a:spLocks noGrp="1"/>
          </p:cNvSpPr>
          <p:nvPr/>
        </p:nvSpPr>
        <p:spPr>
          <a:xfrm>
            <a:off x="1790700" y="4800600"/>
            <a:ext cx="38404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xmlns="" id="{AEB750DD-2838-497F-AB33-C6110DF1CCA7}"/>
              </a:ext>
            </a:extLst>
          </p:cNvPr>
          <p:cNvSpPr>
            <a:spLocks noGrp="1"/>
          </p:cNvSpPr>
          <p:nvPr/>
        </p:nvSpPr>
        <p:spPr>
          <a:xfrm>
            <a:off x="1885950" y="4876800"/>
            <a:ext cx="36499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2호선 잠실(송파구청)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xmlns="" id="{50564C22-B739-4615-9606-2BBBA08A0E20}"/>
              </a:ext>
            </a:extLst>
          </p:cNvPr>
          <p:cNvSpPr>
            <a:spLocks noGrp="1"/>
          </p:cNvSpPr>
          <p:nvPr/>
        </p:nvSpPr>
        <p:spPr>
          <a:xfrm>
            <a:off x="5631180" y="4800600"/>
            <a:ext cx="17068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xmlns="" id="{9D95D749-A738-4706-A0C9-77B8F42D5A98}"/>
              </a:ext>
            </a:extLst>
          </p:cNvPr>
          <p:cNvSpPr>
            <a:spLocks noGrp="1"/>
          </p:cNvSpPr>
          <p:nvPr/>
        </p:nvSpPr>
        <p:spPr>
          <a:xfrm>
            <a:off x="5726430" y="4876800"/>
            <a:ext cx="15163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0.595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xmlns="" id="{2730819A-1B3A-465E-865C-EEFFE77BF19D}"/>
              </a:ext>
            </a:extLst>
          </p:cNvPr>
          <p:cNvSpPr>
            <a:spLocks noGrp="1"/>
          </p:cNvSpPr>
          <p:nvPr/>
        </p:nvSpPr>
        <p:spPr>
          <a:xfrm>
            <a:off x="7338060" y="4800600"/>
            <a:ext cx="128016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xmlns="" id="{E44BB57F-004B-40C9-8C07-7AC87B2772BC}"/>
              </a:ext>
            </a:extLst>
          </p:cNvPr>
          <p:cNvSpPr>
            <a:spLocks noGrp="1"/>
          </p:cNvSpPr>
          <p:nvPr/>
        </p:nvSpPr>
        <p:spPr>
          <a:xfrm>
            <a:off x="7433310" y="4876800"/>
            <a:ext cx="108966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xmlns="" id="{E9EB3592-FA88-4ABE-AA81-C91CA0F4A8AF}"/>
              </a:ext>
            </a:extLst>
          </p:cNvPr>
          <p:cNvSpPr>
            <a:spLocks noGrp="1"/>
          </p:cNvSpPr>
          <p:nvPr/>
        </p:nvSpPr>
        <p:spPr>
          <a:xfrm>
            <a:off x="8618220" y="4800600"/>
            <a:ext cx="27736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xmlns="" id="{BB287214-B764-42BE-95EB-F054ABF9ECA8}"/>
              </a:ext>
            </a:extLst>
          </p:cNvPr>
          <p:cNvSpPr>
            <a:spLocks noGrp="1"/>
          </p:cNvSpPr>
          <p:nvPr/>
        </p:nvSpPr>
        <p:spPr>
          <a:xfrm>
            <a:off x="8713470" y="4876800"/>
            <a:ext cx="25831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11,743만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xmlns="" id="{BF8F145E-F0DF-4739-94B2-751A47A9CDD7}"/>
              </a:ext>
            </a:extLst>
          </p:cNvPr>
          <p:cNvSpPr>
            <a:spLocks noGrp="1"/>
          </p:cNvSpPr>
          <p:nvPr/>
        </p:nvSpPr>
        <p:spPr>
          <a:xfrm>
            <a:off x="723900" y="5314950"/>
            <a:ext cx="10668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xmlns="" id="{C755D656-5A12-4840-B9E5-F7A307DACBD8}"/>
              </a:ext>
            </a:extLst>
          </p:cNvPr>
          <p:cNvSpPr>
            <a:spLocks noGrp="1"/>
          </p:cNvSpPr>
          <p:nvPr/>
        </p:nvSpPr>
        <p:spPr>
          <a:xfrm>
            <a:off x="819150" y="5391150"/>
            <a:ext cx="876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xmlns="" id="{9CE9ACB5-51CB-4B30-9F53-3419B2D148A7}"/>
              </a:ext>
            </a:extLst>
          </p:cNvPr>
          <p:cNvSpPr>
            <a:spLocks noGrp="1"/>
          </p:cNvSpPr>
          <p:nvPr/>
        </p:nvSpPr>
        <p:spPr>
          <a:xfrm>
            <a:off x="1790700" y="5314950"/>
            <a:ext cx="38404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xmlns="" id="{B5B8AAFF-2ED3-48F2-A95B-F56CC9BF5187}"/>
              </a:ext>
            </a:extLst>
          </p:cNvPr>
          <p:cNvSpPr>
            <a:spLocks noGrp="1"/>
          </p:cNvSpPr>
          <p:nvPr/>
        </p:nvSpPr>
        <p:spPr>
          <a:xfrm>
            <a:off x="1885950" y="5391150"/>
            <a:ext cx="36499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2호선 선릉</a:t>
            </a: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xmlns="" id="{E3A4E819-3B69-4D02-9BCB-BF7DEE961E9A}"/>
              </a:ext>
            </a:extLst>
          </p:cNvPr>
          <p:cNvSpPr>
            <a:spLocks noGrp="1"/>
          </p:cNvSpPr>
          <p:nvPr/>
        </p:nvSpPr>
        <p:spPr>
          <a:xfrm>
            <a:off x="5631180" y="5314950"/>
            <a:ext cx="17068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xmlns="" id="{916102D1-DCAF-4747-BD4E-68A30E66D33C}"/>
              </a:ext>
            </a:extLst>
          </p:cNvPr>
          <p:cNvSpPr>
            <a:spLocks noGrp="1"/>
          </p:cNvSpPr>
          <p:nvPr/>
        </p:nvSpPr>
        <p:spPr>
          <a:xfrm>
            <a:off x="5726430" y="5391150"/>
            <a:ext cx="15163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0.552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xmlns="" id="{431CCF25-5BBC-4E66-861F-DEF70A423CB7}"/>
              </a:ext>
            </a:extLst>
          </p:cNvPr>
          <p:cNvSpPr>
            <a:spLocks noGrp="1"/>
          </p:cNvSpPr>
          <p:nvPr/>
        </p:nvSpPr>
        <p:spPr>
          <a:xfrm>
            <a:off x="7338060" y="5314950"/>
            <a:ext cx="128016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xmlns="" id="{AA8AEAAD-6ED4-458E-8639-353690CB2BBC}"/>
              </a:ext>
            </a:extLst>
          </p:cNvPr>
          <p:cNvSpPr>
            <a:spLocks noGrp="1"/>
          </p:cNvSpPr>
          <p:nvPr/>
        </p:nvSpPr>
        <p:spPr>
          <a:xfrm>
            <a:off x="7433310" y="5391150"/>
            <a:ext cx="108966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xmlns="" id="{A8E7568A-46E3-425D-8E07-45132A4F174A}"/>
              </a:ext>
            </a:extLst>
          </p:cNvPr>
          <p:cNvSpPr>
            <a:spLocks noGrp="1"/>
          </p:cNvSpPr>
          <p:nvPr/>
        </p:nvSpPr>
        <p:spPr>
          <a:xfrm>
            <a:off x="8618220" y="5314950"/>
            <a:ext cx="27736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xmlns="" id="{F1FE1E43-B03C-4066-9F54-136AE8EB215D}"/>
              </a:ext>
            </a:extLst>
          </p:cNvPr>
          <p:cNvSpPr>
            <a:spLocks noGrp="1"/>
          </p:cNvSpPr>
          <p:nvPr/>
        </p:nvSpPr>
        <p:spPr>
          <a:xfrm>
            <a:off x="8713470" y="5391150"/>
            <a:ext cx="25831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11,640만</a:t>
            </a: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xmlns="" id="{0F8638EB-8689-4C23-9004-BD0B04B78021}"/>
              </a:ext>
            </a:extLst>
          </p:cNvPr>
          <p:cNvSpPr>
            <a:spLocks noGrp="1"/>
          </p:cNvSpPr>
          <p:nvPr/>
        </p:nvSpPr>
        <p:spPr>
          <a:xfrm>
            <a:off x="723900" y="5829300"/>
            <a:ext cx="10668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xmlns="" id="{111EA18A-15DA-467C-A917-AFE719C5273D}"/>
              </a:ext>
            </a:extLst>
          </p:cNvPr>
          <p:cNvSpPr>
            <a:spLocks noGrp="1"/>
          </p:cNvSpPr>
          <p:nvPr/>
        </p:nvSpPr>
        <p:spPr>
          <a:xfrm>
            <a:off x="819150" y="5905500"/>
            <a:ext cx="876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xmlns="" id="{4AE2356B-CA39-4B82-8809-0FC6C9D7AF82}"/>
              </a:ext>
            </a:extLst>
          </p:cNvPr>
          <p:cNvSpPr>
            <a:spLocks noGrp="1"/>
          </p:cNvSpPr>
          <p:nvPr/>
        </p:nvSpPr>
        <p:spPr>
          <a:xfrm>
            <a:off x="1790700" y="5829300"/>
            <a:ext cx="38404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xmlns="" id="{BDAA6AAD-8753-4230-BD98-6816D10FAD51}"/>
              </a:ext>
            </a:extLst>
          </p:cNvPr>
          <p:cNvSpPr>
            <a:spLocks noGrp="1"/>
          </p:cNvSpPr>
          <p:nvPr/>
        </p:nvSpPr>
        <p:spPr>
          <a:xfrm>
            <a:off x="1885950" y="5905500"/>
            <a:ext cx="36499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2호선 역삼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xmlns="" id="{919A8059-0646-4861-8A26-9F3DFE60714B}"/>
              </a:ext>
            </a:extLst>
          </p:cNvPr>
          <p:cNvSpPr>
            <a:spLocks noGrp="1"/>
          </p:cNvSpPr>
          <p:nvPr/>
        </p:nvSpPr>
        <p:spPr>
          <a:xfrm>
            <a:off x="5631180" y="5829300"/>
            <a:ext cx="17068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xmlns="" id="{A2DF9232-AD09-4D03-BC82-7F27047D7045}"/>
              </a:ext>
            </a:extLst>
          </p:cNvPr>
          <p:cNvSpPr>
            <a:spLocks noGrp="1"/>
          </p:cNvSpPr>
          <p:nvPr/>
        </p:nvSpPr>
        <p:spPr>
          <a:xfrm>
            <a:off x="5726430" y="5905500"/>
            <a:ext cx="15163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0.549</a:t>
            </a: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xmlns="" id="{20193FCC-988F-4E99-B69A-889F5124B1E6}"/>
              </a:ext>
            </a:extLst>
          </p:cNvPr>
          <p:cNvSpPr>
            <a:spLocks noGrp="1"/>
          </p:cNvSpPr>
          <p:nvPr/>
        </p:nvSpPr>
        <p:spPr>
          <a:xfrm>
            <a:off x="7338060" y="5829300"/>
            <a:ext cx="128016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xmlns="" id="{A4A9E92F-46C4-49DB-8646-6EDC0B2F4A87}"/>
              </a:ext>
            </a:extLst>
          </p:cNvPr>
          <p:cNvSpPr>
            <a:spLocks noGrp="1"/>
          </p:cNvSpPr>
          <p:nvPr/>
        </p:nvSpPr>
        <p:spPr>
          <a:xfrm>
            <a:off x="7433310" y="5905500"/>
            <a:ext cx="108966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xmlns="" id="{64E8A0A5-AAE2-412D-A18A-F5F1457F2E6B}"/>
              </a:ext>
            </a:extLst>
          </p:cNvPr>
          <p:cNvSpPr>
            <a:spLocks noGrp="1"/>
          </p:cNvSpPr>
          <p:nvPr/>
        </p:nvSpPr>
        <p:spPr>
          <a:xfrm>
            <a:off x="8618220" y="5829300"/>
            <a:ext cx="277368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xmlns="" id="{C40C3D7C-3778-416A-8294-9465984D0779}"/>
              </a:ext>
            </a:extLst>
          </p:cNvPr>
          <p:cNvSpPr>
            <a:spLocks noGrp="1"/>
          </p:cNvSpPr>
          <p:nvPr/>
        </p:nvSpPr>
        <p:spPr>
          <a:xfrm>
            <a:off x="8713470" y="5905500"/>
            <a:ext cx="258318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12,003만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xmlns="" id="{4AD8A359-CCC9-4679-9010-444AF21082EE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xmlns="" id="{0FB40B90-A5B7-47D4-99BD-18A611553921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760299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직사각형 39">
            <a:extLst>
              <a:ext uri="{FF2B5EF4-FFF2-40B4-BE49-F238E27FC236}">
                <a16:creationId xmlns:a16="http://schemas.microsoft.com/office/drawing/2014/main" xmlns="" id="{032BB0D7-D06C-42E4-99E3-FD594E705978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276FC5A2-69F6-4A87-9D09-25AFCBE99D04}"/>
              </a:ext>
            </a:extLst>
          </p:cNvPr>
          <p:cNvSpPr>
            <a:spLocks noGrp="1"/>
          </p:cNvSpPr>
          <p:nvPr/>
        </p:nvSpPr>
        <p:spPr>
          <a:xfrm>
            <a:off x="666750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3BABC8F0-7917-48C8-BC7D-48B5E29E318A}"/>
              </a:ext>
            </a:extLst>
          </p:cNvPr>
          <p:cNvSpPr>
            <a:spLocks noGrp="1"/>
          </p:cNvSpPr>
          <p:nvPr/>
        </p:nvSpPr>
        <p:spPr>
          <a:xfrm>
            <a:off x="6753225" y="657225"/>
            <a:ext cx="89535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B6FF3563-E756-46E6-A8D5-27F6B958DDC3}"/>
              </a:ext>
            </a:extLst>
          </p:cNvPr>
          <p:cNvSpPr>
            <a:spLocks noGrp="1"/>
          </p:cNvSpPr>
          <p:nvPr/>
        </p:nvSpPr>
        <p:spPr>
          <a:xfrm>
            <a:off x="786765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4E484CDF-2DE1-4360-991A-E3B5E0F4C8A1}"/>
              </a:ext>
            </a:extLst>
          </p:cNvPr>
          <p:cNvSpPr>
            <a:spLocks noGrp="1"/>
          </p:cNvSpPr>
          <p:nvPr/>
        </p:nvSpPr>
        <p:spPr>
          <a:xfrm>
            <a:off x="7953375" y="657225"/>
            <a:ext cx="89535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F474497D-175C-43F5-85D2-45924386DD91}"/>
              </a:ext>
            </a:extLst>
          </p:cNvPr>
          <p:cNvSpPr>
            <a:spLocks noGrp="1"/>
          </p:cNvSpPr>
          <p:nvPr/>
        </p:nvSpPr>
        <p:spPr>
          <a:xfrm>
            <a:off x="906780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F775EF0B-BE17-4D79-AFA9-0899032F5191}"/>
              </a:ext>
            </a:extLst>
          </p:cNvPr>
          <p:cNvSpPr>
            <a:spLocks noGrp="1"/>
          </p:cNvSpPr>
          <p:nvPr/>
        </p:nvSpPr>
        <p:spPr>
          <a:xfrm>
            <a:off x="9153525" y="657225"/>
            <a:ext cx="89535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4E3A232E-68B4-4E8C-8152-CD2DF46BEF2E}"/>
              </a:ext>
            </a:extLst>
          </p:cNvPr>
          <p:cNvSpPr>
            <a:spLocks noGrp="1"/>
          </p:cNvSpPr>
          <p:nvPr/>
        </p:nvSpPr>
        <p:spPr>
          <a:xfrm>
            <a:off x="1026795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F80E4C28-3866-4F71-BA9A-78540F3DA19A}"/>
              </a:ext>
            </a:extLst>
          </p:cNvPr>
          <p:cNvSpPr>
            <a:spLocks noGrp="1"/>
          </p:cNvSpPr>
          <p:nvPr/>
        </p:nvSpPr>
        <p:spPr>
          <a:xfrm>
            <a:off x="10353675" y="657225"/>
            <a:ext cx="895350" cy="2857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58192ADD-A092-4862-B88D-132D589F2228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8953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역 유형별 Action Plan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FCF9437D-A8A4-44FD-B082-BC26B56BE2A2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F1C2DD68-9B03-4EF7-8281-E19132684135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1B765F17-4A62-4515-83ED-A7B3F0B06317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27AC02E6-06D7-4383-8146-2CB0438E7DF6}"/>
              </a:ext>
            </a:extLst>
          </p:cNvPr>
          <p:cNvSpPr>
            <a:spLocks noGrp="1"/>
          </p:cNvSpPr>
          <p:nvPr/>
        </p:nvSpPr>
        <p:spPr>
          <a:xfrm>
            <a:off x="723900" y="1809750"/>
            <a:ext cx="1706880" cy="838200"/>
          </a:xfrm>
          <a:prstGeom prst="rect">
            <a:avLst/>
          </a:prstGeom>
          <a:solidFill>
            <a:srgbClr val="F0F1F3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AA240F85-5AF4-41B3-B15F-5F92EA1AC5B6}"/>
              </a:ext>
            </a:extLst>
          </p:cNvPr>
          <p:cNvSpPr>
            <a:spLocks noGrp="1"/>
          </p:cNvSpPr>
          <p:nvPr/>
        </p:nvSpPr>
        <p:spPr>
          <a:xfrm>
            <a:off x="819150" y="1885950"/>
            <a:ext cx="151638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유형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A3CC375A-7887-43E2-B148-62A94AE74538}"/>
              </a:ext>
            </a:extLst>
          </p:cNvPr>
          <p:cNvSpPr>
            <a:spLocks noGrp="1"/>
          </p:cNvSpPr>
          <p:nvPr/>
        </p:nvSpPr>
        <p:spPr>
          <a:xfrm>
            <a:off x="2430780" y="1809750"/>
            <a:ext cx="3520440" cy="838200"/>
          </a:xfrm>
          <a:prstGeom prst="rect">
            <a:avLst/>
          </a:prstGeom>
          <a:solidFill>
            <a:srgbClr val="F0F1F3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28599ECB-1CD7-446B-8A22-94E1DE9BAB04}"/>
              </a:ext>
            </a:extLst>
          </p:cNvPr>
          <p:cNvSpPr>
            <a:spLocks noGrp="1"/>
          </p:cNvSpPr>
          <p:nvPr/>
        </p:nvSpPr>
        <p:spPr>
          <a:xfrm>
            <a:off x="2526030" y="1885950"/>
            <a:ext cx="332994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혼잡 구조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A84DE8C6-337B-415D-9975-BCC87689583E}"/>
              </a:ext>
            </a:extLst>
          </p:cNvPr>
          <p:cNvSpPr>
            <a:spLocks noGrp="1"/>
          </p:cNvSpPr>
          <p:nvPr/>
        </p:nvSpPr>
        <p:spPr>
          <a:xfrm>
            <a:off x="5951220" y="1809750"/>
            <a:ext cx="5440680" cy="838200"/>
          </a:xfrm>
          <a:prstGeom prst="rect">
            <a:avLst/>
          </a:prstGeom>
          <a:solidFill>
            <a:srgbClr val="F0F1F3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xmlns="" id="{B7A27BBF-8975-4277-AE87-157D94F18DF1}"/>
              </a:ext>
            </a:extLst>
          </p:cNvPr>
          <p:cNvSpPr>
            <a:spLocks noGrp="1"/>
          </p:cNvSpPr>
          <p:nvPr/>
        </p:nvSpPr>
        <p:spPr>
          <a:xfrm>
            <a:off x="6046470" y="1885950"/>
            <a:ext cx="525018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실행안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xmlns="" id="{D2003572-9537-4248-A673-56C3302E626C}"/>
              </a:ext>
            </a:extLst>
          </p:cNvPr>
          <p:cNvSpPr>
            <a:spLocks noGrp="1"/>
          </p:cNvSpPr>
          <p:nvPr/>
        </p:nvSpPr>
        <p:spPr>
          <a:xfrm>
            <a:off x="723900" y="2647950"/>
            <a:ext cx="170688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xmlns="" id="{FCF17A47-ECDE-4DA4-9A21-20C2B224B393}"/>
              </a:ext>
            </a:extLst>
          </p:cNvPr>
          <p:cNvSpPr>
            <a:spLocks noGrp="1"/>
          </p:cNvSpPr>
          <p:nvPr/>
        </p:nvSpPr>
        <p:spPr>
          <a:xfrm>
            <a:off x="819150" y="2724150"/>
            <a:ext cx="151638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승차형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xmlns="" id="{7F8E0AD1-6983-4450-B8CC-F2BDB49E3562}"/>
              </a:ext>
            </a:extLst>
          </p:cNvPr>
          <p:cNvSpPr>
            <a:spLocks noGrp="1"/>
          </p:cNvSpPr>
          <p:nvPr/>
        </p:nvSpPr>
        <p:spPr>
          <a:xfrm>
            <a:off x="2430780" y="2647950"/>
            <a:ext cx="352044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xmlns="" id="{08AE3739-5D3D-4018-9FD7-4ECFE5A7A9C1}"/>
              </a:ext>
            </a:extLst>
          </p:cNvPr>
          <p:cNvSpPr>
            <a:spLocks noGrp="1"/>
          </p:cNvSpPr>
          <p:nvPr/>
        </p:nvSpPr>
        <p:spPr>
          <a:xfrm>
            <a:off x="2526030" y="2724150"/>
            <a:ext cx="332994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승강장 진입 전 대기열 증가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xmlns="" id="{A2128623-ED3D-4748-908E-9F2908B14EA2}"/>
              </a:ext>
            </a:extLst>
          </p:cNvPr>
          <p:cNvSpPr>
            <a:spLocks noGrp="1"/>
          </p:cNvSpPr>
          <p:nvPr/>
        </p:nvSpPr>
        <p:spPr>
          <a:xfrm>
            <a:off x="5951220" y="2647950"/>
            <a:ext cx="544068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xmlns="" id="{87297767-A33B-409C-BA30-E16AA78DE936}"/>
              </a:ext>
            </a:extLst>
          </p:cNvPr>
          <p:cNvSpPr>
            <a:spLocks noGrp="1"/>
          </p:cNvSpPr>
          <p:nvPr/>
        </p:nvSpPr>
        <p:spPr>
          <a:xfrm>
            <a:off x="6046470" y="2724150"/>
            <a:ext cx="525018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개찰구·승강장 진입 안내, 대기열 분산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xmlns="" id="{8F0D1366-D3BA-404A-ACDC-EA0BA9661F51}"/>
              </a:ext>
            </a:extLst>
          </p:cNvPr>
          <p:cNvSpPr>
            <a:spLocks noGrp="1"/>
          </p:cNvSpPr>
          <p:nvPr/>
        </p:nvSpPr>
        <p:spPr>
          <a:xfrm>
            <a:off x="723900" y="3486150"/>
            <a:ext cx="170688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xmlns="" id="{4A836AE5-D0D5-426A-864F-62627E86F393}"/>
              </a:ext>
            </a:extLst>
          </p:cNvPr>
          <p:cNvSpPr>
            <a:spLocks noGrp="1"/>
          </p:cNvSpPr>
          <p:nvPr/>
        </p:nvSpPr>
        <p:spPr>
          <a:xfrm>
            <a:off x="819150" y="3562350"/>
            <a:ext cx="151638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하차형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xmlns="" id="{7DC798C2-03A8-4149-845D-76D0434C2A0E}"/>
              </a:ext>
            </a:extLst>
          </p:cNvPr>
          <p:cNvSpPr>
            <a:spLocks noGrp="1"/>
          </p:cNvSpPr>
          <p:nvPr/>
        </p:nvSpPr>
        <p:spPr>
          <a:xfrm>
            <a:off x="2430780" y="3486150"/>
            <a:ext cx="352044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xmlns="" id="{F7043EBE-CBD9-49BA-AC41-186FE8BA5414}"/>
              </a:ext>
            </a:extLst>
          </p:cNvPr>
          <p:cNvSpPr>
            <a:spLocks noGrp="1"/>
          </p:cNvSpPr>
          <p:nvPr/>
        </p:nvSpPr>
        <p:spPr>
          <a:xfrm>
            <a:off x="2526030" y="3562350"/>
            <a:ext cx="332994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출구·환승 동선 병목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xmlns="" id="{EDF9786E-3102-453D-B3AB-7A9CA4FEC0BB}"/>
              </a:ext>
            </a:extLst>
          </p:cNvPr>
          <p:cNvSpPr>
            <a:spLocks noGrp="1"/>
          </p:cNvSpPr>
          <p:nvPr/>
        </p:nvSpPr>
        <p:spPr>
          <a:xfrm>
            <a:off x="5951220" y="3486150"/>
            <a:ext cx="544068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xmlns="" id="{C0AC4634-B0B3-4694-83E8-43A3379D16F1}"/>
              </a:ext>
            </a:extLst>
          </p:cNvPr>
          <p:cNvSpPr>
            <a:spLocks noGrp="1"/>
          </p:cNvSpPr>
          <p:nvPr/>
        </p:nvSpPr>
        <p:spPr>
          <a:xfrm>
            <a:off x="6046470" y="3562350"/>
            <a:ext cx="525018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하차 동선 분산, 출구 안내, 환승 방향 분리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xmlns="" id="{0BABBE40-B8CB-4388-AD33-A0563CC7DBFD}"/>
              </a:ext>
            </a:extLst>
          </p:cNvPr>
          <p:cNvSpPr>
            <a:spLocks noGrp="1"/>
          </p:cNvSpPr>
          <p:nvPr/>
        </p:nvSpPr>
        <p:spPr>
          <a:xfrm>
            <a:off x="723900" y="4324350"/>
            <a:ext cx="170688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xmlns="" id="{1F9ACD58-BF7F-4A44-9923-4B115D1E5B00}"/>
              </a:ext>
            </a:extLst>
          </p:cNvPr>
          <p:cNvSpPr>
            <a:spLocks noGrp="1"/>
          </p:cNvSpPr>
          <p:nvPr/>
        </p:nvSpPr>
        <p:spPr>
          <a:xfrm>
            <a:off x="819150" y="4400550"/>
            <a:ext cx="151638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혼합형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xmlns="" id="{A3C7D763-38D9-4081-8636-F9EE219D0E09}"/>
              </a:ext>
            </a:extLst>
          </p:cNvPr>
          <p:cNvSpPr>
            <a:spLocks noGrp="1"/>
          </p:cNvSpPr>
          <p:nvPr/>
        </p:nvSpPr>
        <p:spPr>
          <a:xfrm>
            <a:off x="2430780" y="4324350"/>
            <a:ext cx="352044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xmlns="" id="{2166EFD7-2291-4519-88B6-4BD728D114BE}"/>
              </a:ext>
            </a:extLst>
          </p:cNvPr>
          <p:cNvSpPr>
            <a:spLocks noGrp="1"/>
          </p:cNvSpPr>
          <p:nvPr/>
        </p:nvSpPr>
        <p:spPr>
          <a:xfrm>
            <a:off x="2526030" y="4400550"/>
            <a:ext cx="332994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승차·하차가 동시에 높음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xmlns="" id="{47692F19-207D-447E-A1C2-5E3B084C0201}"/>
              </a:ext>
            </a:extLst>
          </p:cNvPr>
          <p:cNvSpPr>
            <a:spLocks noGrp="1"/>
          </p:cNvSpPr>
          <p:nvPr/>
        </p:nvSpPr>
        <p:spPr>
          <a:xfrm>
            <a:off x="5951220" y="4324350"/>
            <a:ext cx="544068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xmlns="" id="{BD9F9583-8D58-49E8-AC4F-A6740CE4A524}"/>
              </a:ext>
            </a:extLst>
          </p:cNvPr>
          <p:cNvSpPr>
            <a:spLocks noGrp="1"/>
          </p:cNvSpPr>
          <p:nvPr/>
        </p:nvSpPr>
        <p:spPr>
          <a:xfrm>
            <a:off x="6046470" y="4400550"/>
            <a:ext cx="525018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승하차 동선 분리, 환승 병목 집중 관리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xmlns="" id="{3C8D174F-BDB2-46FC-83AF-2E2ACE5B01CA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xmlns="" id="{92874D85-69B8-41D3-A0E2-92ABE3B14825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4465136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직사각형 39">
            <a:extLst>
              <a:ext uri="{FF2B5EF4-FFF2-40B4-BE49-F238E27FC236}">
                <a16:creationId xmlns:a16="http://schemas.microsoft.com/office/drawing/2014/main" xmlns="" id="{D1E8D86A-E34C-407F-98C1-639496138860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3F166AD6-15FC-44FC-89ED-D6DC78DF0CB7}"/>
              </a:ext>
            </a:extLst>
          </p:cNvPr>
          <p:cNvSpPr>
            <a:spLocks noGrp="1"/>
          </p:cNvSpPr>
          <p:nvPr/>
        </p:nvSpPr>
        <p:spPr>
          <a:xfrm>
            <a:off x="666750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9F4DF4EF-2CF0-4D80-8555-15D9E9094056}"/>
              </a:ext>
            </a:extLst>
          </p:cNvPr>
          <p:cNvSpPr>
            <a:spLocks noGrp="1"/>
          </p:cNvSpPr>
          <p:nvPr/>
        </p:nvSpPr>
        <p:spPr>
          <a:xfrm>
            <a:off x="6753225" y="657225"/>
            <a:ext cx="89535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0341A0DF-5326-4748-AD92-DDC4D30F5B51}"/>
              </a:ext>
            </a:extLst>
          </p:cNvPr>
          <p:cNvSpPr>
            <a:spLocks noGrp="1"/>
          </p:cNvSpPr>
          <p:nvPr/>
        </p:nvSpPr>
        <p:spPr>
          <a:xfrm>
            <a:off x="786765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63892998-DBC5-4933-A7BB-E4EA9575CB05}"/>
              </a:ext>
            </a:extLst>
          </p:cNvPr>
          <p:cNvSpPr>
            <a:spLocks noGrp="1"/>
          </p:cNvSpPr>
          <p:nvPr/>
        </p:nvSpPr>
        <p:spPr>
          <a:xfrm>
            <a:off x="7953375" y="657225"/>
            <a:ext cx="89535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956CB521-957A-432B-9AF0-53F64A587772}"/>
              </a:ext>
            </a:extLst>
          </p:cNvPr>
          <p:cNvSpPr>
            <a:spLocks noGrp="1"/>
          </p:cNvSpPr>
          <p:nvPr/>
        </p:nvSpPr>
        <p:spPr>
          <a:xfrm>
            <a:off x="906780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A17447E4-E2DD-41E9-9B29-8480C9C8F1B9}"/>
              </a:ext>
            </a:extLst>
          </p:cNvPr>
          <p:cNvSpPr>
            <a:spLocks noGrp="1"/>
          </p:cNvSpPr>
          <p:nvPr/>
        </p:nvSpPr>
        <p:spPr>
          <a:xfrm>
            <a:off x="9153525" y="657225"/>
            <a:ext cx="89535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743C3FDB-E9C2-4182-87FE-29DDC574DDD0}"/>
              </a:ext>
            </a:extLst>
          </p:cNvPr>
          <p:cNvSpPr>
            <a:spLocks noGrp="1"/>
          </p:cNvSpPr>
          <p:nvPr/>
        </p:nvSpPr>
        <p:spPr>
          <a:xfrm>
            <a:off x="1026795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1F904F56-276F-4C72-9E56-DA093696F8FB}"/>
              </a:ext>
            </a:extLst>
          </p:cNvPr>
          <p:cNvSpPr>
            <a:spLocks noGrp="1"/>
          </p:cNvSpPr>
          <p:nvPr/>
        </p:nvSpPr>
        <p:spPr>
          <a:xfrm>
            <a:off x="10353675" y="657225"/>
            <a:ext cx="895350" cy="2857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F9215D13-3BA8-4F05-8CE9-773C432558CE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8953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30-60-90일 실행 로드맵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8621D24A-788B-47B2-97BA-3332A8FB0DC5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547C4C97-9253-4437-A8E6-02F7AAA196BA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B0C3022A-6A73-4507-9F42-A035AD58425C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B5F621FD-0F2F-45A2-9D1B-CD95405BA82C}"/>
              </a:ext>
            </a:extLst>
          </p:cNvPr>
          <p:cNvSpPr>
            <a:spLocks noGrp="1"/>
          </p:cNvSpPr>
          <p:nvPr/>
        </p:nvSpPr>
        <p:spPr>
          <a:xfrm>
            <a:off x="723900" y="1809750"/>
            <a:ext cx="1706880" cy="904875"/>
          </a:xfrm>
          <a:prstGeom prst="rect">
            <a:avLst/>
          </a:prstGeom>
          <a:solidFill>
            <a:srgbClr val="F0F1F3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DAA1D2B8-B3CB-4711-A74B-350DB07D11BE}"/>
              </a:ext>
            </a:extLst>
          </p:cNvPr>
          <p:cNvSpPr>
            <a:spLocks noGrp="1"/>
          </p:cNvSpPr>
          <p:nvPr/>
        </p:nvSpPr>
        <p:spPr>
          <a:xfrm>
            <a:off x="819150" y="1885950"/>
            <a:ext cx="151638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기간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AD8196BF-C3F4-4F80-856D-4C2D99C658F3}"/>
              </a:ext>
            </a:extLst>
          </p:cNvPr>
          <p:cNvSpPr>
            <a:spLocks noGrp="1"/>
          </p:cNvSpPr>
          <p:nvPr/>
        </p:nvSpPr>
        <p:spPr>
          <a:xfrm>
            <a:off x="2430780" y="1809750"/>
            <a:ext cx="5547360" cy="904875"/>
          </a:xfrm>
          <a:prstGeom prst="rect">
            <a:avLst/>
          </a:prstGeom>
          <a:solidFill>
            <a:srgbClr val="F0F1F3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AF67F3A7-F32F-4EB3-B1A2-994A2DA5096D}"/>
              </a:ext>
            </a:extLst>
          </p:cNvPr>
          <p:cNvSpPr>
            <a:spLocks noGrp="1"/>
          </p:cNvSpPr>
          <p:nvPr/>
        </p:nvSpPr>
        <p:spPr>
          <a:xfrm>
            <a:off x="2526030" y="1885950"/>
            <a:ext cx="535686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실행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8DFB55C4-F625-4E12-B7E8-A6507A50AC67}"/>
              </a:ext>
            </a:extLst>
          </p:cNvPr>
          <p:cNvSpPr>
            <a:spLocks noGrp="1"/>
          </p:cNvSpPr>
          <p:nvPr/>
        </p:nvSpPr>
        <p:spPr>
          <a:xfrm>
            <a:off x="7978140" y="1809750"/>
            <a:ext cx="3413760" cy="904875"/>
          </a:xfrm>
          <a:prstGeom prst="rect">
            <a:avLst/>
          </a:prstGeom>
          <a:solidFill>
            <a:srgbClr val="F0F1F3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xmlns="" id="{6240960F-2B6A-4F1F-8579-3CE93573E272}"/>
              </a:ext>
            </a:extLst>
          </p:cNvPr>
          <p:cNvSpPr>
            <a:spLocks noGrp="1"/>
          </p:cNvSpPr>
          <p:nvPr/>
        </p:nvSpPr>
        <p:spPr>
          <a:xfrm>
            <a:off x="8073390" y="1885950"/>
            <a:ext cx="322326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성과 지표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xmlns="" id="{3C55B03D-2C9B-4030-A0F8-F92602093206}"/>
              </a:ext>
            </a:extLst>
          </p:cNvPr>
          <p:cNvSpPr>
            <a:spLocks noGrp="1"/>
          </p:cNvSpPr>
          <p:nvPr/>
        </p:nvSpPr>
        <p:spPr>
          <a:xfrm>
            <a:off x="723900" y="2714625"/>
            <a:ext cx="1706880" cy="9048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xmlns="" id="{122D0A59-FAA6-4DB3-AAB1-3176912AB957}"/>
              </a:ext>
            </a:extLst>
          </p:cNvPr>
          <p:cNvSpPr>
            <a:spLocks noGrp="1"/>
          </p:cNvSpPr>
          <p:nvPr/>
        </p:nvSpPr>
        <p:spPr>
          <a:xfrm>
            <a:off x="819150" y="2790825"/>
            <a:ext cx="151638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30일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xmlns="" id="{CCAF84DC-A119-4BD0-8ED5-370E5540A4D8}"/>
              </a:ext>
            </a:extLst>
          </p:cNvPr>
          <p:cNvSpPr>
            <a:spLocks noGrp="1"/>
          </p:cNvSpPr>
          <p:nvPr/>
        </p:nvSpPr>
        <p:spPr>
          <a:xfrm>
            <a:off x="2430780" y="2714625"/>
            <a:ext cx="5547360" cy="9048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xmlns="" id="{F049F670-9F9F-4058-9E30-08219CA6DE60}"/>
              </a:ext>
            </a:extLst>
          </p:cNvPr>
          <p:cNvSpPr>
            <a:spLocks noGrp="1"/>
          </p:cNvSpPr>
          <p:nvPr/>
        </p:nvSpPr>
        <p:spPr>
          <a:xfrm>
            <a:off x="2526030" y="2790825"/>
            <a:ext cx="535686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A등급 역 현장 점검 및 피크 안내 강화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xmlns="" id="{1F652538-FC27-43EE-9AE4-6E26F5C1017A}"/>
              </a:ext>
            </a:extLst>
          </p:cNvPr>
          <p:cNvSpPr>
            <a:spLocks noGrp="1"/>
          </p:cNvSpPr>
          <p:nvPr/>
        </p:nvSpPr>
        <p:spPr>
          <a:xfrm>
            <a:off x="7978140" y="2714625"/>
            <a:ext cx="3413760" cy="9048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xmlns="" id="{C5A0D46A-DB00-4460-9E19-B6AD0058BB1F}"/>
              </a:ext>
            </a:extLst>
          </p:cNvPr>
          <p:cNvSpPr>
            <a:spLocks noGrp="1"/>
          </p:cNvSpPr>
          <p:nvPr/>
        </p:nvSpPr>
        <p:spPr>
          <a:xfrm>
            <a:off x="8073390" y="2790825"/>
            <a:ext cx="322326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상위 혼잡 역 커버리지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xmlns="" id="{BD1B62F1-5739-4D25-9EA0-73D9ED343294}"/>
              </a:ext>
            </a:extLst>
          </p:cNvPr>
          <p:cNvSpPr>
            <a:spLocks noGrp="1"/>
          </p:cNvSpPr>
          <p:nvPr/>
        </p:nvSpPr>
        <p:spPr>
          <a:xfrm>
            <a:off x="723900" y="3619500"/>
            <a:ext cx="1706880" cy="9048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xmlns="" id="{3DAD39EE-09B1-4583-8787-EAB5A98B742C}"/>
              </a:ext>
            </a:extLst>
          </p:cNvPr>
          <p:cNvSpPr>
            <a:spLocks noGrp="1"/>
          </p:cNvSpPr>
          <p:nvPr/>
        </p:nvSpPr>
        <p:spPr>
          <a:xfrm>
            <a:off x="819150" y="3695700"/>
            <a:ext cx="151638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60일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xmlns="" id="{742E2FA9-CA85-42F1-97E3-FA89DE4066C8}"/>
              </a:ext>
            </a:extLst>
          </p:cNvPr>
          <p:cNvSpPr>
            <a:spLocks noGrp="1"/>
          </p:cNvSpPr>
          <p:nvPr/>
        </p:nvSpPr>
        <p:spPr>
          <a:xfrm>
            <a:off x="2430780" y="3619500"/>
            <a:ext cx="5547360" cy="9048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xmlns="" id="{9BB5F1CC-ED5E-4F0D-856F-76371909CCCD}"/>
              </a:ext>
            </a:extLst>
          </p:cNvPr>
          <p:cNvSpPr>
            <a:spLocks noGrp="1"/>
          </p:cNvSpPr>
          <p:nvPr/>
        </p:nvSpPr>
        <p:spPr>
          <a:xfrm>
            <a:off x="2526030" y="3695700"/>
            <a:ext cx="535686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승차형·하차형·혼합형별 동선 운영안 적용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xmlns="" id="{C291E358-C531-443A-9BDD-F17F4DBCBA1E}"/>
              </a:ext>
            </a:extLst>
          </p:cNvPr>
          <p:cNvSpPr>
            <a:spLocks noGrp="1"/>
          </p:cNvSpPr>
          <p:nvPr/>
        </p:nvSpPr>
        <p:spPr>
          <a:xfrm>
            <a:off x="7978140" y="3619500"/>
            <a:ext cx="3413760" cy="9048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xmlns="" id="{B3D7BF85-26FA-4B56-81E4-39BDF877EE8D}"/>
              </a:ext>
            </a:extLst>
          </p:cNvPr>
          <p:cNvSpPr>
            <a:spLocks noGrp="1"/>
          </p:cNvSpPr>
          <p:nvPr/>
        </p:nvSpPr>
        <p:spPr>
          <a:xfrm>
            <a:off x="8073390" y="3695700"/>
            <a:ext cx="322326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피크 시간대 병목 신고 감소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xmlns="" id="{6AA82960-D494-4FB7-AFEE-4416755F225E}"/>
              </a:ext>
            </a:extLst>
          </p:cNvPr>
          <p:cNvSpPr>
            <a:spLocks noGrp="1"/>
          </p:cNvSpPr>
          <p:nvPr/>
        </p:nvSpPr>
        <p:spPr>
          <a:xfrm>
            <a:off x="723900" y="4524375"/>
            <a:ext cx="1706880" cy="9048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xmlns="" id="{F534521A-B93C-492E-9F89-EFF11CB79FE8}"/>
              </a:ext>
            </a:extLst>
          </p:cNvPr>
          <p:cNvSpPr>
            <a:spLocks noGrp="1"/>
          </p:cNvSpPr>
          <p:nvPr/>
        </p:nvSpPr>
        <p:spPr>
          <a:xfrm>
            <a:off x="819150" y="4600575"/>
            <a:ext cx="151638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90일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xmlns="" id="{4749F1EE-5247-4E64-8E3D-89803FA70412}"/>
              </a:ext>
            </a:extLst>
          </p:cNvPr>
          <p:cNvSpPr>
            <a:spLocks noGrp="1"/>
          </p:cNvSpPr>
          <p:nvPr/>
        </p:nvSpPr>
        <p:spPr>
          <a:xfrm>
            <a:off x="2430780" y="4524375"/>
            <a:ext cx="5547360" cy="9048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xmlns="" id="{EABAC858-782D-421E-B111-E59DC966463D}"/>
              </a:ext>
            </a:extLst>
          </p:cNvPr>
          <p:cNvSpPr>
            <a:spLocks noGrp="1"/>
          </p:cNvSpPr>
          <p:nvPr/>
        </p:nvSpPr>
        <p:spPr>
          <a:xfrm>
            <a:off x="2526030" y="4600575"/>
            <a:ext cx="535686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월별 혼잡도 대시보드 운영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xmlns="" id="{DCB9A8FC-5808-4EC2-A254-4DD1951C42DF}"/>
              </a:ext>
            </a:extLst>
          </p:cNvPr>
          <p:cNvSpPr>
            <a:spLocks noGrp="1"/>
          </p:cNvSpPr>
          <p:nvPr/>
        </p:nvSpPr>
        <p:spPr>
          <a:xfrm>
            <a:off x="7978140" y="4524375"/>
            <a:ext cx="3413760" cy="90487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xmlns="" id="{9F4A07CA-2253-416E-A435-00D66DBB0642}"/>
              </a:ext>
            </a:extLst>
          </p:cNvPr>
          <p:cNvSpPr>
            <a:spLocks noGrp="1"/>
          </p:cNvSpPr>
          <p:nvPr/>
        </p:nvSpPr>
        <p:spPr>
          <a:xfrm>
            <a:off x="8073390" y="4600575"/>
            <a:ext cx="322326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우선순위 점수 월별 추적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xmlns="" id="{32D5BAF3-9EC8-419F-AC74-E5D2DA333987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xmlns="" id="{9468D189-5EC6-4AB1-96C7-371644756A03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1115213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xmlns="" id="{D5DE1209-F4F5-4949-A971-E1F45160AA84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17B408A4-4B86-4942-A9A2-1B2794E74569}"/>
              </a:ext>
            </a:extLst>
          </p:cNvPr>
          <p:cNvSpPr>
            <a:spLocks noGrp="1"/>
          </p:cNvSpPr>
          <p:nvPr/>
        </p:nvSpPr>
        <p:spPr>
          <a:xfrm>
            <a:off x="666750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01 SCQA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7C19041F-BDDD-483E-A66E-DFB4C2B7DC49}"/>
              </a:ext>
            </a:extLst>
          </p:cNvPr>
          <p:cNvSpPr>
            <a:spLocks noGrp="1"/>
          </p:cNvSpPr>
          <p:nvPr/>
        </p:nvSpPr>
        <p:spPr>
          <a:xfrm>
            <a:off x="6753225" y="657225"/>
            <a:ext cx="89535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6B1CA769-7709-420D-A155-AC5291EA87FC}"/>
              </a:ext>
            </a:extLst>
          </p:cNvPr>
          <p:cNvSpPr>
            <a:spLocks noGrp="1"/>
          </p:cNvSpPr>
          <p:nvPr/>
        </p:nvSpPr>
        <p:spPr>
          <a:xfrm>
            <a:off x="786765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02 Evidence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696042D0-4B2D-40BD-8513-6FB5B0529DCD}"/>
              </a:ext>
            </a:extLst>
          </p:cNvPr>
          <p:cNvSpPr>
            <a:spLocks noGrp="1"/>
          </p:cNvSpPr>
          <p:nvPr/>
        </p:nvSpPr>
        <p:spPr>
          <a:xfrm>
            <a:off x="7953375" y="657225"/>
            <a:ext cx="89535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D01B9FDD-2C64-47D1-A52C-ECFAF1E0CF58}"/>
              </a:ext>
            </a:extLst>
          </p:cNvPr>
          <p:cNvSpPr>
            <a:spLocks noGrp="1"/>
          </p:cNvSpPr>
          <p:nvPr/>
        </p:nvSpPr>
        <p:spPr>
          <a:xfrm>
            <a:off x="906780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A8F98"/>
                </a:solidFill>
                <a:latin typeface="Malgun Gothic"/>
                <a:ea typeface="Malgun Gothic"/>
                <a:cs typeface="Malgun Gothic"/>
              </a:rPr>
              <a:t>03 Visualization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1BDEA93E-18FC-4D22-9186-6FF54F005D29}"/>
              </a:ext>
            </a:extLst>
          </p:cNvPr>
          <p:cNvSpPr>
            <a:spLocks noGrp="1"/>
          </p:cNvSpPr>
          <p:nvPr/>
        </p:nvSpPr>
        <p:spPr>
          <a:xfrm>
            <a:off x="9153525" y="657225"/>
            <a:ext cx="895350" cy="9525"/>
          </a:xfrm>
          <a:prstGeom prst="rect">
            <a:avLst/>
          </a:prstGeom>
          <a:solidFill>
            <a:srgbClr val="D6D9DE"/>
          </a:solidFill>
          <a:ln w="0">
            <a:noFill/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A4B5A73E-DC8B-484C-AA8B-BB43A55AC47F}"/>
              </a:ext>
            </a:extLst>
          </p:cNvPr>
          <p:cNvSpPr>
            <a:spLocks noGrp="1"/>
          </p:cNvSpPr>
          <p:nvPr/>
        </p:nvSpPr>
        <p:spPr>
          <a:xfrm>
            <a:off x="10267950" y="400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2BFAFA21-58F4-49AA-9CB2-7E696302B36F}"/>
              </a:ext>
            </a:extLst>
          </p:cNvPr>
          <p:cNvSpPr>
            <a:spLocks noGrp="1"/>
          </p:cNvSpPr>
          <p:nvPr/>
        </p:nvSpPr>
        <p:spPr>
          <a:xfrm>
            <a:off x="10353675" y="657225"/>
            <a:ext cx="895350" cy="2857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01028BD7-8761-47EB-AA65-3FEAA4987F94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8953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최종 의사결정 요청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5AA8674A-B4B6-4B20-8628-2347505D8549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E9A59727-B9B1-4936-A3E3-3D795ED868C5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BD165981-E5CE-48BD-AC8F-BDB7F39DBF82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C0EE02F0-B428-4349-9AFB-FDF54861FF6C}"/>
              </a:ext>
            </a:extLst>
          </p:cNvPr>
          <p:cNvSpPr>
            <a:spLocks noGrp="1"/>
          </p:cNvSpPr>
          <p:nvPr/>
        </p:nvSpPr>
        <p:spPr>
          <a:xfrm>
            <a:off x="742950" y="180975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결론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2D664A20-19A2-4A0A-8540-B0B5A4D31A42}"/>
              </a:ext>
            </a:extLst>
          </p:cNvPr>
          <p:cNvSpPr>
            <a:spLocks noGrp="1"/>
          </p:cNvSpPr>
          <p:nvPr/>
        </p:nvSpPr>
        <p:spPr>
          <a:xfrm>
            <a:off x="742950" y="2286000"/>
            <a:ext cx="9334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서울 지하철 혼잡 관리는 전체 평균이 아니라 피크 시간대, 고혼잡 역, 승하차 흐름 유형 기준으로 선별 설계해야 한다.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6D41F2AD-4EC6-449D-A451-37FD2DEA33FE}"/>
              </a:ext>
            </a:extLst>
          </p:cNvPr>
          <p:cNvSpPr>
            <a:spLocks noGrp="1"/>
          </p:cNvSpPr>
          <p:nvPr/>
        </p:nvSpPr>
        <p:spPr>
          <a:xfrm>
            <a:off x="857250" y="3667125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077A5783-2869-41EB-A249-9541F118F18C}"/>
              </a:ext>
            </a:extLst>
          </p:cNvPr>
          <p:cNvSpPr>
            <a:spLocks noGrp="1"/>
          </p:cNvSpPr>
          <p:nvPr/>
        </p:nvSpPr>
        <p:spPr>
          <a:xfrm>
            <a:off x="1143000" y="3667125"/>
            <a:ext cx="971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A등급 69개 역을 우선 관리 대상으로 지정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xmlns="" id="{DACF9152-B1F2-4A15-B8DA-2B92A46A1C97}"/>
              </a:ext>
            </a:extLst>
          </p:cNvPr>
          <p:cNvSpPr>
            <a:spLocks noGrp="1"/>
          </p:cNvSpPr>
          <p:nvPr/>
        </p:nvSpPr>
        <p:spPr>
          <a:xfrm>
            <a:off x="857250" y="4124325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xmlns="" id="{EFE0683E-0EC8-49C1-BEA9-F74D417D86A6}"/>
              </a:ext>
            </a:extLst>
          </p:cNvPr>
          <p:cNvSpPr>
            <a:spLocks noGrp="1"/>
          </p:cNvSpPr>
          <p:nvPr/>
        </p:nvSpPr>
        <p:spPr>
          <a:xfrm>
            <a:off x="1143000" y="4124325"/>
            <a:ext cx="971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08시-09시 중심의 출근 피크 집중 관리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xmlns="" id="{4F1B7C2F-145B-4C3A-8BD3-826399921D8D}"/>
              </a:ext>
            </a:extLst>
          </p:cNvPr>
          <p:cNvSpPr>
            <a:spLocks noGrp="1"/>
          </p:cNvSpPr>
          <p:nvPr/>
        </p:nvSpPr>
        <p:spPr>
          <a:xfrm>
            <a:off x="857250" y="4581525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xmlns="" id="{66479A75-18AE-43B5-9FE5-E3F17FDAFBBB}"/>
              </a:ext>
            </a:extLst>
          </p:cNvPr>
          <p:cNvSpPr>
            <a:spLocks noGrp="1"/>
          </p:cNvSpPr>
          <p:nvPr/>
        </p:nvSpPr>
        <p:spPr>
          <a:xfrm>
            <a:off x="1143000" y="4581525"/>
            <a:ext cx="971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승차형·하차형·혼합형에 따른 현장 운영안 차등 적용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xmlns="" id="{88CD57A6-334C-4978-953F-19A598F9F59E}"/>
              </a:ext>
            </a:extLst>
          </p:cNvPr>
          <p:cNvSpPr>
            <a:spLocks noGrp="1"/>
          </p:cNvSpPr>
          <p:nvPr/>
        </p:nvSpPr>
        <p:spPr>
          <a:xfrm>
            <a:off x="857250" y="5038725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xmlns="" id="{A5C11647-C644-460E-BA72-EA2D105173A1}"/>
              </a:ext>
            </a:extLst>
          </p:cNvPr>
          <p:cNvSpPr>
            <a:spLocks noGrp="1"/>
          </p:cNvSpPr>
          <p:nvPr/>
        </p:nvSpPr>
        <p:spPr>
          <a:xfrm>
            <a:off x="1143000" y="5038725"/>
            <a:ext cx="971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월별 혼잡도 지표로 정기 모니터링 체계 구축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xmlns="" id="{D475C45E-20CB-49B8-A83A-9EBB19A97F83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04 Action Plan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xmlns="" id="{E0F358CD-C782-44AE-A087-0F6A6039582C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7225871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균형">
  <a:themeElements>
    <a:clrScheme name="균형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균형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균형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3</TotalTime>
  <Words>1012</Words>
  <Application>Microsoft Office PowerPoint</Application>
  <DocSecurity>0</DocSecurity>
  <PresentationFormat>사용자 지정</PresentationFormat>
  <Paragraphs>327</Paragraphs>
  <Slides>18</Slides>
  <Notes>18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19" baseType="lpstr">
      <vt:lpstr>균형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gnl2109@gmail.com</cp:lastModifiedBy>
  <cp:revision>3</cp:revision>
  <dcterms:created xsi:type="dcterms:W3CDTF">2026-06-26T01:45:05Z</dcterms:created>
  <dcterms:modified xsi:type="dcterms:W3CDTF">2026-06-26T05:38:45Z</dcterms:modified>
</cp:coreProperties>
</file>